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rill.jpg"/><Relationship Id="rId3" Type="http://schemas.openxmlformats.org/officeDocument/2006/relationships/image" Target="../media/ladder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rill.jpg"/><Relationship Id="rId3" Type="http://schemas.openxmlformats.org/officeDocument/2006/relationships/image" Target="../media/ladder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APA</a:t>
            </a:r>
            <a:endParaRPr lang="en-US" sz="950"/>
          </a:p>
        </p:txBody>
      </p:sp>
      <p:sp>
        <p:nvSpPr>
          <p:cNvPr id="6" name="apa title panel"/>
          <p:cNvSpPr txBox="1"/>
          <p:nvPr/>
        </p:nvSpPr>
        <p:spPr>
          <a:xfrm>
            <a:off x="2148840" y="713232"/>
            <a:ext cx="7909560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apa title"/>
          <p:cNvSpPr txBox="1"/>
          <p:nvPr/>
        </p:nvSpPr>
        <p:spPr>
          <a:xfrm>
            <a:off x="2670048" y="1261872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3000" b="1">
                <a:solidFill>
                  <a:srgbClr val="102133"/>
                </a:solidFill>
                <a:latin typeface="Aptos"/>
                <a:cs typeface="Aptos"/>
              </a:rPr>
              <a:t>ToolShare: A Peer-to-Peer Tool Rental Marketplace</a:t>
            </a:r>
            <a:endParaRPr lang="en-US" sz="3000"/>
          </a:p>
        </p:txBody>
      </p:sp>
      <p:sp>
        <p:nvSpPr>
          <p:cNvPr id="8" name="apa subtitle"/>
          <p:cNvSpPr txBox="1"/>
          <p:nvPr/>
        </p:nvSpPr>
        <p:spPr>
          <a:xfrm>
            <a:off x="2834640" y="2212848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500" b="1">
                <a:solidFill>
                  <a:srgbClr val="1F6F78"/>
                </a:solidFill>
                <a:latin typeface="Aptos"/>
                <a:cs typeface="Aptos"/>
              </a:rPr>
              <a:t>Capstone Product Presentation</a:t>
            </a:r>
            <a:endParaRPr lang="en-US" sz="1500"/>
          </a:p>
        </p:txBody>
      </p:sp>
      <p:sp>
        <p:nvSpPr>
          <p:cNvPr id="9" name="apa details"/>
          <p:cNvSpPr txBox="1"/>
          <p:nvPr/>
        </p:nvSpPr>
        <p:spPr>
          <a:xfrm>
            <a:off x="2788920" y="2880360"/>
            <a:ext cx="6629400" cy="16916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>
              <a:spcAft>
                <a:spcPts val="200"/>
              </a:spcAft>
            </a:pPr>
            <a:r>
              <a:rPr lang="en-US" sz="1500">
                <a:solidFill>
                  <a:srgbClr val="102133"/>
                </a:solidFill>
                <a:latin typeface="Aptos"/>
                <a:cs typeface="Aptos"/>
              </a:rPr>
              <a:t>Team Members: Vidhi Pitroda, [Team Member 2], [Team Member 3]</a:t>
            </a:r>
            <a:endParaRPr lang="en-US" sz="1500"/>
          </a:p>
          <a:p>
            <a:pPr algn="c">
              <a:spcAft>
                <a:spcPts val="200"/>
              </a:spcAft>
            </a:pPr>
            <a:r>
              <a:rPr lang="en-US" sz="1500">
                <a:solidFill>
                  <a:srgbClr val="102133"/>
                </a:solidFill>
                <a:latin typeface="Aptos"/>
                <a:cs typeface="Aptos"/>
              </a:rPr>
              <a:t>[Institution Name]</a:t>
            </a:r>
            <a:endParaRPr lang="en-US" sz="1500"/>
          </a:p>
          <a:p>
            <a:pPr algn="c">
              <a:spcAft>
                <a:spcPts val="200"/>
              </a:spcAft>
            </a:pPr>
            <a:r>
              <a:rPr lang="en-US" sz="1500">
                <a:solidFill>
                  <a:srgbClr val="102133"/>
                </a:solidFill>
                <a:latin typeface="Aptos"/>
                <a:cs typeface="Aptos"/>
              </a:rPr>
              <a:t>Course: [Course Code - Course Name]</a:t>
            </a:r>
            <a:endParaRPr lang="en-US" sz="1500"/>
          </a:p>
          <a:p>
            <a:pPr algn="c">
              <a:spcAft>
                <a:spcPts val="200"/>
              </a:spcAft>
            </a:pPr>
            <a:r>
              <a:rPr lang="en-US" sz="1500">
                <a:solidFill>
                  <a:srgbClr val="102133"/>
                </a:solidFill>
                <a:latin typeface="Aptos"/>
                <a:cs typeface="Aptos"/>
              </a:rPr>
              <a:t>Professor: [Professor Name]</a:t>
            </a:r>
            <a:endParaRPr lang="en-US" sz="1500"/>
          </a:p>
          <a:p>
            <a:pPr algn="c"/>
            <a:r>
              <a:rPr lang="en-US" sz="1500">
                <a:solidFill>
                  <a:srgbClr val="102133"/>
                </a:solidFill>
                <a:latin typeface="Aptos"/>
                <a:cs typeface="Aptos"/>
              </a:rPr>
              <a:t>Date: April 15, 2026</a:t>
            </a:r>
            <a:endParaRPr lang="en-US" sz="1500"/>
          </a:p>
        </p:txBody>
      </p:sp>
      <p:sp>
        <p:nvSpPr>
          <p:cNvPr id="10" name="apa note"/>
          <p:cNvSpPr txBox="1"/>
          <p:nvPr/>
        </p:nvSpPr>
        <p:spPr>
          <a:xfrm>
            <a:off x="2971800" y="5074920"/>
            <a:ext cx="6263640" cy="457200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DDD8CE"/>
            </a:solidFill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050">
                <a:solidFill>
                  <a:srgbClr val="586779"/>
                </a:solidFill>
                <a:latin typeface="Aptos"/>
                <a:cs typeface="Aptos"/>
              </a:rPr>
              <a:t>APA title page details are editable. Replace the bracketed fields before submission.</a:t>
            </a:r>
            <a:endParaRPr lang="en-US" sz="1050"/>
          </a:p>
        </p:txBody>
      </p:sp>
      <p:sp>
        <p:nvSpPr>
          <p:cNvPr id="11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12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APA-style title page</a:t>
            </a:r>
            <a:endParaRPr lang="en-US" sz="880"/>
          </a:p>
        </p:txBody>
      </p:sp>
      <p:sp>
        <p:nvSpPr>
          <p:cNvPr id="13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ToolShare</a:t>
            </a:r>
            <a:endParaRPr lang="en-US" sz="8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02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PRODUCT PRESENTATION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987552"/>
            <a:ext cx="621792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200" b="1">
                <a:solidFill>
                  <a:srgbClr val="102133"/>
                </a:solidFill>
                <a:latin typeface="Aptos"/>
                <a:cs typeface="Aptos"/>
              </a:rPr>
              <a:t>Rent tools locally. Save money. Help owners earn.</a:t>
            </a:r>
            <a:endParaRPr lang="en-US" sz="4200"/>
          </a:p>
        </p:txBody>
      </p:sp>
      <p:sp>
        <p:nvSpPr>
          <p:cNvPr id="10" name="slide lede"/>
          <p:cNvSpPr txBox="1"/>
          <p:nvPr/>
        </p:nvSpPr>
        <p:spPr>
          <a:xfrm>
            <a:off x="594360" y="2542032"/>
            <a:ext cx="61264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750">
                <a:solidFill>
                  <a:srgbClr val="586779"/>
                </a:solidFill>
                <a:latin typeface="Aptos"/>
                <a:cs typeface="Aptos"/>
              </a:rPr>
              <a:t>ToolShare connects people who need tools for short projects with nearby owners who already have them sitting idle.</a:t>
            </a:r>
            <a:endParaRPr lang="en-US" sz="1750"/>
          </a:p>
        </p:txBody>
      </p:sp>
      <p:sp>
        <p:nvSpPr>
          <p:cNvPr id="11" name="pill"/>
          <p:cNvSpPr txBox="1"/>
          <p:nvPr/>
        </p:nvSpPr>
        <p:spPr>
          <a:xfrm>
            <a:off x="612648" y="3657600"/>
            <a:ext cx="22128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2" name="pill text"/>
          <p:cNvSpPr txBox="1"/>
          <p:nvPr/>
        </p:nvSpPr>
        <p:spPr>
          <a:xfrm>
            <a:off x="722376" y="3730752"/>
            <a:ext cx="1993391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102133"/>
                </a:solidFill>
                <a:latin typeface="Aptos"/>
                <a:cs typeface="Aptos"/>
              </a:rPr>
              <a:t>Renter + Owner + Admin</a:t>
            </a:r>
            <a:endParaRPr lang="en-US" sz="880"/>
          </a:p>
        </p:txBody>
      </p:sp>
      <p:sp>
        <p:nvSpPr>
          <p:cNvPr id="13" name="pill"/>
          <p:cNvSpPr txBox="1"/>
          <p:nvPr/>
        </p:nvSpPr>
        <p:spPr>
          <a:xfrm>
            <a:off x="3035808" y="3657600"/>
            <a:ext cx="22128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4" name="pill text"/>
          <p:cNvSpPr txBox="1"/>
          <p:nvPr/>
        </p:nvSpPr>
        <p:spPr>
          <a:xfrm>
            <a:off x="3145536" y="3730752"/>
            <a:ext cx="1993391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102133"/>
                </a:solidFill>
                <a:latin typeface="Aptos"/>
                <a:cs typeface="Aptos"/>
              </a:rPr>
              <a:t>Bookings + Deposits</a:t>
            </a:r>
            <a:endParaRPr lang="en-US" sz="880"/>
          </a:p>
        </p:txBody>
      </p:sp>
      <p:sp>
        <p:nvSpPr>
          <p:cNvPr id="15" name="pill"/>
          <p:cNvSpPr txBox="1"/>
          <p:nvPr/>
        </p:nvSpPr>
        <p:spPr>
          <a:xfrm>
            <a:off x="612648" y="4096512"/>
            <a:ext cx="22128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6" name="pill text"/>
          <p:cNvSpPr txBox="1"/>
          <p:nvPr/>
        </p:nvSpPr>
        <p:spPr>
          <a:xfrm>
            <a:off x="722376" y="4169664"/>
            <a:ext cx="1993391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102133"/>
                </a:solidFill>
                <a:latin typeface="Aptos"/>
                <a:cs typeface="Aptos"/>
              </a:rPr>
              <a:t>Email Verification</a:t>
            </a:r>
            <a:endParaRPr lang="en-US" sz="880"/>
          </a:p>
        </p:txBody>
      </p:sp>
      <p:sp>
        <p:nvSpPr>
          <p:cNvPr id="17" name="pill"/>
          <p:cNvSpPr txBox="1"/>
          <p:nvPr/>
        </p:nvSpPr>
        <p:spPr>
          <a:xfrm>
            <a:off x="3035808" y="4096512"/>
            <a:ext cx="22128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8" name="pill text"/>
          <p:cNvSpPr txBox="1"/>
          <p:nvPr/>
        </p:nvSpPr>
        <p:spPr>
          <a:xfrm>
            <a:off x="3145536" y="4169664"/>
            <a:ext cx="1993391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102133"/>
                </a:solidFill>
                <a:latin typeface="Aptos"/>
                <a:cs typeface="Aptos"/>
              </a:rPr>
              <a:t>Disputes + Reviews</a:t>
            </a:r>
            <a:endParaRPr lang="en-US" sz="880"/>
          </a:p>
        </p:txBody>
      </p:sp>
      <p:sp>
        <p:nvSpPr>
          <p:cNvPr id="19" name="hero visual card"/>
          <p:cNvSpPr txBox="1"/>
          <p:nvPr/>
        </p:nvSpPr>
        <p:spPr>
          <a:xfrm>
            <a:off x="6967728" y="749808"/>
            <a:ext cx="45262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pic>
        <p:nvPicPr>
          <p:cNvPr id="20" name="drill phot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0336" y="1051560"/>
            <a:ext cx="2057400" cy="1901952"/>
          </a:xfrm>
          <a:prstGeom prst="rect">
            <a:avLst/>
          </a:prstGeom>
        </p:spPr>
      </p:pic>
      <p:pic>
        <p:nvPicPr>
          <p:cNvPr id="21" name="ladder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896" y="1051560"/>
            <a:ext cx="1664208" cy="1901952"/>
          </a:xfrm>
          <a:prstGeom prst="rect">
            <a:avLst/>
          </a:prstGeom>
        </p:spPr>
      </p:pic>
      <p:sp>
        <p:nvSpPr>
          <p:cNvPr id="22" name="mini card"/>
          <p:cNvSpPr txBox="1"/>
          <p:nvPr/>
        </p:nvSpPr>
        <p:spPr>
          <a:xfrm>
            <a:off x="7260336" y="3246120"/>
            <a:ext cx="1755648" cy="1170432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DDD8CE"/>
            </a:solidFill>
          </a:ln>
        </p:spPr>
      </p:sp>
      <p:sp>
        <p:nvSpPr>
          <p:cNvPr id="23" name="mini heading"/>
          <p:cNvSpPr txBox="1"/>
          <p:nvPr/>
        </p:nvSpPr>
        <p:spPr>
          <a:xfrm>
            <a:off x="7424928" y="3383279"/>
            <a:ext cx="14264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Renter flow</a:t>
            </a:r>
            <a:endParaRPr lang="en-US" sz="1250"/>
          </a:p>
        </p:txBody>
      </p:sp>
      <p:sp>
        <p:nvSpPr>
          <p:cNvPr id="24" name="mini body"/>
          <p:cNvSpPr txBox="1"/>
          <p:nvPr/>
        </p:nvSpPr>
        <p:spPr>
          <a:xfrm>
            <a:off x="7424928" y="3721608"/>
            <a:ext cx="1426464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Browse, book, pay, return, review.</a:t>
            </a:r>
            <a:endParaRPr lang="en-US" sz="1030"/>
          </a:p>
        </p:txBody>
      </p:sp>
      <p:sp>
        <p:nvSpPr>
          <p:cNvPr id="25" name="mini card"/>
          <p:cNvSpPr txBox="1"/>
          <p:nvPr/>
        </p:nvSpPr>
        <p:spPr>
          <a:xfrm>
            <a:off x="9217152" y="3246120"/>
            <a:ext cx="1755648" cy="1170432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DD8CE"/>
            </a:solidFill>
          </a:ln>
        </p:spPr>
      </p:sp>
      <p:sp>
        <p:nvSpPr>
          <p:cNvPr id="26" name="mini heading"/>
          <p:cNvSpPr txBox="1"/>
          <p:nvPr/>
        </p:nvSpPr>
        <p:spPr>
          <a:xfrm>
            <a:off x="9381744" y="3383279"/>
            <a:ext cx="142646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Owner flow</a:t>
            </a:r>
            <a:endParaRPr lang="en-US" sz="1250"/>
          </a:p>
        </p:txBody>
      </p:sp>
      <p:sp>
        <p:nvSpPr>
          <p:cNvPr id="27" name="mini body"/>
          <p:cNvSpPr txBox="1"/>
          <p:nvPr/>
        </p:nvSpPr>
        <p:spPr>
          <a:xfrm>
            <a:off x="9381744" y="3721608"/>
            <a:ext cx="1426464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List tools, manage requests, track earnings.</a:t>
            </a:r>
            <a:endParaRPr lang="en-US" sz="1030"/>
          </a:p>
        </p:txBody>
      </p:sp>
      <p:sp>
        <p:nvSpPr>
          <p:cNvPr id="28" name="mini card"/>
          <p:cNvSpPr txBox="1"/>
          <p:nvPr/>
        </p:nvSpPr>
        <p:spPr>
          <a:xfrm>
            <a:off x="7900416" y="4617720"/>
            <a:ext cx="2395728" cy="822960"/>
          </a:xfrm>
          <a:prstGeom prst="roundRect">
            <a:avLst/>
          </a:prstGeom>
          <a:solidFill>
            <a:srgbClr val="FFF0EA"/>
          </a:solidFill>
          <a:ln w="12700">
            <a:solidFill>
              <a:srgbClr val="DDD8CE"/>
            </a:solidFill>
          </a:ln>
        </p:spPr>
      </p:sp>
      <p:sp>
        <p:nvSpPr>
          <p:cNvPr id="29" name="mini heading"/>
          <p:cNvSpPr txBox="1"/>
          <p:nvPr/>
        </p:nvSpPr>
        <p:spPr>
          <a:xfrm>
            <a:off x="8065008" y="4754880"/>
            <a:ext cx="206654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Core value</a:t>
            </a:r>
            <a:endParaRPr lang="en-US" sz="1250"/>
          </a:p>
        </p:txBody>
      </p:sp>
      <p:sp>
        <p:nvSpPr>
          <p:cNvPr id="30" name="mini body"/>
          <p:cNvSpPr txBox="1"/>
          <p:nvPr/>
        </p:nvSpPr>
        <p:spPr>
          <a:xfrm>
            <a:off x="8065008" y="5093208"/>
            <a:ext cx="2066544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Trust + structure for local rentals.</a:t>
            </a:r>
            <a:endParaRPr lang="en-US" sz="1030"/>
          </a:p>
        </p:txBody>
      </p:sp>
      <p:sp>
        <p:nvSpPr>
          <p:cNvPr id="31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32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Opening story</a:t>
            </a:r>
            <a:endParaRPr lang="en-US" sz="880"/>
          </a:p>
        </p:txBody>
      </p:sp>
      <p:sp>
        <p:nvSpPr>
          <p:cNvPr id="33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Use one tool rental example</a:t>
            </a:r>
            <a:endParaRPr lang="en-US" sz="8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03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TOOL RENTAL CONTEXT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914400"/>
            <a:ext cx="60350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600" b="1">
                <a:solidFill>
                  <a:srgbClr val="102133"/>
                </a:solidFill>
                <a:latin typeface="Aptos"/>
                <a:cs typeface="Aptos"/>
              </a:rPr>
              <a:t>Why this problem matters</a:t>
            </a:r>
            <a:endParaRPr lang="en-US" sz="4600"/>
          </a:p>
        </p:txBody>
      </p:sp>
      <p:sp>
        <p:nvSpPr>
          <p:cNvPr id="10" name="slide lede"/>
          <p:cNvSpPr txBox="1"/>
          <p:nvPr/>
        </p:nvSpPr>
        <p:spPr>
          <a:xfrm>
            <a:off x="594360" y="1755648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700">
                <a:solidFill>
                  <a:srgbClr val="586779"/>
                </a:solidFill>
                <a:latin typeface="Aptos"/>
                <a:cs typeface="Aptos"/>
              </a:rPr>
              <a:t>The project solves a practical local problem: tools are expensive to buy, often underused after purchase, and hard to rent informally with trust.</a:t>
            </a:r>
            <a:endParaRPr lang="en-US" sz="1700"/>
          </a:p>
        </p:txBody>
      </p:sp>
      <p:sp>
        <p:nvSpPr>
          <p:cNvPr id="11" name="card"/>
          <p:cNvSpPr txBox="1"/>
          <p:nvPr/>
        </p:nvSpPr>
        <p:spPr>
          <a:xfrm>
            <a:off x="658368" y="274320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2" name="card icon"/>
          <p:cNvSpPr txBox="1"/>
          <p:nvPr/>
        </p:nvSpPr>
        <p:spPr>
          <a:xfrm>
            <a:off x="859536" y="2944368"/>
            <a:ext cx="393192" cy="393192"/>
          </a:xfrm>
          <a:prstGeom prst="roundRect">
            <a:avLst/>
          </a:prstGeom>
          <a:solidFill>
            <a:srgbClr val="FF8F62"/>
          </a:solidFill>
          <a:ln>
            <a:noFill/>
          </a:ln>
        </p:spPr>
      </p:sp>
      <p:sp>
        <p:nvSpPr>
          <p:cNvPr id="13" name="card icon text"/>
          <p:cNvSpPr txBox="1"/>
          <p:nvPr/>
        </p:nvSpPr>
        <p:spPr>
          <a:xfrm>
            <a:off x="886968" y="3044952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01</a:t>
            </a:r>
            <a:endParaRPr lang="en-US" sz="880"/>
          </a:p>
        </p:txBody>
      </p:sp>
      <p:sp>
        <p:nvSpPr>
          <p:cNvPr id="14" name="card heading"/>
          <p:cNvSpPr txBox="1"/>
          <p:nvPr/>
        </p:nvSpPr>
        <p:spPr>
          <a:xfrm>
            <a:off x="859536" y="3456432"/>
            <a:ext cx="293522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High cost for occasional use</a:t>
            </a:r>
            <a:endParaRPr lang="en-US" sz="1450"/>
          </a:p>
        </p:txBody>
      </p:sp>
      <p:sp>
        <p:nvSpPr>
          <p:cNvPr id="15" name="card body"/>
          <p:cNvSpPr txBox="1"/>
          <p:nvPr/>
        </p:nvSpPr>
        <p:spPr>
          <a:xfrm>
            <a:off x="859536" y="3831335"/>
            <a:ext cx="2935224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Buying a drill, ladder, lawn mower, or mixer for a single task is wasteful for many users.</a:t>
            </a:r>
            <a:endParaRPr lang="en-US" sz="1150"/>
          </a:p>
        </p:txBody>
      </p:sp>
      <p:sp>
        <p:nvSpPr>
          <p:cNvPr id="16" name="card"/>
          <p:cNvSpPr txBox="1"/>
          <p:nvPr/>
        </p:nvSpPr>
        <p:spPr>
          <a:xfrm>
            <a:off x="4434840" y="274320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7" name="card icon"/>
          <p:cNvSpPr txBox="1"/>
          <p:nvPr/>
        </p:nvSpPr>
        <p:spPr>
          <a:xfrm>
            <a:off x="4636007" y="2944368"/>
            <a:ext cx="393192" cy="393192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18" name="card icon text"/>
          <p:cNvSpPr txBox="1"/>
          <p:nvPr/>
        </p:nvSpPr>
        <p:spPr>
          <a:xfrm>
            <a:off x="4663440" y="3044952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02</a:t>
            </a:r>
            <a:endParaRPr lang="en-US" sz="880"/>
          </a:p>
        </p:txBody>
      </p:sp>
      <p:sp>
        <p:nvSpPr>
          <p:cNvPr id="19" name="card heading"/>
          <p:cNvSpPr txBox="1"/>
          <p:nvPr/>
        </p:nvSpPr>
        <p:spPr>
          <a:xfrm>
            <a:off x="4636007" y="3456432"/>
            <a:ext cx="293522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Idle owner inventory</a:t>
            </a:r>
            <a:endParaRPr lang="en-US" sz="1450"/>
          </a:p>
        </p:txBody>
      </p:sp>
      <p:sp>
        <p:nvSpPr>
          <p:cNvPr id="20" name="card body"/>
          <p:cNvSpPr txBox="1"/>
          <p:nvPr/>
        </p:nvSpPr>
        <p:spPr>
          <a:xfrm>
            <a:off x="4636007" y="3831335"/>
            <a:ext cx="2935224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Owners can turn unused tools into income instead of leaving equipment stored in garages.</a:t>
            </a:r>
            <a:endParaRPr lang="en-US" sz="1150"/>
          </a:p>
        </p:txBody>
      </p:sp>
      <p:sp>
        <p:nvSpPr>
          <p:cNvPr id="21" name="card"/>
          <p:cNvSpPr txBox="1"/>
          <p:nvPr/>
        </p:nvSpPr>
        <p:spPr>
          <a:xfrm>
            <a:off x="8211312" y="274320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2" name="card icon"/>
          <p:cNvSpPr txBox="1"/>
          <p:nvPr/>
        </p:nvSpPr>
        <p:spPr>
          <a:xfrm>
            <a:off x="8412480" y="2944368"/>
            <a:ext cx="393192" cy="393192"/>
          </a:xfrm>
          <a:prstGeom prst="roundRect">
            <a:avLst/>
          </a:prstGeom>
          <a:solidFill>
            <a:srgbClr val="F0C45D"/>
          </a:solidFill>
          <a:ln>
            <a:noFill/>
          </a:ln>
        </p:spPr>
      </p:sp>
      <p:sp>
        <p:nvSpPr>
          <p:cNvPr id="23" name="card icon text"/>
          <p:cNvSpPr txBox="1"/>
          <p:nvPr/>
        </p:nvSpPr>
        <p:spPr>
          <a:xfrm>
            <a:off x="8439912" y="3044952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03</a:t>
            </a:r>
            <a:endParaRPr lang="en-US" sz="880"/>
          </a:p>
        </p:txBody>
      </p:sp>
      <p:sp>
        <p:nvSpPr>
          <p:cNvPr id="24" name="card heading"/>
          <p:cNvSpPr txBox="1"/>
          <p:nvPr/>
        </p:nvSpPr>
        <p:spPr>
          <a:xfrm>
            <a:off x="8412480" y="3456432"/>
            <a:ext cx="293522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Trust needs structure</a:t>
            </a:r>
            <a:endParaRPr lang="en-US" sz="1450"/>
          </a:p>
        </p:txBody>
      </p:sp>
      <p:sp>
        <p:nvSpPr>
          <p:cNvPr id="25" name="card body"/>
          <p:cNvSpPr txBox="1"/>
          <p:nvPr/>
        </p:nvSpPr>
        <p:spPr>
          <a:xfrm>
            <a:off x="8412480" y="3831335"/>
            <a:ext cx="2935224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A rental needs verification, booking status, payment tracking, return confirmation, reviews, and dispute support.</a:t>
            </a:r>
            <a:endParaRPr lang="en-US" sz="1150"/>
          </a:p>
        </p:txBody>
      </p:sp>
      <p:sp>
        <p:nvSpPr>
          <p:cNvPr id="26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27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Problem framing</a:t>
            </a:r>
            <a:endParaRPr lang="en-US" sz="880"/>
          </a:p>
        </p:txBody>
      </p:sp>
      <p:sp>
        <p:nvSpPr>
          <p:cNvPr id="28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Cost, idle assets, trust</a:t>
            </a:r>
            <a:endParaRPr lang="en-US" sz="88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04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USER STORIES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914400"/>
            <a:ext cx="704088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200" b="1">
                <a:solidFill>
                  <a:srgbClr val="102133"/>
                </a:solidFill>
                <a:latin typeface="Aptos"/>
                <a:cs typeface="Aptos"/>
              </a:rPr>
              <a:t>Three stories ToolShare is designed for</a:t>
            </a:r>
            <a:endParaRPr lang="en-US" sz="4200"/>
          </a:p>
        </p:txBody>
      </p:sp>
      <p:sp>
        <p:nvSpPr>
          <p:cNvPr id="10" name="card"/>
          <p:cNvSpPr txBox="1"/>
          <p:nvPr/>
        </p:nvSpPr>
        <p:spPr>
          <a:xfrm>
            <a:off x="658368" y="2212848"/>
            <a:ext cx="340156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1" name="card icon"/>
          <p:cNvSpPr txBox="1"/>
          <p:nvPr/>
        </p:nvSpPr>
        <p:spPr>
          <a:xfrm>
            <a:off x="859536" y="2414016"/>
            <a:ext cx="393192" cy="393192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12" name="card icon text"/>
          <p:cNvSpPr txBox="1"/>
          <p:nvPr/>
        </p:nvSpPr>
        <p:spPr>
          <a:xfrm>
            <a:off x="886968" y="2514600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01</a:t>
            </a:r>
            <a:endParaRPr lang="en-US" sz="880"/>
          </a:p>
        </p:txBody>
      </p:sp>
      <p:sp>
        <p:nvSpPr>
          <p:cNvPr id="13" name="card heading"/>
          <p:cNvSpPr txBox="1"/>
          <p:nvPr/>
        </p:nvSpPr>
        <p:spPr>
          <a:xfrm>
            <a:off x="859536" y="2926080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Renter with a one-day project</a:t>
            </a:r>
            <a:endParaRPr lang="en-US" sz="1450"/>
          </a:p>
        </p:txBody>
      </p:sp>
      <p:sp>
        <p:nvSpPr>
          <p:cNvPr id="14" name="card body"/>
          <p:cNvSpPr txBox="1"/>
          <p:nvPr/>
        </p:nvSpPr>
        <p:spPr>
          <a:xfrm>
            <a:off x="859536" y="3300984"/>
            <a:ext cx="299923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Needs a cement mixer or drill for a short job. Wants clear price, availability, pickup/drop-off timing, payment record, and a verified account flow.</a:t>
            </a:r>
            <a:endParaRPr lang="en-US" sz="1150"/>
          </a:p>
        </p:txBody>
      </p:sp>
      <p:sp>
        <p:nvSpPr>
          <p:cNvPr id="15" name="card"/>
          <p:cNvSpPr txBox="1"/>
          <p:nvPr/>
        </p:nvSpPr>
        <p:spPr>
          <a:xfrm>
            <a:off x="4407408" y="2212848"/>
            <a:ext cx="340156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6" name="card icon"/>
          <p:cNvSpPr txBox="1"/>
          <p:nvPr/>
        </p:nvSpPr>
        <p:spPr>
          <a:xfrm>
            <a:off x="4608576" y="2414016"/>
            <a:ext cx="393192" cy="393192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</p:sp>
      <p:sp>
        <p:nvSpPr>
          <p:cNvPr id="17" name="card icon text"/>
          <p:cNvSpPr txBox="1"/>
          <p:nvPr/>
        </p:nvSpPr>
        <p:spPr>
          <a:xfrm>
            <a:off x="4636008" y="2514600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02</a:t>
            </a:r>
            <a:endParaRPr lang="en-US" sz="880"/>
          </a:p>
        </p:txBody>
      </p:sp>
      <p:sp>
        <p:nvSpPr>
          <p:cNvPr id="18" name="card heading"/>
          <p:cNvSpPr txBox="1"/>
          <p:nvPr/>
        </p:nvSpPr>
        <p:spPr>
          <a:xfrm>
            <a:off x="4608576" y="2926080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Owner with unused tools</a:t>
            </a:r>
            <a:endParaRPr lang="en-US" sz="1450"/>
          </a:p>
        </p:txBody>
      </p:sp>
      <p:sp>
        <p:nvSpPr>
          <p:cNvPr id="19" name="card body"/>
          <p:cNvSpPr txBox="1"/>
          <p:nvPr/>
        </p:nvSpPr>
        <p:spPr>
          <a:xfrm>
            <a:off x="4608576" y="3300984"/>
            <a:ext cx="299923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Already owns useful equipment. Wants a simple way to list tools, manage bookings, monitor returns, and see earnings.</a:t>
            </a:r>
            <a:endParaRPr lang="en-US" sz="1150"/>
          </a:p>
        </p:txBody>
      </p:sp>
      <p:sp>
        <p:nvSpPr>
          <p:cNvPr id="20" name="card"/>
          <p:cNvSpPr txBox="1"/>
          <p:nvPr/>
        </p:nvSpPr>
        <p:spPr>
          <a:xfrm>
            <a:off x="8156448" y="2212848"/>
            <a:ext cx="340156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1" name="card icon"/>
          <p:cNvSpPr txBox="1"/>
          <p:nvPr/>
        </p:nvSpPr>
        <p:spPr>
          <a:xfrm>
            <a:off x="8357616" y="2414016"/>
            <a:ext cx="393192" cy="393192"/>
          </a:xfrm>
          <a:prstGeom prst="roundRect">
            <a:avLst/>
          </a:prstGeom>
          <a:solidFill>
            <a:srgbClr val="FF8F62"/>
          </a:solidFill>
          <a:ln>
            <a:noFill/>
          </a:ln>
        </p:spPr>
      </p:sp>
      <p:sp>
        <p:nvSpPr>
          <p:cNvPr id="22" name="card icon text"/>
          <p:cNvSpPr txBox="1"/>
          <p:nvPr/>
        </p:nvSpPr>
        <p:spPr>
          <a:xfrm>
            <a:off x="8385048" y="2514600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03</a:t>
            </a:r>
            <a:endParaRPr lang="en-US" sz="880"/>
          </a:p>
        </p:txBody>
      </p:sp>
      <p:sp>
        <p:nvSpPr>
          <p:cNvPr id="23" name="card heading"/>
          <p:cNvSpPr txBox="1"/>
          <p:nvPr/>
        </p:nvSpPr>
        <p:spPr>
          <a:xfrm>
            <a:off x="8357616" y="2926080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Admin protecting the marketplace</a:t>
            </a:r>
            <a:endParaRPr lang="en-US" sz="1450"/>
          </a:p>
        </p:txBody>
      </p:sp>
      <p:sp>
        <p:nvSpPr>
          <p:cNvPr id="24" name="card body"/>
          <p:cNvSpPr txBox="1"/>
          <p:nvPr/>
        </p:nvSpPr>
        <p:spPr>
          <a:xfrm>
            <a:off x="8357616" y="3300984"/>
            <a:ext cx="2999232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Needs to monitor users, listings, bookings, deposits, reports, disputes, and support tickets from one operations area.</a:t>
            </a:r>
            <a:endParaRPr lang="en-US" sz="1150"/>
          </a:p>
        </p:txBody>
      </p:sp>
      <p:sp>
        <p:nvSpPr>
          <p:cNvPr id="25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26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Audience model</a:t>
            </a:r>
            <a:endParaRPr lang="en-US" sz="880"/>
          </a:p>
        </p:txBody>
      </p:sp>
      <p:sp>
        <p:nvSpPr>
          <p:cNvPr id="27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Renter + owner + admin</a:t>
            </a:r>
            <a:endParaRPr lang="en-US" sz="88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05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SOLUTION OVERVIEW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914400"/>
            <a:ext cx="704088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200" b="1">
                <a:solidFill>
                  <a:srgbClr val="102133"/>
                </a:solidFill>
                <a:latin typeface="Aptos"/>
                <a:cs typeface="Aptos"/>
              </a:rPr>
              <a:t>What the platform actually delivers</a:t>
            </a:r>
            <a:endParaRPr lang="en-US" sz="4200"/>
          </a:p>
        </p:txBody>
      </p:sp>
      <p:sp>
        <p:nvSpPr>
          <p:cNvPr id="10" name="mini card"/>
          <p:cNvSpPr txBox="1"/>
          <p:nvPr/>
        </p:nvSpPr>
        <p:spPr>
          <a:xfrm>
            <a:off x="658368" y="20574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1" name="mini heading"/>
          <p:cNvSpPr txBox="1"/>
          <p:nvPr/>
        </p:nvSpPr>
        <p:spPr>
          <a:xfrm>
            <a:off x="822959" y="2194560"/>
            <a:ext cx="300837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Marketplace browsing</a:t>
            </a:r>
            <a:endParaRPr lang="en-US" sz="1250"/>
          </a:p>
        </p:txBody>
      </p:sp>
      <p:sp>
        <p:nvSpPr>
          <p:cNvPr id="12" name="mini body"/>
          <p:cNvSpPr txBox="1"/>
          <p:nvPr/>
        </p:nvSpPr>
        <p:spPr>
          <a:xfrm>
            <a:off x="822959" y="2532888"/>
            <a:ext cx="3008376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Tools can be listed by owners and discovered by renters through tool detail pages.</a:t>
            </a:r>
            <a:endParaRPr lang="en-US" sz="1030"/>
          </a:p>
        </p:txBody>
      </p:sp>
      <p:sp>
        <p:nvSpPr>
          <p:cNvPr id="13" name="mini card"/>
          <p:cNvSpPr txBox="1"/>
          <p:nvPr/>
        </p:nvSpPr>
        <p:spPr>
          <a:xfrm>
            <a:off x="4425696" y="20574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4" name="mini heading"/>
          <p:cNvSpPr txBox="1"/>
          <p:nvPr/>
        </p:nvSpPr>
        <p:spPr>
          <a:xfrm>
            <a:off x="4590288" y="2194560"/>
            <a:ext cx="300837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Booking workflow</a:t>
            </a:r>
            <a:endParaRPr lang="en-US" sz="1250"/>
          </a:p>
        </p:txBody>
      </p:sp>
      <p:sp>
        <p:nvSpPr>
          <p:cNvPr id="15" name="mini body"/>
          <p:cNvSpPr txBox="1"/>
          <p:nvPr/>
        </p:nvSpPr>
        <p:spPr>
          <a:xfrm>
            <a:off x="4590288" y="2532888"/>
            <a:ext cx="3008376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Reservation requests, pickup/drop-off dates, active rentals, extensions, and return flow.</a:t>
            </a:r>
            <a:endParaRPr lang="en-US" sz="1030"/>
          </a:p>
        </p:txBody>
      </p:sp>
      <p:sp>
        <p:nvSpPr>
          <p:cNvPr id="16" name="mini card"/>
          <p:cNvSpPr txBox="1"/>
          <p:nvPr/>
        </p:nvSpPr>
        <p:spPr>
          <a:xfrm>
            <a:off x="8193024" y="2057400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7" name="mini heading"/>
          <p:cNvSpPr txBox="1"/>
          <p:nvPr/>
        </p:nvSpPr>
        <p:spPr>
          <a:xfrm>
            <a:off x="8357616" y="2194560"/>
            <a:ext cx="300837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Payment and deposits</a:t>
            </a:r>
            <a:endParaRPr lang="en-US" sz="1250"/>
          </a:p>
        </p:txBody>
      </p:sp>
      <p:sp>
        <p:nvSpPr>
          <p:cNvPr id="18" name="mini body"/>
          <p:cNvSpPr txBox="1"/>
          <p:nvPr/>
        </p:nvSpPr>
        <p:spPr>
          <a:xfrm>
            <a:off x="8357616" y="2532888"/>
            <a:ext cx="3008376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Checkout, deposits, receipts, owner statements, and admin revenue tracking.</a:t>
            </a:r>
            <a:endParaRPr lang="en-US" sz="1030"/>
          </a:p>
        </p:txBody>
      </p:sp>
      <p:sp>
        <p:nvSpPr>
          <p:cNvPr id="19" name="mini card"/>
          <p:cNvSpPr txBox="1"/>
          <p:nvPr/>
        </p:nvSpPr>
        <p:spPr>
          <a:xfrm>
            <a:off x="658368" y="3813048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0" name="mini heading"/>
          <p:cNvSpPr txBox="1"/>
          <p:nvPr/>
        </p:nvSpPr>
        <p:spPr>
          <a:xfrm>
            <a:off x="822959" y="3950208"/>
            <a:ext cx="300837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Verification and reset</a:t>
            </a:r>
            <a:endParaRPr lang="en-US" sz="1250"/>
          </a:p>
        </p:txBody>
      </p:sp>
      <p:sp>
        <p:nvSpPr>
          <p:cNvPr id="21" name="mini body"/>
          <p:cNvSpPr txBox="1"/>
          <p:nvPr/>
        </p:nvSpPr>
        <p:spPr>
          <a:xfrm>
            <a:off x="822959" y="4288536"/>
            <a:ext cx="3008376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PHPMailer supports email verification and password reset through SMTP.</a:t>
            </a:r>
            <a:endParaRPr lang="en-US" sz="1030"/>
          </a:p>
        </p:txBody>
      </p:sp>
      <p:sp>
        <p:nvSpPr>
          <p:cNvPr id="22" name="mini card"/>
          <p:cNvSpPr txBox="1"/>
          <p:nvPr/>
        </p:nvSpPr>
        <p:spPr>
          <a:xfrm>
            <a:off x="4425696" y="3813048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3" name="mini heading"/>
          <p:cNvSpPr txBox="1"/>
          <p:nvPr/>
        </p:nvSpPr>
        <p:spPr>
          <a:xfrm>
            <a:off x="4590288" y="3950208"/>
            <a:ext cx="300837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Trust and operations</a:t>
            </a:r>
            <a:endParaRPr lang="en-US" sz="1250"/>
          </a:p>
        </p:txBody>
      </p:sp>
      <p:sp>
        <p:nvSpPr>
          <p:cNvPr id="24" name="mini body"/>
          <p:cNvSpPr txBox="1"/>
          <p:nvPr/>
        </p:nvSpPr>
        <p:spPr>
          <a:xfrm>
            <a:off x="4590288" y="4288536"/>
            <a:ext cx="3008376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Reviews, disputes, support, notifications, and admin moderation help manage risk.</a:t>
            </a:r>
            <a:endParaRPr lang="en-US" sz="1030"/>
          </a:p>
        </p:txBody>
      </p:sp>
      <p:sp>
        <p:nvSpPr>
          <p:cNvPr id="25" name="mini card"/>
          <p:cNvSpPr txBox="1"/>
          <p:nvPr/>
        </p:nvSpPr>
        <p:spPr>
          <a:xfrm>
            <a:off x="8193024" y="3813048"/>
            <a:ext cx="33375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6" name="mini heading"/>
          <p:cNvSpPr txBox="1"/>
          <p:nvPr/>
        </p:nvSpPr>
        <p:spPr>
          <a:xfrm>
            <a:off x="8357616" y="3950208"/>
            <a:ext cx="300837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Role-aware dashboards</a:t>
            </a:r>
            <a:endParaRPr lang="en-US" sz="1250"/>
          </a:p>
        </p:txBody>
      </p:sp>
      <p:sp>
        <p:nvSpPr>
          <p:cNvPr id="27" name="mini body"/>
          <p:cNvSpPr txBox="1"/>
          <p:nvPr/>
        </p:nvSpPr>
        <p:spPr>
          <a:xfrm>
            <a:off x="8357616" y="4288536"/>
            <a:ext cx="3008376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Renter, owner, and admin each see the next actions relevant to them.</a:t>
            </a:r>
            <a:endParaRPr lang="en-US" sz="1030"/>
          </a:p>
        </p:txBody>
      </p:sp>
      <p:sp>
        <p:nvSpPr>
          <p:cNvPr id="28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29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Product depth</a:t>
            </a:r>
            <a:endParaRPr lang="en-US" sz="880"/>
          </a:p>
        </p:txBody>
      </p:sp>
      <p:sp>
        <p:nvSpPr>
          <p:cNvPr id="30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Beyond basic CRUD</a:t>
            </a:r>
            <a:endParaRPr lang="en-US" sz="88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06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RENTER JOURNEY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896112"/>
            <a:ext cx="6858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200" b="1">
                <a:solidFill>
                  <a:srgbClr val="102133"/>
                </a:solidFill>
                <a:latin typeface="Aptos"/>
                <a:cs typeface="Aptos"/>
              </a:rPr>
              <a:t>From request to rental completion</a:t>
            </a:r>
            <a:endParaRPr lang="en-US" sz="4200"/>
          </a:p>
        </p:txBody>
      </p:sp>
      <p:sp>
        <p:nvSpPr>
          <p:cNvPr id="10" name="journey card"/>
          <p:cNvSpPr txBox="1"/>
          <p:nvPr/>
        </p:nvSpPr>
        <p:spPr>
          <a:xfrm>
            <a:off x="566928" y="2487168"/>
            <a:ext cx="1591056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1" name="journey num"/>
          <p:cNvSpPr txBox="1"/>
          <p:nvPr/>
        </p:nvSpPr>
        <p:spPr>
          <a:xfrm>
            <a:off x="722376" y="2697480"/>
            <a:ext cx="347472" cy="347472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  <a:cs typeface="Aptos"/>
              </a:rPr>
              <a:t>1</a:t>
            </a:r>
            <a:endParaRPr lang="en-US" sz="1200"/>
          </a:p>
        </p:txBody>
      </p:sp>
      <p:sp>
        <p:nvSpPr>
          <p:cNvPr id="12" name="journey h"/>
          <p:cNvSpPr txBox="1"/>
          <p:nvPr/>
        </p:nvSpPr>
        <p:spPr>
          <a:xfrm>
            <a:off x="722376" y="32461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Browse</a:t>
            </a:r>
            <a:endParaRPr lang="en-US" sz="1300"/>
          </a:p>
        </p:txBody>
      </p:sp>
      <p:sp>
        <p:nvSpPr>
          <p:cNvPr id="13" name="journey b"/>
          <p:cNvSpPr txBox="1"/>
          <p:nvPr/>
        </p:nvSpPr>
        <p:spPr>
          <a:xfrm>
            <a:off x="722376" y="3602736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940">
                <a:solidFill>
                  <a:srgbClr val="586779"/>
                </a:solidFill>
                <a:latin typeface="Aptos"/>
                <a:cs typeface="Aptos"/>
              </a:rPr>
              <a:t>Find a tool and open its detail page.</a:t>
            </a:r>
            <a:endParaRPr lang="en-US" sz="940"/>
          </a:p>
        </p:txBody>
      </p:sp>
      <p:sp>
        <p:nvSpPr>
          <p:cNvPr id="14" name="journey connector"/>
          <p:cNvSpPr txBox="1"/>
          <p:nvPr/>
        </p:nvSpPr>
        <p:spPr>
          <a:xfrm>
            <a:off x="2148840" y="3511296"/>
            <a:ext cx="256032" cy="27432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15" name="journey card"/>
          <p:cNvSpPr txBox="1"/>
          <p:nvPr/>
        </p:nvSpPr>
        <p:spPr>
          <a:xfrm>
            <a:off x="2450592" y="2487168"/>
            <a:ext cx="1591056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6" name="journey num"/>
          <p:cNvSpPr txBox="1"/>
          <p:nvPr/>
        </p:nvSpPr>
        <p:spPr>
          <a:xfrm>
            <a:off x="2606040" y="2697480"/>
            <a:ext cx="347472" cy="347472"/>
          </a:xfrm>
          <a:prstGeom prst="ellipse">
            <a:avLst/>
          </a:prstGeom>
          <a:solidFill>
            <a:srgbClr val="FF8F62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  <a:cs typeface="Aptos"/>
              </a:rPr>
              <a:t>2</a:t>
            </a:r>
            <a:endParaRPr lang="en-US" sz="1200"/>
          </a:p>
        </p:txBody>
      </p:sp>
      <p:sp>
        <p:nvSpPr>
          <p:cNvPr id="17" name="journey h"/>
          <p:cNvSpPr txBox="1"/>
          <p:nvPr/>
        </p:nvSpPr>
        <p:spPr>
          <a:xfrm>
            <a:off x="2606040" y="32461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Request</a:t>
            </a:r>
            <a:endParaRPr lang="en-US" sz="1300"/>
          </a:p>
        </p:txBody>
      </p:sp>
      <p:sp>
        <p:nvSpPr>
          <p:cNvPr id="18" name="journey b"/>
          <p:cNvSpPr txBox="1"/>
          <p:nvPr/>
        </p:nvSpPr>
        <p:spPr>
          <a:xfrm>
            <a:off x="2606040" y="3602736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940">
                <a:solidFill>
                  <a:srgbClr val="586779"/>
                </a:solidFill>
                <a:latin typeface="Aptos"/>
                <a:cs typeface="Aptos"/>
              </a:rPr>
              <a:t>Choose rental timing and submit a booking.</a:t>
            </a:r>
            <a:endParaRPr lang="en-US" sz="940"/>
          </a:p>
        </p:txBody>
      </p:sp>
      <p:sp>
        <p:nvSpPr>
          <p:cNvPr id="19" name="journey connector"/>
          <p:cNvSpPr txBox="1"/>
          <p:nvPr/>
        </p:nvSpPr>
        <p:spPr>
          <a:xfrm>
            <a:off x="4032504" y="3511296"/>
            <a:ext cx="256032" cy="27432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0" name="journey card"/>
          <p:cNvSpPr txBox="1"/>
          <p:nvPr/>
        </p:nvSpPr>
        <p:spPr>
          <a:xfrm>
            <a:off x="4334256" y="2487168"/>
            <a:ext cx="1591056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1" name="journey num"/>
          <p:cNvSpPr txBox="1"/>
          <p:nvPr/>
        </p:nvSpPr>
        <p:spPr>
          <a:xfrm>
            <a:off x="4489704" y="2697480"/>
            <a:ext cx="347472" cy="347472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  <a:cs typeface="Aptos"/>
              </a:rPr>
              <a:t>3</a:t>
            </a:r>
            <a:endParaRPr lang="en-US" sz="1200"/>
          </a:p>
        </p:txBody>
      </p:sp>
      <p:sp>
        <p:nvSpPr>
          <p:cNvPr id="22" name="journey h"/>
          <p:cNvSpPr txBox="1"/>
          <p:nvPr/>
        </p:nvSpPr>
        <p:spPr>
          <a:xfrm>
            <a:off x="4489704" y="32461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Pay</a:t>
            </a:r>
            <a:endParaRPr lang="en-US" sz="1300"/>
          </a:p>
        </p:txBody>
      </p:sp>
      <p:sp>
        <p:nvSpPr>
          <p:cNvPr id="23" name="journey b"/>
          <p:cNvSpPr txBox="1"/>
          <p:nvPr/>
        </p:nvSpPr>
        <p:spPr>
          <a:xfrm>
            <a:off x="4489704" y="3602736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940">
                <a:solidFill>
                  <a:srgbClr val="586779"/>
                </a:solidFill>
                <a:latin typeface="Aptos"/>
                <a:cs typeface="Aptos"/>
              </a:rPr>
              <a:t>Complete checkout and deposit flow.</a:t>
            </a:r>
            <a:endParaRPr lang="en-US" sz="940"/>
          </a:p>
        </p:txBody>
      </p:sp>
      <p:sp>
        <p:nvSpPr>
          <p:cNvPr id="24" name="journey connector"/>
          <p:cNvSpPr txBox="1"/>
          <p:nvPr/>
        </p:nvSpPr>
        <p:spPr>
          <a:xfrm>
            <a:off x="5916168" y="3511296"/>
            <a:ext cx="256032" cy="27432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5" name="journey card"/>
          <p:cNvSpPr txBox="1"/>
          <p:nvPr/>
        </p:nvSpPr>
        <p:spPr>
          <a:xfrm>
            <a:off x="6217920" y="2487168"/>
            <a:ext cx="1591056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6" name="journey num"/>
          <p:cNvSpPr txBox="1"/>
          <p:nvPr/>
        </p:nvSpPr>
        <p:spPr>
          <a:xfrm>
            <a:off x="6373368" y="2697480"/>
            <a:ext cx="347472" cy="347472"/>
          </a:xfrm>
          <a:prstGeom prst="ellipse">
            <a:avLst/>
          </a:prstGeom>
          <a:solidFill>
            <a:srgbClr val="FF8F62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  <a:cs typeface="Aptos"/>
              </a:rPr>
              <a:t>4</a:t>
            </a:r>
            <a:endParaRPr lang="en-US" sz="1200"/>
          </a:p>
        </p:txBody>
      </p:sp>
      <p:sp>
        <p:nvSpPr>
          <p:cNvPr id="27" name="journey h"/>
          <p:cNvSpPr txBox="1"/>
          <p:nvPr/>
        </p:nvSpPr>
        <p:spPr>
          <a:xfrm>
            <a:off x="6373368" y="32461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Pickup</a:t>
            </a:r>
            <a:endParaRPr lang="en-US" sz="1300"/>
          </a:p>
        </p:txBody>
      </p:sp>
      <p:sp>
        <p:nvSpPr>
          <p:cNvPr id="28" name="journey b"/>
          <p:cNvSpPr txBox="1"/>
          <p:nvPr/>
        </p:nvSpPr>
        <p:spPr>
          <a:xfrm>
            <a:off x="6373368" y="3602736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940">
                <a:solidFill>
                  <a:srgbClr val="586779"/>
                </a:solidFill>
                <a:latin typeface="Aptos"/>
                <a:cs typeface="Aptos"/>
              </a:rPr>
              <a:t>Booking becomes active after pickup.</a:t>
            </a:r>
            <a:endParaRPr lang="en-US" sz="940"/>
          </a:p>
        </p:txBody>
      </p:sp>
      <p:sp>
        <p:nvSpPr>
          <p:cNvPr id="29" name="journey connector"/>
          <p:cNvSpPr txBox="1"/>
          <p:nvPr/>
        </p:nvSpPr>
        <p:spPr>
          <a:xfrm>
            <a:off x="7799831" y="3511296"/>
            <a:ext cx="256032" cy="27432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30" name="journey card"/>
          <p:cNvSpPr txBox="1"/>
          <p:nvPr/>
        </p:nvSpPr>
        <p:spPr>
          <a:xfrm>
            <a:off x="8101583" y="2487168"/>
            <a:ext cx="1591056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31" name="journey num"/>
          <p:cNvSpPr txBox="1"/>
          <p:nvPr/>
        </p:nvSpPr>
        <p:spPr>
          <a:xfrm>
            <a:off x="8257031" y="2697480"/>
            <a:ext cx="347472" cy="347472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  <a:cs typeface="Aptos"/>
              </a:rPr>
              <a:t>5</a:t>
            </a:r>
            <a:endParaRPr lang="en-US" sz="1200"/>
          </a:p>
        </p:txBody>
      </p:sp>
      <p:sp>
        <p:nvSpPr>
          <p:cNvPr id="32" name="journey h"/>
          <p:cNvSpPr txBox="1"/>
          <p:nvPr/>
        </p:nvSpPr>
        <p:spPr>
          <a:xfrm>
            <a:off x="8257031" y="32461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Return</a:t>
            </a:r>
            <a:endParaRPr lang="en-US" sz="1300"/>
          </a:p>
        </p:txBody>
      </p:sp>
      <p:sp>
        <p:nvSpPr>
          <p:cNvPr id="33" name="journey b"/>
          <p:cNvSpPr txBox="1"/>
          <p:nvPr/>
        </p:nvSpPr>
        <p:spPr>
          <a:xfrm>
            <a:off x="8257031" y="3602736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940">
                <a:solidFill>
                  <a:srgbClr val="586779"/>
                </a:solidFill>
                <a:latin typeface="Aptos"/>
                <a:cs typeface="Aptos"/>
              </a:rPr>
              <a:t>Drop-off and return status are recorded.</a:t>
            </a:r>
            <a:endParaRPr lang="en-US" sz="940"/>
          </a:p>
        </p:txBody>
      </p:sp>
      <p:sp>
        <p:nvSpPr>
          <p:cNvPr id="34" name="journey connector"/>
          <p:cNvSpPr txBox="1"/>
          <p:nvPr/>
        </p:nvSpPr>
        <p:spPr>
          <a:xfrm>
            <a:off x="9683496" y="3511296"/>
            <a:ext cx="256032" cy="27432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35" name="journey card"/>
          <p:cNvSpPr txBox="1"/>
          <p:nvPr/>
        </p:nvSpPr>
        <p:spPr>
          <a:xfrm>
            <a:off x="9985248" y="2487168"/>
            <a:ext cx="1591056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36" name="journey num"/>
          <p:cNvSpPr txBox="1"/>
          <p:nvPr/>
        </p:nvSpPr>
        <p:spPr>
          <a:xfrm>
            <a:off x="10140696" y="2697480"/>
            <a:ext cx="347472" cy="347472"/>
          </a:xfrm>
          <a:prstGeom prst="ellipse">
            <a:avLst/>
          </a:prstGeom>
          <a:solidFill>
            <a:srgbClr val="FF8F62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200" b="1">
                <a:solidFill>
                  <a:srgbClr val="FFFFFF"/>
                </a:solidFill>
                <a:latin typeface="Aptos"/>
                <a:cs typeface="Aptos"/>
              </a:rPr>
              <a:t>6</a:t>
            </a:r>
            <a:endParaRPr lang="en-US" sz="1200"/>
          </a:p>
        </p:txBody>
      </p:sp>
      <p:sp>
        <p:nvSpPr>
          <p:cNvPr id="37" name="journey h"/>
          <p:cNvSpPr txBox="1"/>
          <p:nvPr/>
        </p:nvSpPr>
        <p:spPr>
          <a:xfrm>
            <a:off x="10140696" y="3246120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Review</a:t>
            </a:r>
            <a:endParaRPr lang="en-US" sz="1300"/>
          </a:p>
        </p:txBody>
      </p:sp>
      <p:sp>
        <p:nvSpPr>
          <p:cNvPr id="38" name="journey b"/>
          <p:cNvSpPr txBox="1"/>
          <p:nvPr/>
        </p:nvSpPr>
        <p:spPr>
          <a:xfrm>
            <a:off x="10140696" y="3602736"/>
            <a:ext cx="128016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940">
                <a:solidFill>
                  <a:srgbClr val="586779"/>
                </a:solidFill>
                <a:latin typeface="Aptos"/>
                <a:cs typeface="Aptos"/>
              </a:rPr>
              <a:t>Leave feedback or raise a dispute.</a:t>
            </a:r>
            <a:endParaRPr lang="en-US" sz="940"/>
          </a:p>
        </p:txBody>
      </p:sp>
      <p:sp>
        <p:nvSpPr>
          <p:cNvPr id="39" name="journey quote"/>
          <p:cNvSpPr txBox="1"/>
          <p:nvPr/>
        </p:nvSpPr>
        <p:spPr>
          <a:xfrm>
            <a:off x="1280160" y="5074920"/>
            <a:ext cx="9646920" cy="566928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DD8CE"/>
            </a:solidFill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500" b="1">
                <a:solidFill>
                  <a:srgbClr val="102133"/>
                </a:solidFill>
                <a:latin typeface="Aptos"/>
                <a:cs typeface="Aptos"/>
              </a:rPr>
              <a:t>The lifecycle makes ToolShare feel like a real rental system, not only a list of tools.</a:t>
            </a:r>
            <a:endParaRPr lang="en-US" sz="1500"/>
          </a:p>
        </p:txBody>
      </p:sp>
      <p:sp>
        <p:nvSpPr>
          <p:cNvPr id="40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41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Rental lifecycle</a:t>
            </a:r>
            <a:endParaRPr lang="en-US" sz="880"/>
          </a:p>
        </p:txBody>
      </p:sp>
      <p:sp>
        <p:nvSpPr>
          <p:cNvPr id="42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Request to resolution</a:t>
            </a:r>
            <a:endParaRPr lang="en-US" sz="88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07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TRUST LAYER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896112"/>
            <a:ext cx="7680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000" b="1">
                <a:solidFill>
                  <a:srgbClr val="102133"/>
                </a:solidFill>
                <a:latin typeface="Aptos"/>
                <a:cs typeface="Aptos"/>
              </a:rPr>
              <a:t>Built for control, accountability, and support</a:t>
            </a:r>
            <a:endParaRPr lang="en-US" sz="4000"/>
          </a:p>
        </p:txBody>
      </p:sp>
      <p:sp>
        <p:nvSpPr>
          <p:cNvPr id="10" name="card"/>
          <p:cNvSpPr txBox="1"/>
          <p:nvPr/>
        </p:nvSpPr>
        <p:spPr>
          <a:xfrm>
            <a:off x="658368" y="1993392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1" name="card icon"/>
          <p:cNvSpPr txBox="1"/>
          <p:nvPr/>
        </p:nvSpPr>
        <p:spPr>
          <a:xfrm>
            <a:off x="859536" y="2194560"/>
            <a:ext cx="393192" cy="393192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12" name="card icon text"/>
          <p:cNvSpPr txBox="1"/>
          <p:nvPr/>
        </p:nvSpPr>
        <p:spPr>
          <a:xfrm>
            <a:off x="886968" y="2295144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R</a:t>
            </a:r>
            <a:endParaRPr lang="en-US" sz="880"/>
          </a:p>
        </p:txBody>
      </p:sp>
      <p:sp>
        <p:nvSpPr>
          <p:cNvPr id="13" name="card heading"/>
          <p:cNvSpPr txBox="1"/>
          <p:nvPr/>
        </p:nvSpPr>
        <p:spPr>
          <a:xfrm>
            <a:off x="859536" y="2706624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Renter dashboard value</a:t>
            </a:r>
            <a:endParaRPr lang="en-US" sz="1450"/>
          </a:p>
        </p:txBody>
      </p:sp>
      <p:sp>
        <p:nvSpPr>
          <p:cNvPr id="14" name="card body"/>
          <p:cNvSpPr txBox="1"/>
          <p:nvPr/>
        </p:nvSpPr>
        <p:spPr>
          <a:xfrm>
            <a:off x="859536" y="3081528"/>
            <a:ext cx="2999232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Active rentals, receipts, return actions, password reset, reviews, and dispute entry points keep the renter journey clear.</a:t>
            </a:r>
            <a:endParaRPr lang="en-US" sz="1150"/>
          </a:p>
        </p:txBody>
      </p:sp>
      <p:sp>
        <p:nvSpPr>
          <p:cNvPr id="15" name="card"/>
          <p:cNvSpPr txBox="1"/>
          <p:nvPr/>
        </p:nvSpPr>
        <p:spPr>
          <a:xfrm>
            <a:off x="4407408" y="1993392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6" name="card icon"/>
          <p:cNvSpPr txBox="1"/>
          <p:nvPr/>
        </p:nvSpPr>
        <p:spPr>
          <a:xfrm>
            <a:off x="4608576" y="2194560"/>
            <a:ext cx="393192" cy="393192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</p:sp>
      <p:sp>
        <p:nvSpPr>
          <p:cNvPr id="17" name="card icon text"/>
          <p:cNvSpPr txBox="1"/>
          <p:nvPr/>
        </p:nvSpPr>
        <p:spPr>
          <a:xfrm>
            <a:off x="4636008" y="2295144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O</a:t>
            </a:r>
            <a:endParaRPr lang="en-US" sz="880"/>
          </a:p>
        </p:txBody>
      </p:sp>
      <p:sp>
        <p:nvSpPr>
          <p:cNvPr id="18" name="card heading"/>
          <p:cNvSpPr txBox="1"/>
          <p:nvPr/>
        </p:nvSpPr>
        <p:spPr>
          <a:xfrm>
            <a:off x="4608576" y="2706624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Owner dashboard value</a:t>
            </a:r>
            <a:endParaRPr lang="en-US" sz="1450"/>
          </a:p>
        </p:txBody>
      </p:sp>
      <p:sp>
        <p:nvSpPr>
          <p:cNvPr id="19" name="card body"/>
          <p:cNvSpPr txBox="1"/>
          <p:nvPr/>
        </p:nvSpPr>
        <p:spPr>
          <a:xfrm>
            <a:off x="4608576" y="3081528"/>
            <a:ext cx="2999232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Owners can see tool listings, rental activity, return status, earnings, and operational history.</a:t>
            </a:r>
            <a:endParaRPr lang="en-US" sz="1150"/>
          </a:p>
        </p:txBody>
      </p:sp>
      <p:sp>
        <p:nvSpPr>
          <p:cNvPr id="20" name="card"/>
          <p:cNvSpPr txBox="1"/>
          <p:nvPr/>
        </p:nvSpPr>
        <p:spPr>
          <a:xfrm>
            <a:off x="8156448" y="1993392"/>
            <a:ext cx="3401568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1" name="card icon"/>
          <p:cNvSpPr txBox="1"/>
          <p:nvPr/>
        </p:nvSpPr>
        <p:spPr>
          <a:xfrm>
            <a:off x="8357616" y="2194560"/>
            <a:ext cx="393192" cy="393192"/>
          </a:xfrm>
          <a:prstGeom prst="roundRect">
            <a:avLst/>
          </a:prstGeom>
          <a:solidFill>
            <a:srgbClr val="FF8F62"/>
          </a:solidFill>
          <a:ln>
            <a:noFill/>
          </a:ln>
        </p:spPr>
      </p:sp>
      <p:sp>
        <p:nvSpPr>
          <p:cNvPr id="22" name="card icon text"/>
          <p:cNvSpPr txBox="1"/>
          <p:nvPr/>
        </p:nvSpPr>
        <p:spPr>
          <a:xfrm>
            <a:off x="8385048" y="2295144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A</a:t>
            </a:r>
            <a:endParaRPr lang="en-US" sz="880"/>
          </a:p>
        </p:txBody>
      </p:sp>
      <p:sp>
        <p:nvSpPr>
          <p:cNvPr id="23" name="card heading"/>
          <p:cNvSpPr txBox="1"/>
          <p:nvPr/>
        </p:nvSpPr>
        <p:spPr>
          <a:xfrm>
            <a:off x="8357616" y="2706624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Admin dashboard value</a:t>
            </a:r>
            <a:endParaRPr lang="en-US" sz="1450"/>
          </a:p>
        </p:txBody>
      </p:sp>
      <p:sp>
        <p:nvSpPr>
          <p:cNvPr id="24" name="card body"/>
          <p:cNvSpPr txBox="1"/>
          <p:nvPr/>
        </p:nvSpPr>
        <p:spPr>
          <a:xfrm>
            <a:off x="8357616" y="3081528"/>
            <a:ext cx="2999232" cy="210312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Admins can moderate users, listings, bookings, deposits, support tickets, disputes, reports, and revenue.</a:t>
            </a:r>
            <a:endParaRPr lang="en-US" sz="1150"/>
          </a:p>
        </p:txBody>
      </p:sp>
      <p:sp>
        <p:nvSpPr>
          <p:cNvPr id="25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26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Trust and safety</a:t>
            </a:r>
            <a:endParaRPr lang="en-US" sz="880"/>
          </a:p>
        </p:txBody>
      </p:sp>
      <p:sp>
        <p:nvSpPr>
          <p:cNvPr id="27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Dashboards separate responsibilities</a:t>
            </a:r>
            <a:endParaRPr lang="en-US" sz="88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08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PAYMENTS + RECORDS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896112"/>
            <a:ext cx="69494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200" b="1">
                <a:solidFill>
                  <a:srgbClr val="102133"/>
                </a:solidFill>
                <a:latin typeface="Aptos"/>
                <a:cs typeface="Aptos"/>
              </a:rPr>
              <a:t>A practical rental business workflow</a:t>
            </a:r>
            <a:endParaRPr lang="en-US" sz="4200"/>
          </a:p>
        </p:txBody>
      </p:sp>
      <p:sp>
        <p:nvSpPr>
          <p:cNvPr id="10" name="mini card"/>
          <p:cNvSpPr txBox="1"/>
          <p:nvPr/>
        </p:nvSpPr>
        <p:spPr>
          <a:xfrm>
            <a:off x="658368" y="196596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1" name="mini heading"/>
          <p:cNvSpPr txBox="1"/>
          <p:nvPr/>
        </p:nvSpPr>
        <p:spPr>
          <a:xfrm>
            <a:off x="822959" y="2103120"/>
            <a:ext cx="314553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Checkout support</a:t>
            </a:r>
            <a:endParaRPr lang="en-US" sz="1250"/>
          </a:p>
        </p:txBody>
      </p:sp>
      <p:sp>
        <p:nvSpPr>
          <p:cNvPr id="12" name="mini body"/>
          <p:cNvSpPr txBox="1"/>
          <p:nvPr/>
        </p:nvSpPr>
        <p:spPr>
          <a:xfrm>
            <a:off x="822959" y="2441448"/>
            <a:ext cx="3145536" cy="521207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Payment helper logic supports checkout and success flows for bookings.</a:t>
            </a:r>
            <a:endParaRPr lang="en-US" sz="1030"/>
          </a:p>
        </p:txBody>
      </p:sp>
      <p:sp>
        <p:nvSpPr>
          <p:cNvPr id="13" name="mini card"/>
          <p:cNvSpPr txBox="1"/>
          <p:nvPr/>
        </p:nvSpPr>
        <p:spPr>
          <a:xfrm>
            <a:off x="658368" y="3273552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4" name="mini heading"/>
          <p:cNvSpPr txBox="1"/>
          <p:nvPr/>
        </p:nvSpPr>
        <p:spPr>
          <a:xfrm>
            <a:off x="822959" y="3410712"/>
            <a:ext cx="314553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Deposits</a:t>
            </a:r>
            <a:endParaRPr lang="en-US" sz="1250"/>
          </a:p>
        </p:txBody>
      </p:sp>
      <p:sp>
        <p:nvSpPr>
          <p:cNvPr id="15" name="mini body"/>
          <p:cNvSpPr txBox="1"/>
          <p:nvPr/>
        </p:nvSpPr>
        <p:spPr>
          <a:xfrm>
            <a:off x="822959" y="3749039"/>
            <a:ext cx="3145536" cy="521207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Deposits help manage rental risk and can be monitored by admins.</a:t>
            </a:r>
            <a:endParaRPr lang="en-US" sz="1030"/>
          </a:p>
        </p:txBody>
      </p:sp>
      <p:sp>
        <p:nvSpPr>
          <p:cNvPr id="16" name="mini card"/>
          <p:cNvSpPr txBox="1"/>
          <p:nvPr/>
        </p:nvSpPr>
        <p:spPr>
          <a:xfrm>
            <a:off x="658368" y="4581144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7" name="mini heading"/>
          <p:cNvSpPr txBox="1"/>
          <p:nvPr/>
        </p:nvSpPr>
        <p:spPr>
          <a:xfrm>
            <a:off x="822959" y="4718304"/>
            <a:ext cx="314553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Receipts and earnings</a:t>
            </a:r>
            <a:endParaRPr lang="en-US" sz="1250"/>
          </a:p>
        </p:txBody>
      </p:sp>
      <p:sp>
        <p:nvSpPr>
          <p:cNvPr id="18" name="mini body"/>
          <p:cNvSpPr txBox="1"/>
          <p:nvPr/>
        </p:nvSpPr>
        <p:spPr>
          <a:xfrm>
            <a:off x="822959" y="5056631"/>
            <a:ext cx="3145536" cy="521207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Renters receive receipts while owners and admins can review earnings.</a:t>
            </a:r>
            <a:endParaRPr lang="en-US" sz="1030"/>
          </a:p>
        </p:txBody>
      </p:sp>
      <p:sp>
        <p:nvSpPr>
          <p:cNvPr id="19" name="revenue panel"/>
          <p:cNvSpPr txBox="1"/>
          <p:nvPr/>
        </p:nvSpPr>
        <p:spPr>
          <a:xfrm>
            <a:off x="4754880" y="1755648"/>
            <a:ext cx="66294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pic>
        <p:nvPicPr>
          <p:cNvPr id="20" name="drill photo reven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057400"/>
            <a:ext cx="1965960" cy="1426464"/>
          </a:xfrm>
          <a:prstGeom prst="rect">
            <a:avLst/>
          </a:prstGeom>
        </p:spPr>
      </p:pic>
      <p:pic>
        <p:nvPicPr>
          <p:cNvPr id="21" name="ladder photo revenu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057400"/>
            <a:ext cx="1280160" cy="1426464"/>
          </a:xfrm>
          <a:prstGeom prst="rect">
            <a:avLst/>
          </a:prstGeom>
        </p:spPr>
      </p:pic>
      <p:sp>
        <p:nvSpPr>
          <p:cNvPr id="22" name="metric 1"/>
          <p:cNvSpPr txBox="1"/>
          <p:nvPr/>
        </p:nvSpPr>
        <p:spPr>
          <a:xfrm>
            <a:off x="5074920" y="3822191"/>
            <a:ext cx="1810512" cy="713232"/>
          </a:xfrm>
          <a:prstGeom prst="roundRect">
            <a:avLst/>
          </a:prstGeom>
          <a:solidFill>
            <a:srgbClr val="EAF3F6"/>
          </a:solidFill>
          <a:ln w="12700">
            <a:solidFill>
              <a:srgbClr val="DDD8CE"/>
            </a:solidFill>
          </a:ln>
        </p:spPr>
        <p:txBody>
          <a:bodyPr wrap="square" anchor="t" rtlCol="0">
            <a:spAutoFit/>
          </a:bodyPr>
          <a:lstStyle/>
          <a:p>
            <a:pPr algn="c">
              <a:spcAft>
                <a:spcPts val="200"/>
              </a:spcAft>
            </a:pPr>
            <a:r>
              <a:rPr lang="en-US" sz="1100" b="1">
                <a:solidFill>
                  <a:srgbClr val="102133"/>
                </a:solidFill>
                <a:latin typeface="Aptos"/>
                <a:cs typeface="Aptos"/>
              </a:rPr>
              <a:t>Renter</a:t>
            </a:r>
            <a:endParaRPr lang="en-US" sz="1100"/>
          </a:p>
          <a:p>
            <a:pPr algn="c"/>
            <a:r>
              <a:rPr lang="en-US" sz="1100" b="1">
                <a:solidFill>
                  <a:srgbClr val="102133"/>
                </a:solidFill>
                <a:latin typeface="Aptos"/>
                <a:cs typeface="Aptos"/>
              </a:rPr>
              <a:t>booking record</a:t>
            </a:r>
            <a:endParaRPr lang="en-US" sz="1100"/>
          </a:p>
        </p:txBody>
      </p:sp>
      <p:sp>
        <p:nvSpPr>
          <p:cNvPr id="23" name="metric 2"/>
          <p:cNvSpPr txBox="1"/>
          <p:nvPr/>
        </p:nvSpPr>
        <p:spPr>
          <a:xfrm>
            <a:off x="7086600" y="3822191"/>
            <a:ext cx="1810512" cy="713232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DD8CE"/>
            </a:solidFill>
          </a:ln>
        </p:spPr>
        <p:txBody>
          <a:bodyPr wrap="square" anchor="t" rtlCol="0">
            <a:spAutoFit/>
          </a:bodyPr>
          <a:lstStyle/>
          <a:p>
            <a:pPr algn="c">
              <a:spcAft>
                <a:spcPts val="200"/>
              </a:spcAft>
            </a:pPr>
            <a:r>
              <a:rPr lang="en-US" sz="1100" b="1">
                <a:solidFill>
                  <a:srgbClr val="102133"/>
                </a:solidFill>
                <a:latin typeface="Aptos"/>
                <a:cs typeface="Aptos"/>
              </a:rPr>
              <a:t>Owner</a:t>
            </a:r>
            <a:endParaRPr lang="en-US" sz="1100"/>
          </a:p>
          <a:p>
            <a:pPr algn="c"/>
            <a:r>
              <a:rPr lang="en-US" sz="1100" b="1">
                <a:solidFill>
                  <a:srgbClr val="102133"/>
                </a:solidFill>
                <a:latin typeface="Aptos"/>
                <a:cs typeface="Aptos"/>
              </a:rPr>
              <a:t>earnings view</a:t>
            </a:r>
            <a:endParaRPr lang="en-US" sz="1100"/>
          </a:p>
        </p:txBody>
      </p:sp>
      <p:sp>
        <p:nvSpPr>
          <p:cNvPr id="24" name="metric 3"/>
          <p:cNvSpPr txBox="1"/>
          <p:nvPr/>
        </p:nvSpPr>
        <p:spPr>
          <a:xfrm>
            <a:off x="9098280" y="3822191"/>
            <a:ext cx="1810512" cy="713232"/>
          </a:xfrm>
          <a:prstGeom prst="roundRect">
            <a:avLst/>
          </a:prstGeom>
          <a:solidFill>
            <a:srgbClr val="FFF0EA"/>
          </a:solidFill>
          <a:ln w="12700">
            <a:solidFill>
              <a:srgbClr val="DDD8CE"/>
            </a:solidFill>
          </a:ln>
        </p:spPr>
        <p:txBody>
          <a:bodyPr wrap="square" anchor="t" rtlCol="0">
            <a:spAutoFit/>
          </a:bodyPr>
          <a:lstStyle/>
          <a:p>
            <a:pPr algn="c">
              <a:spcAft>
                <a:spcPts val="200"/>
              </a:spcAft>
            </a:pPr>
            <a:r>
              <a:rPr lang="en-US" sz="1100" b="1">
                <a:solidFill>
                  <a:srgbClr val="102133"/>
                </a:solidFill>
                <a:latin typeface="Aptos"/>
                <a:cs typeface="Aptos"/>
              </a:rPr>
              <a:t>Admin</a:t>
            </a:r>
            <a:endParaRPr lang="en-US" sz="1100"/>
          </a:p>
          <a:p>
            <a:pPr algn="c"/>
            <a:r>
              <a:rPr lang="en-US" sz="1100" b="1">
                <a:solidFill>
                  <a:srgbClr val="102133"/>
                </a:solidFill>
                <a:latin typeface="Aptos"/>
                <a:cs typeface="Aptos"/>
              </a:rPr>
              <a:t>revenue tracking</a:t>
            </a:r>
            <a:endParaRPr lang="en-US" sz="1100"/>
          </a:p>
        </p:txBody>
      </p:sp>
      <p:sp>
        <p:nvSpPr>
          <p:cNvPr id="25" name="payment note"/>
          <p:cNvSpPr txBox="1"/>
          <p:nvPr/>
        </p:nvSpPr>
        <p:spPr>
          <a:xfrm>
            <a:off x="5074920" y="4892040"/>
            <a:ext cx="5833872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250">
                <a:solidFill>
                  <a:srgbClr val="586779"/>
                </a:solidFill>
                <a:latin typeface="Aptos"/>
                <a:cs typeface="Aptos"/>
              </a:rPr>
              <a:t>The system connects rental status, deposit handling, receipts, and owner statements into one operational flow.</a:t>
            </a:r>
            <a:endParaRPr lang="en-US" sz="1250"/>
          </a:p>
        </p:txBody>
      </p:sp>
      <p:sp>
        <p:nvSpPr>
          <p:cNvPr id="26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27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Money flow</a:t>
            </a:r>
            <a:endParaRPr lang="en-US" sz="880"/>
          </a:p>
        </p:txBody>
      </p:sp>
      <p:sp>
        <p:nvSpPr>
          <p:cNvPr id="28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Checkout, deposits, receipts, earnings</a:t>
            </a:r>
            <a:endParaRPr lang="en-US" sz="88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09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TECHNICAL ARCHITECTURE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896112"/>
            <a:ext cx="612648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400" b="1">
                <a:solidFill>
                  <a:srgbClr val="102133"/>
                </a:solidFill>
                <a:latin typeface="Aptos"/>
                <a:cs typeface="Aptos"/>
              </a:rPr>
              <a:t>How ToolShare is built</a:t>
            </a:r>
            <a:endParaRPr lang="en-US" sz="4400"/>
          </a:p>
        </p:txBody>
      </p:sp>
      <p:sp>
        <p:nvSpPr>
          <p:cNvPr id="10" name="mini card"/>
          <p:cNvSpPr txBox="1"/>
          <p:nvPr/>
        </p:nvSpPr>
        <p:spPr>
          <a:xfrm>
            <a:off x="749808" y="1938528"/>
            <a:ext cx="29260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1" name="mini heading"/>
          <p:cNvSpPr txBox="1"/>
          <p:nvPr/>
        </p:nvSpPr>
        <p:spPr>
          <a:xfrm>
            <a:off x="914400" y="2075688"/>
            <a:ext cx="259689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Frontend pages</a:t>
            </a:r>
            <a:endParaRPr lang="en-US" sz="1250"/>
          </a:p>
        </p:txBody>
      </p:sp>
      <p:sp>
        <p:nvSpPr>
          <p:cNvPr id="12" name="mini body"/>
          <p:cNvSpPr txBox="1"/>
          <p:nvPr/>
        </p:nvSpPr>
        <p:spPr>
          <a:xfrm>
            <a:off x="914400" y="2414016"/>
            <a:ext cx="2596896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PHP-rendered pages with shared site chrome, forms, dashboards, and marketplace views.</a:t>
            </a:r>
            <a:endParaRPr lang="en-US" sz="1030"/>
          </a:p>
        </p:txBody>
      </p:sp>
      <p:sp>
        <p:nvSpPr>
          <p:cNvPr id="13" name="mini card"/>
          <p:cNvSpPr txBox="1"/>
          <p:nvPr/>
        </p:nvSpPr>
        <p:spPr>
          <a:xfrm>
            <a:off x="749808" y="3401568"/>
            <a:ext cx="29260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4" name="mini heading"/>
          <p:cNvSpPr txBox="1"/>
          <p:nvPr/>
        </p:nvSpPr>
        <p:spPr>
          <a:xfrm>
            <a:off x="914400" y="3538728"/>
            <a:ext cx="259689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Helper modules</a:t>
            </a:r>
            <a:endParaRPr lang="en-US" sz="1250"/>
          </a:p>
        </p:txBody>
      </p:sp>
      <p:sp>
        <p:nvSpPr>
          <p:cNvPr id="15" name="mini body"/>
          <p:cNvSpPr txBox="1"/>
          <p:nvPr/>
        </p:nvSpPr>
        <p:spPr>
          <a:xfrm>
            <a:off x="914400" y="3877056"/>
            <a:ext cx="2596896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Auth, mail, payment, booking, returns, disputes, support, owner, and admin helpers.</a:t>
            </a:r>
            <a:endParaRPr lang="en-US" sz="1030"/>
          </a:p>
        </p:txBody>
      </p:sp>
      <p:sp>
        <p:nvSpPr>
          <p:cNvPr id="16" name="architecture core"/>
          <p:cNvSpPr txBox="1"/>
          <p:nvPr/>
        </p:nvSpPr>
        <p:spPr>
          <a:xfrm>
            <a:off x="4370832" y="2139696"/>
            <a:ext cx="3337560" cy="2267712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</p:sp>
      <p:sp>
        <p:nvSpPr>
          <p:cNvPr id="17" name="architecture core text"/>
          <p:cNvSpPr txBox="1"/>
          <p:nvPr/>
        </p:nvSpPr>
        <p:spPr>
          <a:xfrm>
            <a:off x="4645152" y="2633472"/>
            <a:ext cx="278892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>
              <a:spcAft>
                <a:spcPts val="200"/>
              </a:spcAft>
            </a:pPr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PHP Application Layer</a:t>
            </a:r>
            <a:endParaRPr lang="en-US" sz="1800"/>
          </a:p>
          <a:p>
            <a:pPr algn="c"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Role-based logic + marketplace operations</a:t>
            </a:r>
            <a:endParaRPr lang="en-US" sz="1800"/>
          </a:p>
        </p:txBody>
      </p:sp>
      <p:sp>
        <p:nvSpPr>
          <p:cNvPr id="18" name="mini card"/>
          <p:cNvSpPr txBox="1"/>
          <p:nvPr/>
        </p:nvSpPr>
        <p:spPr>
          <a:xfrm>
            <a:off x="8458200" y="1938528"/>
            <a:ext cx="29260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9" name="mini heading"/>
          <p:cNvSpPr txBox="1"/>
          <p:nvPr/>
        </p:nvSpPr>
        <p:spPr>
          <a:xfrm>
            <a:off x="8622792" y="2075688"/>
            <a:ext cx="259689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MySQL database</a:t>
            </a:r>
            <a:endParaRPr lang="en-US" sz="1250"/>
          </a:p>
        </p:txBody>
      </p:sp>
      <p:sp>
        <p:nvSpPr>
          <p:cNvPr id="20" name="mini body"/>
          <p:cNvSpPr txBox="1"/>
          <p:nvPr/>
        </p:nvSpPr>
        <p:spPr>
          <a:xfrm>
            <a:off x="8622792" y="2414016"/>
            <a:ext cx="2596896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Stores users, tools, bookings, reviews, disputes, payments, and support data.</a:t>
            </a:r>
            <a:endParaRPr lang="en-US" sz="1030"/>
          </a:p>
        </p:txBody>
      </p:sp>
      <p:sp>
        <p:nvSpPr>
          <p:cNvPr id="21" name="mini card"/>
          <p:cNvSpPr txBox="1"/>
          <p:nvPr/>
        </p:nvSpPr>
        <p:spPr>
          <a:xfrm>
            <a:off x="8458200" y="3401568"/>
            <a:ext cx="29260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2" name="mini heading"/>
          <p:cNvSpPr txBox="1"/>
          <p:nvPr/>
        </p:nvSpPr>
        <p:spPr>
          <a:xfrm>
            <a:off x="8622792" y="3538728"/>
            <a:ext cx="259689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250" b="1">
                <a:solidFill>
                  <a:srgbClr val="102133"/>
                </a:solidFill>
                <a:latin typeface="Aptos"/>
                <a:cs typeface="Aptos"/>
              </a:rPr>
              <a:t>External services</a:t>
            </a:r>
            <a:endParaRPr lang="en-US" sz="1250"/>
          </a:p>
        </p:txBody>
      </p:sp>
      <p:sp>
        <p:nvSpPr>
          <p:cNvPr id="23" name="mini body"/>
          <p:cNvSpPr txBox="1"/>
          <p:nvPr/>
        </p:nvSpPr>
        <p:spPr>
          <a:xfrm>
            <a:off x="8622792" y="3877056"/>
            <a:ext cx="2596896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30">
                <a:solidFill>
                  <a:srgbClr val="586779"/>
                </a:solidFill>
                <a:latin typeface="Aptos"/>
                <a:cs typeface="Aptos"/>
              </a:rPr>
              <a:t>PHPMailer SMTP for email and payment helper logic for checkout/deposits.</a:t>
            </a:r>
            <a:endParaRPr lang="en-US" sz="1030"/>
          </a:p>
        </p:txBody>
      </p:sp>
      <p:sp>
        <p:nvSpPr>
          <p:cNvPr id="24" name="connector"/>
          <p:cNvSpPr txBox="1"/>
          <p:nvPr/>
        </p:nvSpPr>
        <p:spPr>
          <a:xfrm>
            <a:off x="3703320" y="2542032"/>
            <a:ext cx="530352" cy="27432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5" name="connector"/>
          <p:cNvSpPr txBox="1"/>
          <p:nvPr/>
        </p:nvSpPr>
        <p:spPr>
          <a:xfrm>
            <a:off x="3703320" y="4005072"/>
            <a:ext cx="530352" cy="27432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6" name="connector"/>
          <p:cNvSpPr txBox="1"/>
          <p:nvPr/>
        </p:nvSpPr>
        <p:spPr>
          <a:xfrm>
            <a:off x="7799831" y="2542032"/>
            <a:ext cx="530352" cy="27432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7" name="connector"/>
          <p:cNvSpPr txBox="1"/>
          <p:nvPr/>
        </p:nvSpPr>
        <p:spPr>
          <a:xfrm>
            <a:off x="7799831" y="4005072"/>
            <a:ext cx="530352" cy="27432"/>
          </a:xfrm>
          <a:prstGeom prst="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8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29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Architecture</a:t>
            </a:r>
            <a:endParaRPr lang="en-US" sz="880"/>
          </a:p>
        </p:txBody>
      </p:sp>
      <p:sp>
        <p:nvSpPr>
          <p:cNvPr id="30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PHP + MySQL + PHPMailer + payment helpers</a:t>
            </a:r>
            <a:endParaRPr lang="en-US" sz="88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10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COMPETITIVE POSITIONING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896112"/>
            <a:ext cx="7955279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000" b="1">
                <a:solidFill>
                  <a:srgbClr val="102133"/>
                </a:solidFill>
                <a:latin typeface="Aptos"/>
                <a:cs typeface="Aptos"/>
              </a:rPr>
              <a:t>Where ToolShare fits against alternatives</a:t>
            </a:r>
            <a:endParaRPr lang="en-US" sz="4000"/>
          </a:p>
        </p:txBody>
      </p:sp>
      <p:sp>
        <p:nvSpPr>
          <p:cNvPr id="10" name="card"/>
          <p:cNvSpPr txBox="1"/>
          <p:nvPr/>
        </p:nvSpPr>
        <p:spPr>
          <a:xfrm>
            <a:off x="658368" y="1874519"/>
            <a:ext cx="2743200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1" name="card icon"/>
          <p:cNvSpPr txBox="1"/>
          <p:nvPr/>
        </p:nvSpPr>
        <p:spPr>
          <a:xfrm>
            <a:off x="859536" y="2075688"/>
            <a:ext cx="393192" cy="393192"/>
          </a:xfrm>
          <a:prstGeom prst="roundRect">
            <a:avLst/>
          </a:prstGeom>
          <a:solidFill>
            <a:srgbClr val="FF8F62"/>
          </a:solidFill>
          <a:ln>
            <a:noFill/>
          </a:ln>
        </p:spPr>
      </p:sp>
      <p:sp>
        <p:nvSpPr>
          <p:cNvPr id="12" name="card icon text"/>
          <p:cNvSpPr txBox="1"/>
          <p:nvPr/>
        </p:nvSpPr>
        <p:spPr>
          <a:xfrm>
            <a:off x="886968" y="2176272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A</a:t>
            </a:r>
            <a:endParaRPr lang="en-US" sz="880"/>
          </a:p>
        </p:txBody>
      </p:sp>
      <p:sp>
        <p:nvSpPr>
          <p:cNvPr id="13" name="card heading"/>
          <p:cNvSpPr txBox="1"/>
          <p:nvPr/>
        </p:nvSpPr>
        <p:spPr>
          <a:xfrm>
            <a:off x="859536" y="2587752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Buying tools</a:t>
            </a:r>
            <a:endParaRPr lang="en-US" sz="1450"/>
          </a:p>
        </p:txBody>
      </p:sp>
      <p:sp>
        <p:nvSpPr>
          <p:cNvPr id="14" name="card body"/>
          <p:cNvSpPr txBox="1"/>
          <p:nvPr/>
        </p:nvSpPr>
        <p:spPr>
          <a:xfrm>
            <a:off x="859536" y="2962656"/>
            <a:ext cx="2340864" cy="1764791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Reliable but expensive when the tool is needed only once or twice.</a:t>
            </a:r>
            <a:endParaRPr lang="en-US" sz="1150"/>
          </a:p>
        </p:txBody>
      </p:sp>
      <p:sp>
        <p:nvSpPr>
          <p:cNvPr id="15" name="card"/>
          <p:cNvSpPr txBox="1"/>
          <p:nvPr/>
        </p:nvSpPr>
        <p:spPr>
          <a:xfrm>
            <a:off x="3639312" y="1874519"/>
            <a:ext cx="2743200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6" name="card icon"/>
          <p:cNvSpPr txBox="1"/>
          <p:nvPr/>
        </p:nvSpPr>
        <p:spPr>
          <a:xfrm>
            <a:off x="3840480" y="2075688"/>
            <a:ext cx="393192" cy="393192"/>
          </a:xfrm>
          <a:prstGeom prst="roundRect">
            <a:avLst/>
          </a:prstGeom>
          <a:solidFill>
            <a:srgbClr val="F0C45D"/>
          </a:solidFill>
          <a:ln>
            <a:noFill/>
          </a:ln>
        </p:spPr>
      </p:sp>
      <p:sp>
        <p:nvSpPr>
          <p:cNvPr id="17" name="card icon text"/>
          <p:cNvSpPr txBox="1"/>
          <p:nvPr/>
        </p:nvSpPr>
        <p:spPr>
          <a:xfrm>
            <a:off x="3867912" y="2176272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B</a:t>
            </a:r>
            <a:endParaRPr lang="en-US" sz="880"/>
          </a:p>
        </p:txBody>
      </p:sp>
      <p:sp>
        <p:nvSpPr>
          <p:cNvPr id="18" name="card heading"/>
          <p:cNvSpPr txBox="1"/>
          <p:nvPr/>
        </p:nvSpPr>
        <p:spPr>
          <a:xfrm>
            <a:off x="3840480" y="2587752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Borrowing informally</a:t>
            </a:r>
            <a:endParaRPr lang="en-US" sz="1450"/>
          </a:p>
        </p:txBody>
      </p:sp>
      <p:sp>
        <p:nvSpPr>
          <p:cNvPr id="19" name="card body"/>
          <p:cNvSpPr txBox="1"/>
          <p:nvPr/>
        </p:nvSpPr>
        <p:spPr>
          <a:xfrm>
            <a:off x="3840480" y="2962656"/>
            <a:ext cx="2340864" cy="1764791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Cheap but lacks booking records, deposits, accountability, and dispute handling.</a:t>
            </a:r>
            <a:endParaRPr lang="en-US" sz="1150"/>
          </a:p>
        </p:txBody>
      </p:sp>
      <p:sp>
        <p:nvSpPr>
          <p:cNvPr id="20" name="card"/>
          <p:cNvSpPr txBox="1"/>
          <p:nvPr/>
        </p:nvSpPr>
        <p:spPr>
          <a:xfrm>
            <a:off x="6620256" y="1874519"/>
            <a:ext cx="2743200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1" name="card icon"/>
          <p:cNvSpPr txBox="1"/>
          <p:nvPr/>
        </p:nvSpPr>
        <p:spPr>
          <a:xfrm>
            <a:off x="6821424" y="2075688"/>
            <a:ext cx="393192" cy="393192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22" name="card icon text"/>
          <p:cNvSpPr txBox="1"/>
          <p:nvPr/>
        </p:nvSpPr>
        <p:spPr>
          <a:xfrm>
            <a:off x="6848856" y="2176272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C</a:t>
            </a:r>
            <a:endParaRPr lang="en-US" sz="880"/>
          </a:p>
        </p:txBody>
      </p:sp>
      <p:sp>
        <p:nvSpPr>
          <p:cNvPr id="23" name="card heading"/>
          <p:cNvSpPr txBox="1"/>
          <p:nvPr/>
        </p:nvSpPr>
        <p:spPr>
          <a:xfrm>
            <a:off x="6821424" y="2587752"/>
            <a:ext cx="234086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Rental stores</a:t>
            </a:r>
            <a:endParaRPr lang="en-US" sz="1450"/>
          </a:p>
        </p:txBody>
      </p:sp>
      <p:sp>
        <p:nvSpPr>
          <p:cNvPr id="24" name="card body"/>
          <p:cNvSpPr txBox="1"/>
          <p:nvPr/>
        </p:nvSpPr>
        <p:spPr>
          <a:xfrm>
            <a:off x="6821424" y="2962656"/>
            <a:ext cx="2340864" cy="1764791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Structured but may be less local, less peer-to-peer, and less owner-friendly.</a:t>
            </a:r>
            <a:endParaRPr lang="en-US" sz="1150"/>
          </a:p>
        </p:txBody>
      </p:sp>
      <p:sp>
        <p:nvSpPr>
          <p:cNvPr id="25" name="card"/>
          <p:cNvSpPr txBox="1"/>
          <p:nvPr/>
        </p:nvSpPr>
        <p:spPr>
          <a:xfrm>
            <a:off x="9601200" y="1874519"/>
            <a:ext cx="2011680" cy="2999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6" name="card icon"/>
          <p:cNvSpPr txBox="1"/>
          <p:nvPr/>
        </p:nvSpPr>
        <p:spPr>
          <a:xfrm>
            <a:off x="9802368" y="2075688"/>
            <a:ext cx="393192" cy="393192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</p:sp>
      <p:sp>
        <p:nvSpPr>
          <p:cNvPr id="27" name="card icon text"/>
          <p:cNvSpPr txBox="1"/>
          <p:nvPr/>
        </p:nvSpPr>
        <p:spPr>
          <a:xfrm>
            <a:off x="9829800" y="2176272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TS</a:t>
            </a:r>
            <a:endParaRPr lang="en-US" sz="880"/>
          </a:p>
        </p:txBody>
      </p:sp>
      <p:sp>
        <p:nvSpPr>
          <p:cNvPr id="28" name="card heading"/>
          <p:cNvSpPr txBox="1"/>
          <p:nvPr/>
        </p:nvSpPr>
        <p:spPr>
          <a:xfrm>
            <a:off x="9802368" y="2587752"/>
            <a:ext cx="16093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ToolShare</a:t>
            </a:r>
            <a:endParaRPr lang="en-US" sz="1450"/>
          </a:p>
        </p:txBody>
      </p:sp>
      <p:sp>
        <p:nvSpPr>
          <p:cNvPr id="29" name="card body"/>
          <p:cNvSpPr txBox="1"/>
          <p:nvPr/>
        </p:nvSpPr>
        <p:spPr>
          <a:xfrm>
            <a:off x="9802368" y="2962656"/>
            <a:ext cx="1609344" cy="1764791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Local marketplace with renter, owner, admin, payment, trust, and support workflows.</a:t>
            </a:r>
            <a:endParaRPr lang="en-US" sz="1150"/>
          </a:p>
        </p:txBody>
      </p:sp>
      <p:sp>
        <p:nvSpPr>
          <p:cNvPr id="30" name="positioning note"/>
          <p:cNvSpPr txBox="1"/>
          <p:nvPr/>
        </p:nvSpPr>
        <p:spPr>
          <a:xfrm>
            <a:off x="1234440" y="5230368"/>
            <a:ext cx="9875520" cy="475488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DDD8CE"/>
            </a:solidFill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400" b="1">
                <a:solidFill>
                  <a:srgbClr val="102133"/>
                </a:solidFill>
                <a:latin typeface="Aptos"/>
                <a:cs typeface="Aptos"/>
              </a:rPr>
              <a:t>ToolShare is strongest when a user wants local access, lower cost, and a structured rental process.</a:t>
            </a:r>
            <a:endParaRPr lang="en-US" sz="1400"/>
          </a:p>
        </p:txBody>
      </p:sp>
      <p:sp>
        <p:nvSpPr>
          <p:cNvPr id="31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32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Positioning</a:t>
            </a:r>
            <a:endParaRPr lang="en-US" sz="880"/>
          </a:p>
        </p:txBody>
      </p:sp>
      <p:sp>
        <p:nvSpPr>
          <p:cNvPr id="33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Structured local rental marketplace</a:t>
            </a:r>
            <a:endParaRPr lang="en-US" sz="88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11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LIVE DEMO PLAN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896112"/>
            <a:ext cx="7498079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100" b="1">
                <a:solidFill>
                  <a:srgbClr val="102133"/>
                </a:solidFill>
                <a:latin typeface="Aptos"/>
                <a:cs typeface="Aptos"/>
              </a:rPr>
              <a:t>A clear demo path for presentation day</a:t>
            </a:r>
            <a:endParaRPr lang="en-US" sz="4100"/>
          </a:p>
        </p:txBody>
      </p:sp>
      <p:sp>
        <p:nvSpPr>
          <p:cNvPr id="10" name="demo step"/>
          <p:cNvSpPr txBox="1"/>
          <p:nvPr/>
        </p:nvSpPr>
        <p:spPr>
          <a:xfrm>
            <a:off x="658368" y="1883664"/>
            <a:ext cx="504748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1" name="demo num"/>
          <p:cNvSpPr txBox="1"/>
          <p:nvPr/>
        </p:nvSpPr>
        <p:spPr>
          <a:xfrm>
            <a:off x="822959" y="2093976"/>
            <a:ext cx="457200" cy="457200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000" b="1">
                <a:solidFill>
                  <a:srgbClr val="FFFFFF"/>
                </a:solidFill>
                <a:latin typeface="Aptos"/>
                <a:cs typeface="Aptos"/>
              </a:rPr>
              <a:t>01</a:t>
            </a:r>
            <a:endParaRPr lang="en-US" sz="1000"/>
          </a:p>
        </p:txBody>
      </p:sp>
      <p:sp>
        <p:nvSpPr>
          <p:cNvPr id="12" name="demo h"/>
          <p:cNvSpPr txBox="1"/>
          <p:nvPr/>
        </p:nvSpPr>
        <p:spPr>
          <a:xfrm>
            <a:off x="1426464" y="2048256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Start with the story</a:t>
            </a:r>
            <a:endParaRPr lang="en-US" sz="1300"/>
          </a:p>
        </p:txBody>
      </p:sp>
      <p:sp>
        <p:nvSpPr>
          <p:cNvPr id="13" name="demo b"/>
          <p:cNvSpPr txBox="1"/>
          <p:nvPr/>
        </p:nvSpPr>
        <p:spPr>
          <a:xfrm>
            <a:off x="1426464" y="2359152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19">
                <a:solidFill>
                  <a:srgbClr val="586779"/>
                </a:solidFill>
                <a:latin typeface="Aptos"/>
                <a:cs typeface="Aptos"/>
              </a:rPr>
              <a:t>Explain a renter who needs a tool for one project.</a:t>
            </a:r>
            <a:endParaRPr lang="en-US" sz="1019"/>
          </a:p>
        </p:txBody>
      </p:sp>
      <p:sp>
        <p:nvSpPr>
          <p:cNvPr id="14" name="demo step"/>
          <p:cNvSpPr txBox="1"/>
          <p:nvPr/>
        </p:nvSpPr>
        <p:spPr>
          <a:xfrm>
            <a:off x="6190488" y="1883664"/>
            <a:ext cx="504748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5" name="demo num"/>
          <p:cNvSpPr txBox="1"/>
          <p:nvPr/>
        </p:nvSpPr>
        <p:spPr>
          <a:xfrm>
            <a:off x="6355079" y="2093976"/>
            <a:ext cx="457200" cy="457200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000" b="1">
                <a:solidFill>
                  <a:srgbClr val="FFFFFF"/>
                </a:solidFill>
                <a:latin typeface="Aptos"/>
                <a:cs typeface="Aptos"/>
              </a:rPr>
              <a:t>02</a:t>
            </a:r>
            <a:endParaRPr lang="en-US" sz="1000"/>
          </a:p>
        </p:txBody>
      </p:sp>
      <p:sp>
        <p:nvSpPr>
          <p:cNvPr id="16" name="demo h"/>
          <p:cNvSpPr txBox="1"/>
          <p:nvPr/>
        </p:nvSpPr>
        <p:spPr>
          <a:xfrm>
            <a:off x="6958583" y="2048256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Browse and open a tool</a:t>
            </a:r>
            <a:endParaRPr lang="en-US" sz="1300"/>
          </a:p>
        </p:txBody>
      </p:sp>
      <p:sp>
        <p:nvSpPr>
          <p:cNvPr id="17" name="demo b"/>
          <p:cNvSpPr txBox="1"/>
          <p:nvPr/>
        </p:nvSpPr>
        <p:spPr>
          <a:xfrm>
            <a:off x="6958583" y="2359152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19">
                <a:solidFill>
                  <a:srgbClr val="586779"/>
                </a:solidFill>
                <a:latin typeface="Aptos"/>
                <a:cs typeface="Aptos"/>
              </a:rPr>
              <a:t>Show marketplace listings and a tool detail page.</a:t>
            </a:r>
            <a:endParaRPr lang="en-US" sz="1019"/>
          </a:p>
        </p:txBody>
      </p:sp>
      <p:sp>
        <p:nvSpPr>
          <p:cNvPr id="18" name="demo step"/>
          <p:cNvSpPr txBox="1"/>
          <p:nvPr/>
        </p:nvSpPr>
        <p:spPr>
          <a:xfrm>
            <a:off x="658368" y="3145536"/>
            <a:ext cx="504748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9" name="demo num"/>
          <p:cNvSpPr txBox="1"/>
          <p:nvPr/>
        </p:nvSpPr>
        <p:spPr>
          <a:xfrm>
            <a:off x="822959" y="3355848"/>
            <a:ext cx="457200" cy="457200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000" b="1">
                <a:solidFill>
                  <a:srgbClr val="FFFFFF"/>
                </a:solidFill>
                <a:latin typeface="Aptos"/>
                <a:cs typeface="Aptos"/>
              </a:rPr>
              <a:t>03</a:t>
            </a:r>
            <a:endParaRPr lang="en-US" sz="1000"/>
          </a:p>
        </p:txBody>
      </p:sp>
      <p:sp>
        <p:nvSpPr>
          <p:cNvPr id="20" name="demo h"/>
          <p:cNvSpPr txBox="1"/>
          <p:nvPr/>
        </p:nvSpPr>
        <p:spPr>
          <a:xfrm>
            <a:off x="1426464" y="3310128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Walk through booking</a:t>
            </a:r>
            <a:endParaRPr lang="en-US" sz="1300"/>
          </a:p>
        </p:txBody>
      </p:sp>
      <p:sp>
        <p:nvSpPr>
          <p:cNvPr id="21" name="demo b"/>
          <p:cNvSpPr txBox="1"/>
          <p:nvPr/>
        </p:nvSpPr>
        <p:spPr>
          <a:xfrm>
            <a:off x="1426464" y="3621024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19">
                <a:solidFill>
                  <a:srgbClr val="586779"/>
                </a:solidFill>
                <a:latin typeface="Aptos"/>
                <a:cs typeface="Aptos"/>
              </a:rPr>
              <a:t>Show request, payment/deposit idea, and renter dashboard.</a:t>
            </a:r>
            <a:endParaRPr lang="en-US" sz="1019"/>
          </a:p>
        </p:txBody>
      </p:sp>
      <p:sp>
        <p:nvSpPr>
          <p:cNvPr id="22" name="demo step"/>
          <p:cNvSpPr txBox="1"/>
          <p:nvPr/>
        </p:nvSpPr>
        <p:spPr>
          <a:xfrm>
            <a:off x="6190488" y="3145536"/>
            <a:ext cx="504748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3" name="demo num"/>
          <p:cNvSpPr txBox="1"/>
          <p:nvPr/>
        </p:nvSpPr>
        <p:spPr>
          <a:xfrm>
            <a:off x="6355079" y="3355848"/>
            <a:ext cx="457200" cy="457200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000" b="1">
                <a:solidFill>
                  <a:srgbClr val="FFFFFF"/>
                </a:solidFill>
                <a:latin typeface="Aptos"/>
                <a:cs typeface="Aptos"/>
              </a:rPr>
              <a:t>04</a:t>
            </a:r>
            <a:endParaRPr lang="en-US" sz="1000"/>
          </a:p>
        </p:txBody>
      </p:sp>
      <p:sp>
        <p:nvSpPr>
          <p:cNvPr id="24" name="demo h"/>
          <p:cNvSpPr txBox="1"/>
          <p:nvPr/>
        </p:nvSpPr>
        <p:spPr>
          <a:xfrm>
            <a:off x="6958583" y="3310128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Switch to owner view</a:t>
            </a:r>
            <a:endParaRPr lang="en-US" sz="1300"/>
          </a:p>
        </p:txBody>
      </p:sp>
      <p:sp>
        <p:nvSpPr>
          <p:cNvPr id="25" name="demo b"/>
          <p:cNvSpPr txBox="1"/>
          <p:nvPr/>
        </p:nvSpPr>
        <p:spPr>
          <a:xfrm>
            <a:off x="6958583" y="3621024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19">
                <a:solidFill>
                  <a:srgbClr val="586779"/>
                </a:solidFill>
                <a:latin typeface="Aptos"/>
                <a:cs typeface="Aptos"/>
              </a:rPr>
              <a:t>Show listings, booking activity, return flow, and earnings.</a:t>
            </a:r>
            <a:endParaRPr lang="en-US" sz="1019"/>
          </a:p>
        </p:txBody>
      </p:sp>
      <p:sp>
        <p:nvSpPr>
          <p:cNvPr id="26" name="demo step"/>
          <p:cNvSpPr txBox="1"/>
          <p:nvPr/>
        </p:nvSpPr>
        <p:spPr>
          <a:xfrm>
            <a:off x="658368" y="4407408"/>
            <a:ext cx="504748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7" name="demo num"/>
          <p:cNvSpPr txBox="1"/>
          <p:nvPr/>
        </p:nvSpPr>
        <p:spPr>
          <a:xfrm>
            <a:off x="822959" y="4617720"/>
            <a:ext cx="457200" cy="457200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000" b="1">
                <a:solidFill>
                  <a:srgbClr val="FFFFFF"/>
                </a:solidFill>
                <a:latin typeface="Aptos"/>
                <a:cs typeface="Aptos"/>
              </a:rPr>
              <a:t>05</a:t>
            </a:r>
            <a:endParaRPr lang="en-US" sz="1000"/>
          </a:p>
        </p:txBody>
      </p:sp>
      <p:sp>
        <p:nvSpPr>
          <p:cNvPr id="28" name="demo h"/>
          <p:cNvSpPr txBox="1"/>
          <p:nvPr/>
        </p:nvSpPr>
        <p:spPr>
          <a:xfrm>
            <a:off x="1426464" y="4572000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Open admin operations</a:t>
            </a:r>
            <a:endParaRPr lang="en-US" sz="1300"/>
          </a:p>
        </p:txBody>
      </p:sp>
      <p:sp>
        <p:nvSpPr>
          <p:cNvPr id="29" name="demo b"/>
          <p:cNvSpPr txBox="1"/>
          <p:nvPr/>
        </p:nvSpPr>
        <p:spPr>
          <a:xfrm>
            <a:off x="1426464" y="4882896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19">
                <a:solidFill>
                  <a:srgbClr val="586779"/>
                </a:solidFill>
                <a:latin typeface="Aptos"/>
                <a:cs typeface="Aptos"/>
              </a:rPr>
              <a:t>Show users, bookings, disputes, deposits, reports, and support.</a:t>
            </a:r>
            <a:endParaRPr lang="en-US" sz="1019"/>
          </a:p>
        </p:txBody>
      </p:sp>
      <p:sp>
        <p:nvSpPr>
          <p:cNvPr id="30" name="demo step"/>
          <p:cNvSpPr txBox="1"/>
          <p:nvPr/>
        </p:nvSpPr>
        <p:spPr>
          <a:xfrm>
            <a:off x="6190488" y="4407408"/>
            <a:ext cx="504748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31" name="demo num"/>
          <p:cNvSpPr txBox="1"/>
          <p:nvPr/>
        </p:nvSpPr>
        <p:spPr>
          <a:xfrm>
            <a:off x="6355079" y="4617720"/>
            <a:ext cx="457200" cy="457200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1000" b="1">
                <a:solidFill>
                  <a:srgbClr val="FFFFFF"/>
                </a:solidFill>
                <a:latin typeface="Aptos"/>
                <a:cs typeface="Aptos"/>
              </a:rPr>
              <a:t>06</a:t>
            </a:r>
            <a:endParaRPr lang="en-US" sz="1000"/>
          </a:p>
        </p:txBody>
      </p:sp>
      <p:sp>
        <p:nvSpPr>
          <p:cNvPr id="32" name="demo h"/>
          <p:cNvSpPr txBox="1"/>
          <p:nvPr/>
        </p:nvSpPr>
        <p:spPr>
          <a:xfrm>
            <a:off x="6958583" y="4572000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300" b="1">
                <a:solidFill>
                  <a:srgbClr val="102133"/>
                </a:solidFill>
                <a:latin typeface="Aptos"/>
                <a:cs typeface="Aptos"/>
              </a:rPr>
              <a:t>Mention email safely</a:t>
            </a:r>
            <a:endParaRPr lang="en-US" sz="1300"/>
          </a:p>
        </p:txBody>
      </p:sp>
      <p:sp>
        <p:nvSpPr>
          <p:cNvPr id="33" name="demo b"/>
          <p:cNvSpPr txBox="1"/>
          <p:nvPr/>
        </p:nvSpPr>
        <p:spPr>
          <a:xfrm>
            <a:off x="6958583" y="4882896"/>
            <a:ext cx="3977639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019">
                <a:solidFill>
                  <a:srgbClr val="586779"/>
                </a:solidFill>
                <a:latin typeface="Aptos"/>
                <a:cs typeface="Aptos"/>
              </a:rPr>
              <a:t>Use a screenshot or prepared example for SMTP verification/reset.</a:t>
            </a:r>
            <a:endParaRPr lang="en-US" sz="1019"/>
          </a:p>
        </p:txBody>
      </p:sp>
      <p:sp>
        <p:nvSpPr>
          <p:cNvPr id="34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35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Demo strategy</a:t>
            </a:r>
            <a:endParaRPr lang="en-US" sz="880"/>
          </a:p>
        </p:txBody>
      </p:sp>
      <p:sp>
        <p:nvSpPr>
          <p:cNvPr id="36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Story first, feature proof second</a:t>
            </a:r>
            <a:endParaRPr lang="en-US" sz="88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ft teal glow"/>
          <p:cNvSpPr txBox="1"/>
          <p:nvPr/>
        </p:nvSpPr>
        <p:spPr>
          <a:xfrm>
            <a:off x="-457200" y="-365760"/>
            <a:ext cx="2926080" cy="2926080"/>
          </a:xfrm>
          <a:prstGeom prst="ellipse">
            <a:avLst/>
          </a:prstGeom>
          <a:solidFill>
            <a:srgbClr val="EAF3F6"/>
          </a:solidFill>
          <a:ln>
            <a:noFill/>
          </a:ln>
        </p:spPr>
      </p:sp>
      <p:sp>
        <p:nvSpPr>
          <p:cNvPr id="3" name="soft coral glow"/>
          <p:cNvSpPr txBox="1"/>
          <p:nvPr/>
        </p:nvSpPr>
        <p:spPr>
          <a:xfrm>
            <a:off x="9875520" y="-548640"/>
            <a:ext cx="2743200" cy="2743200"/>
          </a:xfrm>
          <a:prstGeom prst="ellipse">
            <a:avLst/>
          </a:prstGeom>
          <a:solidFill>
            <a:srgbClr val="FFF0EA"/>
          </a:solidFill>
          <a:ln>
            <a:noFill/>
          </a:ln>
        </p:spPr>
      </p:sp>
      <p:sp>
        <p:nvSpPr>
          <p:cNvPr id="4" name="stage border"/>
          <p:cNvSpPr txBox="1"/>
          <p:nvPr/>
        </p:nvSpPr>
        <p:spPr>
          <a:xfrm>
            <a:off x="137160" y="109728"/>
            <a:ext cx="11914632" cy="6629400"/>
          </a:xfrm>
          <a:prstGeom prst="roundRect">
            <a:avLst/>
          </a:prstGeom>
          <a:noFill/>
          <a:ln w="12700">
            <a:solidFill>
              <a:srgbClr val="EEE8DD"/>
            </a:solidFill>
          </a:ln>
        </p:spPr>
      </p:sp>
      <p:sp>
        <p:nvSpPr>
          <p:cNvPr id="5" name="slide number"/>
          <p:cNvSpPr txBox="1"/>
          <p:nvPr/>
        </p:nvSpPr>
        <p:spPr>
          <a:xfrm>
            <a:off x="10744200" y="6291072"/>
            <a:ext cx="86868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950" b="1">
                <a:solidFill>
                  <a:srgbClr val="586779"/>
                </a:solidFill>
                <a:latin typeface="Aptos"/>
                <a:cs typeface="Aptos"/>
              </a:rPr>
              <a:t>12 / 12</a:t>
            </a:r>
            <a:endParaRPr lang="en-US" sz="950"/>
          </a:p>
        </p:txBody>
      </p:sp>
      <p:sp>
        <p:nvSpPr>
          <p:cNvPr id="6" name="eyebrow pill"/>
          <p:cNvSpPr txBox="1"/>
          <p:nvPr/>
        </p:nvSpPr>
        <p:spPr>
          <a:xfrm>
            <a:off x="566928" y="493776"/>
            <a:ext cx="283464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7" name="eyebrow dot"/>
          <p:cNvSpPr txBox="1"/>
          <p:nvPr/>
        </p:nvSpPr>
        <p:spPr>
          <a:xfrm>
            <a:off x="676656" y="598932"/>
            <a:ext cx="100584" cy="100584"/>
          </a:xfrm>
          <a:prstGeom prst="ellipse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8" name="eyebrow text"/>
          <p:cNvSpPr txBox="1"/>
          <p:nvPr/>
        </p:nvSpPr>
        <p:spPr>
          <a:xfrm>
            <a:off x="859536" y="566928"/>
            <a:ext cx="2432304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50" b="1">
                <a:solidFill>
                  <a:srgbClr val="586779"/>
                </a:solidFill>
                <a:latin typeface="Aptos"/>
                <a:cs typeface="Aptos"/>
              </a:rPr>
              <a:t>ROADMAP + CLOSING</a:t>
            </a:r>
            <a:endParaRPr lang="en-US" sz="850"/>
          </a:p>
        </p:txBody>
      </p:sp>
      <p:sp>
        <p:nvSpPr>
          <p:cNvPr id="9" name="slide title"/>
          <p:cNvSpPr txBox="1"/>
          <p:nvPr/>
        </p:nvSpPr>
        <p:spPr>
          <a:xfrm>
            <a:off x="566928" y="896112"/>
            <a:ext cx="740664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4100" b="1">
                <a:solidFill>
                  <a:srgbClr val="102133"/>
                </a:solidFill>
                <a:latin typeface="Aptos"/>
                <a:cs typeface="Aptos"/>
              </a:rPr>
              <a:t>From project demo to stronger product</a:t>
            </a:r>
            <a:endParaRPr lang="en-US" sz="4100"/>
          </a:p>
        </p:txBody>
      </p:sp>
      <p:sp>
        <p:nvSpPr>
          <p:cNvPr id="10" name="card"/>
          <p:cNvSpPr txBox="1"/>
          <p:nvPr/>
        </p:nvSpPr>
        <p:spPr>
          <a:xfrm>
            <a:off x="658368" y="1975104"/>
            <a:ext cx="34015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1" name="card icon"/>
          <p:cNvSpPr txBox="1"/>
          <p:nvPr/>
        </p:nvSpPr>
        <p:spPr>
          <a:xfrm>
            <a:off x="859536" y="2176272"/>
            <a:ext cx="393192" cy="393192"/>
          </a:xfrm>
          <a:prstGeom prst="roundRect">
            <a:avLst/>
          </a:prstGeom>
          <a:solidFill>
            <a:srgbClr val="1F6F78"/>
          </a:solidFill>
          <a:ln>
            <a:noFill/>
          </a:ln>
        </p:spPr>
      </p:sp>
      <p:sp>
        <p:nvSpPr>
          <p:cNvPr id="12" name="card icon text"/>
          <p:cNvSpPr txBox="1"/>
          <p:nvPr/>
        </p:nvSpPr>
        <p:spPr>
          <a:xfrm>
            <a:off x="886968" y="2276856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Now</a:t>
            </a:r>
            <a:endParaRPr lang="en-US" sz="880"/>
          </a:p>
        </p:txBody>
      </p:sp>
      <p:sp>
        <p:nvSpPr>
          <p:cNvPr id="13" name="card heading"/>
          <p:cNvSpPr txBox="1"/>
          <p:nvPr/>
        </p:nvSpPr>
        <p:spPr>
          <a:xfrm>
            <a:off x="859536" y="2688336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Current version</a:t>
            </a:r>
            <a:endParaRPr lang="en-US" sz="1450"/>
          </a:p>
        </p:txBody>
      </p:sp>
      <p:sp>
        <p:nvSpPr>
          <p:cNvPr id="14" name="card body"/>
          <p:cNvSpPr txBox="1"/>
          <p:nvPr/>
        </p:nvSpPr>
        <p:spPr>
          <a:xfrm>
            <a:off x="859536" y="3063240"/>
            <a:ext cx="2999232" cy="1097279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Marketplace, accounts, bookings, payments/deposits, email reset, reviews, disputes, and admin operations.</a:t>
            </a:r>
            <a:endParaRPr lang="en-US" sz="1150"/>
          </a:p>
        </p:txBody>
      </p:sp>
      <p:sp>
        <p:nvSpPr>
          <p:cNvPr id="15" name="card"/>
          <p:cNvSpPr txBox="1"/>
          <p:nvPr/>
        </p:nvSpPr>
        <p:spPr>
          <a:xfrm>
            <a:off x="4407408" y="1975104"/>
            <a:ext cx="34015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16" name="card icon"/>
          <p:cNvSpPr txBox="1"/>
          <p:nvPr/>
        </p:nvSpPr>
        <p:spPr>
          <a:xfrm>
            <a:off x="4608576" y="2176272"/>
            <a:ext cx="393192" cy="393192"/>
          </a:xfrm>
          <a:prstGeom prst="roundRect">
            <a:avLst/>
          </a:prstGeom>
          <a:solidFill>
            <a:srgbClr val="FF8F62"/>
          </a:solidFill>
          <a:ln>
            <a:noFill/>
          </a:ln>
        </p:spPr>
      </p:sp>
      <p:sp>
        <p:nvSpPr>
          <p:cNvPr id="17" name="card icon text"/>
          <p:cNvSpPr txBox="1"/>
          <p:nvPr/>
        </p:nvSpPr>
        <p:spPr>
          <a:xfrm>
            <a:off x="4636008" y="2276856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Next</a:t>
            </a:r>
            <a:endParaRPr lang="en-US" sz="880"/>
          </a:p>
        </p:txBody>
      </p:sp>
      <p:sp>
        <p:nvSpPr>
          <p:cNvPr id="18" name="card heading"/>
          <p:cNvSpPr txBox="1"/>
          <p:nvPr/>
        </p:nvSpPr>
        <p:spPr>
          <a:xfrm>
            <a:off x="4608576" y="2688336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Near-term improvements</a:t>
            </a:r>
            <a:endParaRPr lang="en-US" sz="1450"/>
          </a:p>
        </p:txBody>
      </p:sp>
      <p:sp>
        <p:nvSpPr>
          <p:cNvPr id="19" name="card body"/>
          <p:cNvSpPr txBox="1"/>
          <p:nvPr/>
        </p:nvSpPr>
        <p:spPr>
          <a:xfrm>
            <a:off x="4608576" y="3063240"/>
            <a:ext cx="2999232" cy="1097279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Dedicated sender email, HTTPS/domain trust, mobile polish, better notifications, and map-based discovery.</a:t>
            </a:r>
            <a:endParaRPr lang="en-US" sz="1150"/>
          </a:p>
        </p:txBody>
      </p:sp>
      <p:sp>
        <p:nvSpPr>
          <p:cNvPr id="20" name="card"/>
          <p:cNvSpPr txBox="1"/>
          <p:nvPr/>
        </p:nvSpPr>
        <p:spPr>
          <a:xfrm>
            <a:off x="8156448" y="1975104"/>
            <a:ext cx="340156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CE"/>
            </a:solidFill>
          </a:ln>
        </p:spPr>
      </p:sp>
      <p:sp>
        <p:nvSpPr>
          <p:cNvPr id="21" name="card icon"/>
          <p:cNvSpPr txBox="1"/>
          <p:nvPr/>
        </p:nvSpPr>
        <p:spPr>
          <a:xfrm>
            <a:off x="8357616" y="2176272"/>
            <a:ext cx="393192" cy="393192"/>
          </a:xfrm>
          <a:prstGeom prst="roundRect">
            <a:avLst/>
          </a:prstGeom>
          <a:solidFill>
            <a:srgbClr val="14B87A"/>
          </a:solidFill>
          <a:ln>
            <a:noFill/>
          </a:ln>
        </p:spPr>
      </p:sp>
      <p:sp>
        <p:nvSpPr>
          <p:cNvPr id="22" name="card icon text"/>
          <p:cNvSpPr txBox="1"/>
          <p:nvPr/>
        </p:nvSpPr>
        <p:spPr>
          <a:xfrm>
            <a:off x="8385048" y="2276856"/>
            <a:ext cx="338328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880" b="1">
                <a:solidFill>
                  <a:srgbClr val="FFFFFF"/>
                </a:solidFill>
                <a:latin typeface="Aptos"/>
                <a:cs typeface="Aptos"/>
              </a:rPr>
              <a:t>Scale</a:t>
            </a:r>
            <a:endParaRPr lang="en-US" sz="880"/>
          </a:p>
        </p:txBody>
      </p:sp>
      <p:sp>
        <p:nvSpPr>
          <p:cNvPr id="23" name="card heading"/>
          <p:cNvSpPr txBox="1"/>
          <p:nvPr/>
        </p:nvSpPr>
        <p:spPr>
          <a:xfrm>
            <a:off x="8357616" y="2688336"/>
            <a:ext cx="2999232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450" b="1">
                <a:solidFill>
                  <a:srgbClr val="102133"/>
                </a:solidFill>
                <a:latin typeface="Aptos"/>
                <a:cs typeface="Aptos"/>
              </a:rPr>
              <a:t>Long-term scope</a:t>
            </a:r>
            <a:endParaRPr lang="en-US" sz="1450"/>
          </a:p>
        </p:txBody>
      </p:sp>
      <p:sp>
        <p:nvSpPr>
          <p:cNvPr id="24" name="card body"/>
          <p:cNvSpPr txBox="1"/>
          <p:nvPr/>
        </p:nvSpPr>
        <p:spPr>
          <a:xfrm>
            <a:off x="8357616" y="3063240"/>
            <a:ext cx="2999232" cy="1097279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1150">
                <a:solidFill>
                  <a:srgbClr val="586779"/>
                </a:solidFill>
                <a:latin typeface="Aptos"/>
                <a:cs typeface="Aptos"/>
              </a:rPr>
              <a:t>Mobile app, owner verification, tool insurance, smarter dispute evidence review, and richer analytics.</a:t>
            </a:r>
            <a:endParaRPr lang="en-US" sz="1150"/>
          </a:p>
        </p:txBody>
      </p:sp>
      <p:sp>
        <p:nvSpPr>
          <p:cNvPr id="25" name="closing statement"/>
          <p:cNvSpPr txBox="1"/>
          <p:nvPr/>
        </p:nvSpPr>
        <p:spPr>
          <a:xfrm>
            <a:off x="1143000" y="4956048"/>
            <a:ext cx="9966960" cy="713232"/>
          </a:xfrm>
          <a:prstGeom prst="roundRect">
            <a:avLst/>
          </a:prstGeom>
          <a:solidFill>
            <a:srgbClr val="102133"/>
          </a:solidFill>
          <a:ln>
            <a:noFill/>
          </a:ln>
        </p:spPr>
        <p:txBody>
          <a:bodyPr wrap="square" anchor="t" rtlCol="0">
            <a:spAutoFit/>
          </a:bodyPr>
          <a:lstStyle/>
          <a:p>
            <a:pPr algn="c"/>
            <a:r>
              <a:rPr lang="en-US" sz="2100" b="1">
                <a:solidFill>
                  <a:srgbClr val="FFFFFF"/>
                </a:solidFill>
                <a:latin typeface="Aptos"/>
                <a:cs typeface="Aptos"/>
              </a:rPr>
              <a:t>ToolShare turns unused tools into trusted local rental opportunities.</a:t>
            </a:r>
            <a:endParaRPr lang="en-US" sz="2100"/>
          </a:p>
        </p:txBody>
      </p:sp>
      <p:sp>
        <p:nvSpPr>
          <p:cNvPr id="26" name="footer line"/>
          <p:cNvSpPr txBox="1"/>
          <p:nvPr/>
        </p:nvSpPr>
        <p:spPr>
          <a:xfrm>
            <a:off x="566928" y="6144768"/>
            <a:ext cx="11064240" cy="9144"/>
          </a:xfrm>
          <a:prstGeom prst="rect">
            <a:avLst/>
          </a:prstGeom>
          <a:solidFill>
            <a:srgbClr val="DDD8CE"/>
          </a:solidFill>
          <a:ln>
            <a:noFill/>
          </a:ln>
        </p:spPr>
      </p:sp>
      <p:sp>
        <p:nvSpPr>
          <p:cNvPr id="27" name="footer left"/>
          <p:cNvSpPr txBox="1"/>
          <p:nvPr/>
        </p:nvSpPr>
        <p:spPr>
          <a:xfrm>
            <a:off x="566928" y="6291072"/>
            <a:ext cx="3931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l"/>
            <a:r>
              <a:rPr lang="en-US" sz="880">
                <a:solidFill>
                  <a:srgbClr val="586779"/>
                </a:solidFill>
                <a:latin typeface="Aptos"/>
                <a:cs typeface="Aptos"/>
              </a:rPr>
              <a:t>Thank you</a:t>
            </a:r>
            <a:endParaRPr lang="en-US" sz="880"/>
          </a:p>
        </p:txBody>
      </p:sp>
      <p:sp>
        <p:nvSpPr>
          <p:cNvPr id="28" name="footer right"/>
          <p:cNvSpPr txBox="1"/>
          <p:nvPr/>
        </p:nvSpPr>
        <p:spPr>
          <a:xfrm>
            <a:off x="7635240" y="6291072"/>
            <a:ext cx="3986784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rtlCol="0">
            <a:spAutoFit/>
          </a:bodyPr>
          <a:lstStyle/>
          <a:p>
            <a:pPr algn="r"/>
            <a:r>
              <a:rPr lang="en-US" sz="880" b="1">
                <a:solidFill>
                  <a:srgbClr val="586779"/>
                </a:solidFill>
                <a:latin typeface="Aptos"/>
                <a:cs typeface="Aptos"/>
              </a:rPr>
              <a:t>Ready for questions and live demo</a:t>
            </a:r>
            <a:endParaRPr lang="en-US" sz="8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olShare Theme">
  <a:themeElements>
    <a:clrScheme name="ToolShare">
      <a:dk1>
        <a:srgbClr val="102133"/>
      </a:dk1>
      <a:lt1>
        <a:srgbClr val="FFFFFF"/>
      </a:lt1>
      <a:dk2>
        <a:srgbClr val="1C3148"/>
      </a:dk2>
      <a:lt2>
        <a:srgbClr val="F7F6F1"/>
      </a:lt2>
      <a:accent1>
        <a:srgbClr val="1F6F78"/>
      </a:accent1>
      <a:accent2>
        <a:srgbClr val="FF8F62"/>
      </a:accent2>
      <a:accent3>
        <a:srgbClr val="F0C45D"/>
      </a:accent3>
      <a:accent4>
        <a:srgbClr val="14B87A"/>
      </a:accent4>
      <a:accent5>
        <a:srgbClr val="586779"/>
      </a:accent5>
      <a:accent6>
        <a:srgbClr val="DDD8CE"/>
      </a:accent6>
      <a:hlink>
        <a:srgbClr val="1F6F78"/>
      </a:hlink>
      <a:folHlink>
        <a:srgbClr val="586779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ToolSha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12</Slide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ToolShare Project Presentation</dc:title>
  <dc:subject>Peer-to-peer tool rental marketplace capstone presentation</dc:subject>
  <dc:creator>Codex</dc:creator>
  <cp:keywords>ToolShare, presentation, PHP, MySQL, marketplace</cp:keywords>
  <dc:description>Editable PowerPoint deck for ToolShare project presentation.</dc:description>
  <cp:lastModifiedBy>Codex</cp:lastModifiedBy>
  <dcterms:created xsi:type="dcterms:W3CDTF">2026-04-15T04:42:09Z</dcterms:created>
  <dcterms:modified xsi:type="dcterms:W3CDTF">2026-04-15T04:42:09Z</dcterms:modified>
</cp:coreProperties>
</file>