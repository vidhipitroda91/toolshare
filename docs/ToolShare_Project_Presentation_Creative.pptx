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wide"/>
  <p:notesSz cx="6858000" cy="9144000"/>
  <p:defaultTextStyle>
    <a:defPPr>
      <a:defRPr lang="en-US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wash left"/>
          <p:cNvSpPr txBox="1"/>
          <p:nvPr/>
        </p:nvSpPr>
        <p:spPr>
          <a:xfrm>
            <a:off x="-914400" y="-731520"/>
            <a:ext cx="3566160" cy="3566160"/>
          </a:xfrm>
          <a:prstGeom prst="ellipse">
            <a:avLst/>
          </a:prstGeom>
          <a:solidFill>
            <a:srgbClr val="EAF3F6"/>
          </a:solidFill>
          <a:ln>
            <a:noFill/>
          </a:ln>
        </p:spPr>
      </p:sp>
      <p:sp>
        <p:nvSpPr>
          <p:cNvPr id="3" name="accent wash right"/>
          <p:cNvSpPr txBox="1"/>
          <p:nvPr/>
        </p:nvSpPr>
        <p:spPr>
          <a:xfrm>
            <a:off x="9784080" y="-594360"/>
            <a:ext cx="3474720" cy="2926080"/>
          </a:xfrm>
          <a:prstGeom prst="ellipse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4" name="stage outline"/>
          <p:cNvSpPr txBox="1"/>
          <p:nvPr/>
        </p:nvSpPr>
        <p:spPr>
          <a:xfrm>
            <a:off x="201168" y="137160"/>
            <a:ext cx="11795760" cy="6583680"/>
          </a:xfrm>
          <a:prstGeom prst="roundRect">
            <a:avLst/>
          </a:prstGeom>
          <a:noFill/>
          <a:ln w="12700">
            <a:solidFill>
              <a:srgbClr val="E9E2D8"/>
            </a:solidFill>
          </a:ln>
        </p:spPr>
      </p:sp>
      <p:sp>
        <p:nvSpPr>
          <p:cNvPr id="5" name="slide number"/>
          <p:cNvSpPr txBox="1"/>
          <p:nvPr/>
        </p:nvSpPr>
        <p:spPr>
          <a:xfrm>
            <a:off x="10698480" y="627278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r"/>
            <a:r>
              <a:rPr lang="en-US" sz="900" b="1">
                <a:solidFill>
                  <a:srgbClr val="586779"/>
                </a:solidFill>
                <a:latin typeface="Aptos"/>
                <a:cs typeface="Aptos"/>
              </a:rPr>
              <a:t>APA</a:t>
            </a:r>
            <a:endParaRPr lang="en-US" sz="900"/>
          </a:p>
        </p:txBody>
      </p:sp>
      <p:sp>
        <p:nvSpPr>
          <p:cNvPr id="6" name="paper card"/>
          <p:cNvSpPr txBox="1"/>
          <p:nvPr/>
        </p:nvSpPr>
        <p:spPr>
          <a:xfrm>
            <a:off x="2057400" y="676656"/>
            <a:ext cx="8138160" cy="54406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7" name="accent rule"/>
          <p:cNvSpPr txBox="1"/>
          <p:nvPr/>
        </p:nvSpPr>
        <p:spPr>
          <a:xfrm>
            <a:off x="2057400" y="676656"/>
            <a:ext cx="8138160" cy="146304"/>
          </a:xfrm>
          <a:prstGeom prst="roundRect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8" name="title"/>
          <p:cNvSpPr txBox="1"/>
          <p:nvPr/>
        </p:nvSpPr>
        <p:spPr>
          <a:xfrm>
            <a:off x="2560320" y="1234440"/>
            <a:ext cx="7132320" cy="1060704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2700" b="1">
                <a:solidFill>
                  <a:srgbClr val="102133"/>
                </a:solidFill>
                <a:latin typeface="Aptos"/>
                <a:cs typeface="Aptos"/>
              </a:rPr>
              <a:t>ToolShare: A Peer-to-Peer</a:t>
            </a:r>
            <a:endParaRPr lang="en-US" sz="2700"/>
          </a:p>
          <a:p>
            <a:pPr algn="l"/>
            <a:r>
              <a:rPr lang="en-US" sz="2700" b="1">
                <a:solidFill>
                  <a:srgbClr val="102133"/>
                </a:solidFill>
                <a:latin typeface="Aptos"/>
                <a:cs typeface="Aptos"/>
              </a:rPr>
              <a:t>Tool Rental Marketplace</a:t>
            </a:r>
            <a:endParaRPr lang="en-US" sz="2700"/>
          </a:p>
        </p:txBody>
      </p:sp>
      <p:sp>
        <p:nvSpPr>
          <p:cNvPr id="9" name="body"/>
          <p:cNvSpPr txBox="1"/>
          <p:nvPr/>
        </p:nvSpPr>
        <p:spPr>
          <a:xfrm>
            <a:off x="2788920" y="2331720"/>
            <a:ext cx="6629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1400" b="1">
                <a:solidFill>
                  <a:srgbClr val="1F6F78"/>
                </a:solidFill>
                <a:latin typeface="Aptos"/>
                <a:cs typeface="Aptos"/>
              </a:rPr>
              <a:t>Capstone Product Presentation</a:t>
            </a:r>
            <a:endParaRPr lang="en-US" sz="1400"/>
          </a:p>
        </p:txBody>
      </p:sp>
      <p:sp>
        <p:nvSpPr>
          <p:cNvPr id="10" name="body"/>
          <p:cNvSpPr txBox="1"/>
          <p:nvPr/>
        </p:nvSpPr>
        <p:spPr>
          <a:xfrm>
            <a:off x="2743200" y="2889504"/>
            <a:ext cx="667512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1350">
                <a:solidFill>
                  <a:srgbClr val="102133"/>
                </a:solidFill>
                <a:latin typeface="Aptos"/>
                <a:cs typeface="Aptos"/>
              </a:rPr>
              <a:t>Team Members: Vidhi Pitroda, [Team Member 2], [Team Member 3]</a:t>
            </a:r>
            <a:endParaRPr lang="en-US" sz="1350"/>
          </a:p>
          <a:p>
            <a:pPr algn="c"/>
            <a:r>
              <a:rPr lang="en-US" sz="1350">
                <a:solidFill>
                  <a:srgbClr val="102133"/>
                </a:solidFill>
                <a:latin typeface="Aptos"/>
                <a:cs typeface="Aptos"/>
              </a:rPr>
              <a:t>[Institution Name]</a:t>
            </a:r>
            <a:endParaRPr lang="en-US" sz="1350"/>
          </a:p>
          <a:p>
            <a:pPr algn="c"/>
            <a:r>
              <a:rPr lang="en-US" sz="1350">
                <a:solidFill>
                  <a:srgbClr val="102133"/>
                </a:solidFill>
                <a:latin typeface="Aptos"/>
                <a:cs typeface="Aptos"/>
              </a:rPr>
              <a:t>Course: [Course Code - Course Name]</a:t>
            </a:r>
            <a:endParaRPr lang="en-US" sz="1350"/>
          </a:p>
          <a:p>
            <a:pPr algn="c"/>
            <a:r>
              <a:rPr lang="en-US" sz="1350">
                <a:solidFill>
                  <a:srgbClr val="102133"/>
                </a:solidFill>
                <a:latin typeface="Aptos"/>
                <a:cs typeface="Aptos"/>
              </a:rPr>
              <a:t>Professor: [Professor Name]</a:t>
            </a:r>
            <a:endParaRPr lang="en-US" sz="1350"/>
          </a:p>
          <a:p>
            <a:pPr algn="c"/>
            <a:r>
              <a:rPr lang="en-US" sz="1350">
                <a:solidFill>
                  <a:srgbClr val="102133"/>
                </a:solidFill>
                <a:latin typeface="Aptos"/>
                <a:cs typeface="Aptos"/>
              </a:rPr>
              <a:t>Date: April 15, 2026</a:t>
            </a:r>
            <a:endParaRPr lang="en-US" sz="1350"/>
          </a:p>
        </p:txBody>
      </p:sp>
      <p:sp>
        <p:nvSpPr>
          <p:cNvPr id="11" name="body"/>
          <p:cNvSpPr txBox="1"/>
          <p:nvPr/>
        </p:nvSpPr>
        <p:spPr>
          <a:xfrm>
            <a:off x="3108960" y="5047488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960">
                <a:solidFill>
                  <a:srgbClr val="586779"/>
                </a:solidFill>
                <a:latin typeface="Aptos"/>
                <a:cs typeface="Aptos"/>
              </a:rPr>
              <a:t>Replace bracketed fields before submission. All text is editable in PowerPoint.</a:t>
            </a:r>
            <a:endParaRPr lang="en-US" sz="960"/>
          </a:p>
        </p:txBody>
      </p:sp>
      <p:sp>
        <p:nvSpPr>
          <p:cNvPr id="12" name="footer line"/>
          <p:cNvSpPr txBox="1"/>
          <p:nvPr/>
        </p:nvSpPr>
        <p:spPr>
          <a:xfrm>
            <a:off x="658368" y="6108192"/>
            <a:ext cx="10881360" cy="9144"/>
          </a:xfrm>
          <a:prstGeom prst="rect">
            <a:avLst/>
          </a:prstGeom>
          <a:solidFill>
            <a:srgbClr val="DCD7CE"/>
          </a:solidFill>
          <a:ln>
            <a:noFill/>
          </a:ln>
        </p:spPr>
      </p:sp>
      <p:sp>
        <p:nvSpPr>
          <p:cNvPr id="13" name="footer left"/>
          <p:cNvSpPr txBox="1"/>
          <p:nvPr/>
        </p:nvSpPr>
        <p:spPr>
          <a:xfrm>
            <a:off x="658368" y="627278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850">
                <a:solidFill>
                  <a:srgbClr val="586779"/>
                </a:solidFill>
                <a:latin typeface="Aptos"/>
                <a:cs typeface="Aptos"/>
              </a:rPr>
              <a:t>APA-style title page</a:t>
            </a:r>
            <a:endParaRPr lang="en-US" sz="850"/>
          </a:p>
        </p:txBody>
      </p:sp>
      <p:sp>
        <p:nvSpPr>
          <p:cNvPr id="14" name="footer right"/>
          <p:cNvSpPr txBox="1"/>
          <p:nvPr/>
        </p:nvSpPr>
        <p:spPr>
          <a:xfrm>
            <a:off x="7498079" y="6272784"/>
            <a:ext cx="404164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r"/>
            <a:r>
              <a:rPr lang="en-US" sz="850" b="1">
                <a:solidFill>
                  <a:srgbClr val="586779"/>
                </a:solidFill>
                <a:latin typeface="Aptos"/>
                <a:cs typeface="Aptos"/>
              </a:rPr>
              <a:t>ToolShare</a:t>
            </a:r>
            <a:endParaRPr lang="en-US" sz="8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wash left"/>
          <p:cNvSpPr txBox="1"/>
          <p:nvPr/>
        </p:nvSpPr>
        <p:spPr>
          <a:xfrm>
            <a:off x="-914400" y="-731520"/>
            <a:ext cx="3566160" cy="3566160"/>
          </a:xfrm>
          <a:prstGeom prst="ellipse">
            <a:avLst/>
          </a:prstGeom>
          <a:solidFill>
            <a:srgbClr val="EAF3F6"/>
          </a:solidFill>
          <a:ln>
            <a:noFill/>
          </a:ln>
        </p:spPr>
      </p:sp>
      <p:sp>
        <p:nvSpPr>
          <p:cNvPr id="3" name="accent wash right"/>
          <p:cNvSpPr txBox="1"/>
          <p:nvPr/>
        </p:nvSpPr>
        <p:spPr>
          <a:xfrm>
            <a:off x="9784080" y="-594360"/>
            <a:ext cx="3474720" cy="2926080"/>
          </a:xfrm>
          <a:prstGeom prst="ellipse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4" name="stage outline"/>
          <p:cNvSpPr txBox="1"/>
          <p:nvPr/>
        </p:nvSpPr>
        <p:spPr>
          <a:xfrm>
            <a:off x="201168" y="137160"/>
            <a:ext cx="11795760" cy="6583680"/>
          </a:xfrm>
          <a:prstGeom prst="roundRect">
            <a:avLst/>
          </a:prstGeom>
          <a:noFill/>
          <a:ln w="12700">
            <a:solidFill>
              <a:srgbClr val="E9E2D8"/>
            </a:solidFill>
          </a:ln>
        </p:spPr>
      </p:sp>
      <p:sp>
        <p:nvSpPr>
          <p:cNvPr id="5" name="slide number"/>
          <p:cNvSpPr txBox="1"/>
          <p:nvPr/>
        </p:nvSpPr>
        <p:spPr>
          <a:xfrm>
            <a:off x="10698480" y="627278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r"/>
            <a:r>
              <a:rPr lang="en-US" sz="900" b="1">
                <a:solidFill>
                  <a:srgbClr val="586779"/>
                </a:solidFill>
                <a:latin typeface="Aptos"/>
                <a:cs typeface="Aptos"/>
              </a:rPr>
              <a:t>02 / 12</a:t>
            </a:r>
            <a:endParaRPr lang="en-US" sz="900"/>
          </a:p>
        </p:txBody>
      </p:sp>
      <p:sp>
        <p:nvSpPr>
          <p:cNvPr id="6" name="eyebrow pill"/>
          <p:cNvSpPr txBox="1"/>
          <p:nvPr/>
        </p:nvSpPr>
        <p:spPr>
          <a:xfrm>
            <a:off x="658368" y="502920"/>
            <a:ext cx="2697480" cy="32918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7" name="eyebrow dot"/>
          <p:cNvSpPr txBox="1"/>
          <p:nvPr/>
        </p:nvSpPr>
        <p:spPr>
          <a:xfrm>
            <a:off x="768096" y="612648"/>
            <a:ext cx="100584" cy="100584"/>
          </a:xfrm>
          <a:prstGeom prst="ellipse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8" name="eyebrow text"/>
          <p:cNvSpPr txBox="1"/>
          <p:nvPr/>
        </p:nvSpPr>
        <p:spPr>
          <a:xfrm>
            <a:off x="969264" y="589788"/>
            <a:ext cx="2295144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830" b="1">
                <a:solidFill>
                  <a:srgbClr val="586779"/>
                </a:solidFill>
                <a:latin typeface="Aptos"/>
                <a:cs typeface="Aptos"/>
              </a:rPr>
              <a:t>PRODUCT PRESENTATION</a:t>
            </a:r>
            <a:endParaRPr lang="en-US" sz="830"/>
          </a:p>
        </p:txBody>
      </p:sp>
      <p:sp>
        <p:nvSpPr>
          <p:cNvPr id="9" name="title"/>
          <p:cNvSpPr txBox="1"/>
          <p:nvPr/>
        </p:nvSpPr>
        <p:spPr>
          <a:xfrm>
            <a:off x="658368" y="1115568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5000" b="1">
                <a:solidFill>
                  <a:srgbClr val="102133"/>
                </a:solidFill>
                <a:latin typeface="Aptos"/>
                <a:cs typeface="Aptos"/>
              </a:rPr>
              <a:t>ToolShare</a:t>
            </a:r>
            <a:endParaRPr lang="en-US" sz="5000"/>
          </a:p>
        </p:txBody>
      </p:sp>
      <p:sp>
        <p:nvSpPr>
          <p:cNvPr id="10" name="body"/>
          <p:cNvSpPr txBox="1"/>
          <p:nvPr/>
        </p:nvSpPr>
        <p:spPr>
          <a:xfrm>
            <a:off x="694944" y="2148840"/>
            <a:ext cx="4937760" cy="676656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520">
                <a:solidFill>
                  <a:srgbClr val="586779"/>
                </a:solidFill>
                <a:latin typeface="Aptos"/>
                <a:cs typeface="Aptos"/>
              </a:rPr>
              <a:t>A local marketplace that helps renters access tools for short projects and helps owners earn from equipment they already own.</a:t>
            </a:r>
            <a:endParaRPr lang="en-US" sz="1520"/>
          </a:p>
        </p:txBody>
      </p:sp>
      <p:sp>
        <p:nvSpPr>
          <p:cNvPr id="11" name="pill"/>
          <p:cNvSpPr txBox="1"/>
          <p:nvPr/>
        </p:nvSpPr>
        <p:spPr>
          <a:xfrm>
            <a:off x="713232" y="3200400"/>
            <a:ext cx="1920240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12" name="pill text"/>
          <p:cNvSpPr txBox="1"/>
          <p:nvPr/>
        </p:nvSpPr>
        <p:spPr>
          <a:xfrm>
            <a:off x="804672" y="3278124"/>
            <a:ext cx="173736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50" b="1">
                <a:solidFill>
                  <a:srgbClr val="102133"/>
                </a:solidFill>
                <a:latin typeface="Aptos"/>
                <a:cs typeface="Aptos"/>
              </a:rPr>
              <a:t>Renter + Owner + Admin</a:t>
            </a:r>
            <a:endParaRPr lang="en-US" sz="850"/>
          </a:p>
        </p:txBody>
      </p:sp>
      <p:sp>
        <p:nvSpPr>
          <p:cNvPr id="13" name="pill"/>
          <p:cNvSpPr txBox="1"/>
          <p:nvPr/>
        </p:nvSpPr>
        <p:spPr>
          <a:xfrm>
            <a:off x="2816352" y="3200400"/>
            <a:ext cx="1691640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14" name="pill text"/>
          <p:cNvSpPr txBox="1"/>
          <p:nvPr/>
        </p:nvSpPr>
        <p:spPr>
          <a:xfrm>
            <a:off x="2907792" y="3278124"/>
            <a:ext cx="150876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50" b="1">
                <a:solidFill>
                  <a:srgbClr val="102133"/>
                </a:solidFill>
                <a:latin typeface="Aptos"/>
                <a:cs typeface="Aptos"/>
              </a:rPr>
              <a:t>Bookings + Deposits</a:t>
            </a:r>
            <a:endParaRPr lang="en-US" sz="850"/>
          </a:p>
        </p:txBody>
      </p:sp>
      <p:sp>
        <p:nvSpPr>
          <p:cNvPr id="15" name="pill"/>
          <p:cNvSpPr txBox="1"/>
          <p:nvPr/>
        </p:nvSpPr>
        <p:spPr>
          <a:xfrm>
            <a:off x="713232" y="3657600"/>
            <a:ext cx="1783080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16" name="pill text"/>
          <p:cNvSpPr txBox="1"/>
          <p:nvPr/>
        </p:nvSpPr>
        <p:spPr>
          <a:xfrm>
            <a:off x="804672" y="3735324"/>
            <a:ext cx="160020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50" b="1">
                <a:solidFill>
                  <a:srgbClr val="102133"/>
                </a:solidFill>
                <a:latin typeface="Aptos"/>
                <a:cs typeface="Aptos"/>
              </a:rPr>
              <a:t>Reviews + Disputes</a:t>
            </a:r>
            <a:endParaRPr lang="en-US" sz="850"/>
          </a:p>
        </p:txBody>
      </p:sp>
      <p:sp>
        <p:nvSpPr>
          <p:cNvPr id="17" name="pill"/>
          <p:cNvSpPr txBox="1"/>
          <p:nvPr/>
        </p:nvSpPr>
        <p:spPr>
          <a:xfrm>
            <a:off x="2670048" y="3657600"/>
            <a:ext cx="1645920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18" name="pill text"/>
          <p:cNvSpPr txBox="1"/>
          <p:nvPr/>
        </p:nvSpPr>
        <p:spPr>
          <a:xfrm>
            <a:off x="2761488" y="3735324"/>
            <a:ext cx="146304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50" b="1">
                <a:solidFill>
                  <a:srgbClr val="102133"/>
                </a:solidFill>
                <a:latin typeface="Aptos"/>
                <a:cs typeface="Aptos"/>
              </a:rPr>
              <a:t>Email Verification</a:t>
            </a:r>
            <a:endParaRPr lang="en-US" sz="850"/>
          </a:p>
        </p:txBody>
      </p:sp>
      <p:sp>
        <p:nvSpPr>
          <p:cNvPr id="19" name="hero quote"/>
          <p:cNvSpPr txBox="1"/>
          <p:nvPr/>
        </p:nvSpPr>
        <p:spPr>
          <a:xfrm>
            <a:off x="713232" y="4352544"/>
            <a:ext cx="4663440" cy="658368"/>
          </a:xfrm>
          <a:prstGeom prst="roundRect">
            <a:avLst/>
          </a:prstGeom>
          <a:solidFill>
            <a:srgbClr val="102133"/>
          </a:solidFill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1500" b="1">
                <a:solidFill>
                  <a:srgbClr val="FFFFFF"/>
                </a:solidFill>
                <a:latin typeface="Aptos"/>
                <a:cs typeface="Aptos"/>
              </a:rPr>
              <a:t>Core product: trusted local access to tools without buying them.</a:t>
            </a:r>
            <a:endParaRPr lang="en-US" sz="1500"/>
          </a:p>
        </p:txBody>
      </p:sp>
      <p:sp>
        <p:nvSpPr>
          <p:cNvPr id="20" name="ui window"/>
          <p:cNvSpPr txBox="1"/>
          <p:nvPr/>
        </p:nvSpPr>
        <p:spPr>
          <a:xfrm>
            <a:off x="5897880" y="804672"/>
            <a:ext cx="5349240" cy="4882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7CE"/>
            </a:solidFill>
          </a:ln>
        </p:spPr>
      </p:sp>
      <p:sp>
        <p:nvSpPr>
          <p:cNvPr id="21" name="ui topbar"/>
          <p:cNvSpPr txBox="1"/>
          <p:nvPr/>
        </p:nvSpPr>
        <p:spPr>
          <a:xfrm>
            <a:off x="5897880" y="804672"/>
            <a:ext cx="5349240" cy="438912"/>
          </a:xfrm>
          <a:prstGeom prst="roundRect">
            <a:avLst/>
          </a:prstGeom>
          <a:solidFill>
            <a:srgbClr val="102133"/>
          </a:solidFill>
          <a:ln>
            <a:noFill/>
          </a:ln>
        </p:spPr>
      </p:sp>
      <p:sp>
        <p:nvSpPr>
          <p:cNvPr id="22" name="ui title"/>
          <p:cNvSpPr txBox="1"/>
          <p:nvPr/>
        </p:nvSpPr>
        <p:spPr>
          <a:xfrm>
            <a:off x="6153912" y="950976"/>
            <a:ext cx="4251959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950" b="1">
                <a:solidFill>
                  <a:srgbClr val="FFFFFF"/>
                </a:solidFill>
                <a:latin typeface="Aptos"/>
                <a:cs typeface="Aptos"/>
              </a:rPr>
              <a:t>ToolShare rental command center</a:t>
            </a:r>
            <a:endParaRPr lang="en-US" sz="950"/>
          </a:p>
        </p:txBody>
      </p:sp>
      <p:sp>
        <p:nvSpPr>
          <p:cNvPr id="23" name="window dot"/>
          <p:cNvSpPr txBox="1"/>
          <p:nvPr/>
        </p:nvSpPr>
        <p:spPr>
          <a:xfrm>
            <a:off x="10625328" y="969264"/>
            <a:ext cx="73152" cy="73152"/>
          </a:xfrm>
          <a:prstGeom prst="ellipse">
            <a:avLst/>
          </a:prstGeom>
          <a:solidFill>
            <a:srgbClr val="FF8F62"/>
          </a:solidFill>
          <a:ln>
            <a:noFill/>
          </a:ln>
        </p:spPr>
      </p:sp>
      <p:sp>
        <p:nvSpPr>
          <p:cNvPr id="24" name="window dot"/>
          <p:cNvSpPr txBox="1"/>
          <p:nvPr/>
        </p:nvSpPr>
        <p:spPr>
          <a:xfrm>
            <a:off x="10789920" y="969264"/>
            <a:ext cx="73152" cy="73152"/>
          </a:xfrm>
          <a:prstGeom prst="ellipse">
            <a:avLst/>
          </a:prstGeom>
          <a:solidFill>
            <a:srgbClr val="F0C45D"/>
          </a:solidFill>
          <a:ln>
            <a:noFill/>
          </a:ln>
        </p:spPr>
      </p:sp>
      <p:sp>
        <p:nvSpPr>
          <p:cNvPr id="25" name="window dot"/>
          <p:cNvSpPr txBox="1"/>
          <p:nvPr/>
        </p:nvSpPr>
        <p:spPr>
          <a:xfrm>
            <a:off x="10954512" y="969264"/>
            <a:ext cx="73152" cy="73152"/>
          </a:xfrm>
          <a:prstGeom prst="ellipse">
            <a:avLst/>
          </a:prstGeom>
          <a:solidFill>
            <a:srgbClr val="14B87A"/>
          </a:solidFill>
          <a:ln>
            <a:noFill/>
          </a:ln>
        </p:spPr>
      </p:sp>
      <p:sp>
        <p:nvSpPr>
          <p:cNvPr id="26" name="mini"/>
          <p:cNvSpPr txBox="1"/>
          <p:nvPr/>
        </p:nvSpPr>
        <p:spPr>
          <a:xfrm>
            <a:off x="6199632" y="1481328"/>
            <a:ext cx="1353312" cy="987552"/>
          </a:xfrm>
          <a:prstGeom prst="roundRect">
            <a:avLst/>
          </a:prstGeom>
          <a:solidFill>
            <a:srgbClr val="FFF7DD"/>
          </a:solidFill>
          <a:ln w="12700">
            <a:solidFill>
              <a:srgbClr val="DCD7CE"/>
            </a:solidFill>
          </a:ln>
        </p:spPr>
      </p:sp>
      <p:sp>
        <p:nvSpPr>
          <p:cNvPr id="27" name="mini head"/>
          <p:cNvSpPr txBox="1"/>
          <p:nvPr/>
        </p:nvSpPr>
        <p:spPr>
          <a:xfrm>
            <a:off x="6345936" y="1600200"/>
            <a:ext cx="106070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150" b="1">
                <a:solidFill>
                  <a:srgbClr val="102133"/>
                </a:solidFill>
                <a:latin typeface="Aptos"/>
                <a:cs typeface="Aptos"/>
              </a:rPr>
              <a:t>Drill</a:t>
            </a:r>
            <a:endParaRPr lang="en-US" sz="1150"/>
          </a:p>
        </p:txBody>
      </p:sp>
      <p:sp>
        <p:nvSpPr>
          <p:cNvPr id="28" name="mini txt"/>
          <p:cNvSpPr txBox="1"/>
          <p:nvPr/>
        </p:nvSpPr>
        <p:spPr>
          <a:xfrm>
            <a:off x="6345936" y="1892808"/>
            <a:ext cx="1060704" cy="512064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930">
                <a:solidFill>
                  <a:srgbClr val="586779"/>
                </a:solidFill>
                <a:latin typeface="Aptos"/>
                <a:cs typeface="Aptos"/>
              </a:rPr>
              <a:t>$10 / day</a:t>
            </a:r>
            <a:endParaRPr lang="en-US" sz="930"/>
          </a:p>
        </p:txBody>
      </p:sp>
      <p:sp>
        <p:nvSpPr>
          <p:cNvPr id="29" name="mini"/>
          <p:cNvSpPr txBox="1"/>
          <p:nvPr/>
        </p:nvSpPr>
        <p:spPr>
          <a:xfrm>
            <a:off x="7754112" y="1481328"/>
            <a:ext cx="1353312" cy="987552"/>
          </a:xfrm>
          <a:prstGeom prst="roundRect">
            <a:avLst/>
          </a:prstGeom>
          <a:solidFill>
            <a:srgbClr val="EAF3F6"/>
          </a:solidFill>
          <a:ln w="12700">
            <a:solidFill>
              <a:srgbClr val="DCD7CE"/>
            </a:solidFill>
          </a:ln>
        </p:spPr>
      </p:sp>
      <p:sp>
        <p:nvSpPr>
          <p:cNvPr id="30" name="mini head"/>
          <p:cNvSpPr txBox="1"/>
          <p:nvPr/>
        </p:nvSpPr>
        <p:spPr>
          <a:xfrm>
            <a:off x="7900416" y="1600200"/>
            <a:ext cx="106070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150" b="1">
                <a:solidFill>
                  <a:srgbClr val="102133"/>
                </a:solidFill>
                <a:latin typeface="Aptos"/>
                <a:cs typeface="Aptos"/>
              </a:rPr>
              <a:t>Ladder</a:t>
            </a:r>
            <a:endParaRPr lang="en-US" sz="1150"/>
          </a:p>
        </p:txBody>
      </p:sp>
      <p:sp>
        <p:nvSpPr>
          <p:cNvPr id="31" name="mini txt"/>
          <p:cNvSpPr txBox="1"/>
          <p:nvPr/>
        </p:nvSpPr>
        <p:spPr>
          <a:xfrm>
            <a:off x="7900416" y="1892808"/>
            <a:ext cx="1060704" cy="512064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930">
                <a:solidFill>
                  <a:srgbClr val="586779"/>
                </a:solidFill>
                <a:latin typeface="Aptos"/>
                <a:cs typeface="Aptos"/>
              </a:rPr>
              <a:t>$8 / day</a:t>
            </a:r>
            <a:endParaRPr lang="en-US" sz="930"/>
          </a:p>
        </p:txBody>
      </p:sp>
      <p:sp>
        <p:nvSpPr>
          <p:cNvPr id="32" name="mini"/>
          <p:cNvSpPr txBox="1"/>
          <p:nvPr/>
        </p:nvSpPr>
        <p:spPr>
          <a:xfrm>
            <a:off x="9308592" y="1481328"/>
            <a:ext cx="1353312" cy="987552"/>
          </a:xfrm>
          <a:prstGeom prst="roundRect">
            <a:avLst/>
          </a:prstGeom>
          <a:solidFill>
            <a:srgbClr val="EAF7F1"/>
          </a:solidFill>
          <a:ln w="12700">
            <a:solidFill>
              <a:srgbClr val="DCD7CE"/>
            </a:solidFill>
          </a:ln>
        </p:spPr>
      </p:sp>
      <p:sp>
        <p:nvSpPr>
          <p:cNvPr id="33" name="mini head"/>
          <p:cNvSpPr txBox="1"/>
          <p:nvPr/>
        </p:nvSpPr>
        <p:spPr>
          <a:xfrm>
            <a:off x="9454896" y="1600200"/>
            <a:ext cx="106070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150" b="1">
                <a:solidFill>
                  <a:srgbClr val="102133"/>
                </a:solidFill>
                <a:latin typeface="Aptos"/>
                <a:cs typeface="Aptos"/>
              </a:rPr>
              <a:t>Mixer</a:t>
            </a:r>
            <a:endParaRPr lang="en-US" sz="1150"/>
          </a:p>
        </p:txBody>
      </p:sp>
      <p:sp>
        <p:nvSpPr>
          <p:cNvPr id="34" name="mini txt"/>
          <p:cNvSpPr txBox="1"/>
          <p:nvPr/>
        </p:nvSpPr>
        <p:spPr>
          <a:xfrm>
            <a:off x="9454896" y="1892808"/>
            <a:ext cx="1060704" cy="512064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930">
                <a:solidFill>
                  <a:srgbClr val="586779"/>
                </a:solidFill>
                <a:latin typeface="Aptos"/>
                <a:cs typeface="Aptos"/>
              </a:rPr>
              <a:t>$25 / day</a:t>
            </a:r>
            <a:endParaRPr lang="en-US" sz="930"/>
          </a:p>
        </p:txBody>
      </p:sp>
      <p:sp>
        <p:nvSpPr>
          <p:cNvPr id="35" name="flow line"/>
          <p:cNvSpPr txBox="1"/>
          <p:nvPr/>
        </p:nvSpPr>
        <p:spPr>
          <a:xfrm>
            <a:off x="6492240" y="2907792"/>
            <a:ext cx="4279392" cy="36576"/>
          </a:xfrm>
          <a:prstGeom prst="rect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36" name="flow node"/>
          <p:cNvSpPr txBox="1"/>
          <p:nvPr/>
        </p:nvSpPr>
        <p:spPr>
          <a:xfrm>
            <a:off x="6291072" y="2670048"/>
            <a:ext cx="384048" cy="384048"/>
          </a:xfrm>
          <a:prstGeom prst="ellipse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37" name="flow label"/>
          <p:cNvSpPr txBox="1"/>
          <p:nvPr/>
        </p:nvSpPr>
        <p:spPr>
          <a:xfrm>
            <a:off x="6153912" y="3182112"/>
            <a:ext cx="65836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50" b="1">
                <a:solidFill>
                  <a:srgbClr val="102133"/>
                </a:solidFill>
                <a:latin typeface="Aptos"/>
                <a:cs typeface="Aptos"/>
              </a:rPr>
              <a:t>Browse</a:t>
            </a:r>
            <a:endParaRPr lang="en-US" sz="850"/>
          </a:p>
        </p:txBody>
      </p:sp>
      <p:sp>
        <p:nvSpPr>
          <p:cNvPr id="38" name="flow sub"/>
          <p:cNvSpPr txBox="1"/>
          <p:nvPr/>
        </p:nvSpPr>
        <p:spPr>
          <a:xfrm>
            <a:off x="6089904" y="3401568"/>
            <a:ext cx="786384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750">
                <a:solidFill>
                  <a:srgbClr val="586779"/>
                </a:solidFill>
                <a:latin typeface="Aptos"/>
                <a:cs typeface="Aptos"/>
              </a:rPr>
              <a:t>find tool</a:t>
            </a:r>
            <a:endParaRPr lang="en-US" sz="750"/>
          </a:p>
        </p:txBody>
      </p:sp>
      <p:sp>
        <p:nvSpPr>
          <p:cNvPr id="39" name="flow node"/>
          <p:cNvSpPr txBox="1"/>
          <p:nvPr/>
        </p:nvSpPr>
        <p:spPr>
          <a:xfrm>
            <a:off x="7388352" y="2670048"/>
            <a:ext cx="384048" cy="384048"/>
          </a:xfrm>
          <a:prstGeom prst="ellipse">
            <a:avLst/>
          </a:prstGeom>
          <a:solidFill>
            <a:srgbClr val="FF8F62"/>
          </a:solidFill>
          <a:ln>
            <a:noFill/>
          </a:ln>
        </p:spPr>
      </p:sp>
      <p:sp>
        <p:nvSpPr>
          <p:cNvPr id="40" name="flow label"/>
          <p:cNvSpPr txBox="1"/>
          <p:nvPr/>
        </p:nvSpPr>
        <p:spPr>
          <a:xfrm>
            <a:off x="7251192" y="3182112"/>
            <a:ext cx="65836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50" b="1">
                <a:solidFill>
                  <a:srgbClr val="102133"/>
                </a:solidFill>
                <a:latin typeface="Aptos"/>
                <a:cs typeface="Aptos"/>
              </a:rPr>
              <a:t>Book</a:t>
            </a:r>
            <a:endParaRPr lang="en-US" sz="850"/>
          </a:p>
        </p:txBody>
      </p:sp>
      <p:sp>
        <p:nvSpPr>
          <p:cNvPr id="41" name="flow sub"/>
          <p:cNvSpPr txBox="1"/>
          <p:nvPr/>
        </p:nvSpPr>
        <p:spPr>
          <a:xfrm>
            <a:off x="7187184" y="3401568"/>
            <a:ext cx="786384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750">
                <a:solidFill>
                  <a:srgbClr val="586779"/>
                </a:solidFill>
                <a:latin typeface="Aptos"/>
                <a:cs typeface="Aptos"/>
              </a:rPr>
              <a:t>set dates</a:t>
            </a:r>
            <a:endParaRPr lang="en-US" sz="750"/>
          </a:p>
        </p:txBody>
      </p:sp>
      <p:sp>
        <p:nvSpPr>
          <p:cNvPr id="42" name="flow node"/>
          <p:cNvSpPr txBox="1"/>
          <p:nvPr/>
        </p:nvSpPr>
        <p:spPr>
          <a:xfrm>
            <a:off x="8485632" y="2670048"/>
            <a:ext cx="384048" cy="384048"/>
          </a:xfrm>
          <a:prstGeom prst="ellipse">
            <a:avLst/>
          </a:prstGeom>
          <a:solidFill>
            <a:srgbClr val="F0C45D"/>
          </a:solidFill>
          <a:ln>
            <a:noFill/>
          </a:ln>
        </p:spPr>
      </p:sp>
      <p:sp>
        <p:nvSpPr>
          <p:cNvPr id="43" name="flow label"/>
          <p:cNvSpPr txBox="1"/>
          <p:nvPr/>
        </p:nvSpPr>
        <p:spPr>
          <a:xfrm>
            <a:off x="8348471" y="3182112"/>
            <a:ext cx="65836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50" b="1">
                <a:solidFill>
                  <a:srgbClr val="102133"/>
                </a:solidFill>
                <a:latin typeface="Aptos"/>
                <a:cs typeface="Aptos"/>
              </a:rPr>
              <a:t>Pay</a:t>
            </a:r>
            <a:endParaRPr lang="en-US" sz="850"/>
          </a:p>
        </p:txBody>
      </p:sp>
      <p:sp>
        <p:nvSpPr>
          <p:cNvPr id="44" name="flow sub"/>
          <p:cNvSpPr txBox="1"/>
          <p:nvPr/>
        </p:nvSpPr>
        <p:spPr>
          <a:xfrm>
            <a:off x="8284463" y="3401568"/>
            <a:ext cx="786384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750">
                <a:solidFill>
                  <a:srgbClr val="586779"/>
                </a:solidFill>
                <a:latin typeface="Aptos"/>
                <a:cs typeface="Aptos"/>
              </a:rPr>
              <a:t>deposit</a:t>
            </a:r>
            <a:endParaRPr lang="en-US" sz="750"/>
          </a:p>
        </p:txBody>
      </p:sp>
      <p:sp>
        <p:nvSpPr>
          <p:cNvPr id="45" name="flow node"/>
          <p:cNvSpPr txBox="1"/>
          <p:nvPr/>
        </p:nvSpPr>
        <p:spPr>
          <a:xfrm>
            <a:off x="9582912" y="2670048"/>
            <a:ext cx="384048" cy="384048"/>
          </a:xfrm>
          <a:prstGeom prst="ellipse">
            <a:avLst/>
          </a:prstGeom>
          <a:solidFill>
            <a:srgbClr val="14B87A"/>
          </a:solidFill>
          <a:ln>
            <a:noFill/>
          </a:ln>
        </p:spPr>
      </p:sp>
      <p:sp>
        <p:nvSpPr>
          <p:cNvPr id="46" name="flow label"/>
          <p:cNvSpPr txBox="1"/>
          <p:nvPr/>
        </p:nvSpPr>
        <p:spPr>
          <a:xfrm>
            <a:off x="9445752" y="3182112"/>
            <a:ext cx="65836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50" b="1">
                <a:solidFill>
                  <a:srgbClr val="102133"/>
                </a:solidFill>
                <a:latin typeface="Aptos"/>
                <a:cs typeface="Aptos"/>
              </a:rPr>
              <a:t>Return</a:t>
            </a:r>
            <a:endParaRPr lang="en-US" sz="850"/>
          </a:p>
        </p:txBody>
      </p:sp>
      <p:sp>
        <p:nvSpPr>
          <p:cNvPr id="47" name="flow sub"/>
          <p:cNvSpPr txBox="1"/>
          <p:nvPr/>
        </p:nvSpPr>
        <p:spPr>
          <a:xfrm>
            <a:off x="9381744" y="3401568"/>
            <a:ext cx="786384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750">
                <a:solidFill>
                  <a:srgbClr val="586779"/>
                </a:solidFill>
                <a:latin typeface="Aptos"/>
                <a:cs typeface="Aptos"/>
              </a:rPr>
              <a:t>review</a:t>
            </a:r>
            <a:endParaRPr lang="en-US" sz="750"/>
          </a:p>
        </p:txBody>
      </p:sp>
      <p:sp>
        <p:nvSpPr>
          <p:cNvPr id="48" name="mini"/>
          <p:cNvSpPr txBox="1"/>
          <p:nvPr/>
        </p:nvSpPr>
        <p:spPr>
          <a:xfrm>
            <a:off x="6355080" y="4005072"/>
            <a:ext cx="1993392" cy="859536"/>
          </a:xfrm>
          <a:prstGeom prst="roundRect">
            <a:avLst/>
          </a:prstGeom>
          <a:solidFill>
            <a:srgbClr val="EAF7F1"/>
          </a:solidFill>
          <a:ln w="12700">
            <a:solidFill>
              <a:srgbClr val="DCD7CE"/>
            </a:solidFill>
          </a:ln>
        </p:spPr>
      </p:sp>
      <p:sp>
        <p:nvSpPr>
          <p:cNvPr id="49" name="mini head"/>
          <p:cNvSpPr txBox="1"/>
          <p:nvPr/>
        </p:nvSpPr>
        <p:spPr>
          <a:xfrm>
            <a:off x="6501384" y="4123944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150" b="1">
                <a:solidFill>
                  <a:srgbClr val="102133"/>
                </a:solidFill>
                <a:latin typeface="Aptos"/>
                <a:cs typeface="Aptos"/>
              </a:rPr>
              <a:t>Owner dashboard</a:t>
            </a:r>
            <a:endParaRPr lang="en-US" sz="1150"/>
          </a:p>
        </p:txBody>
      </p:sp>
      <p:sp>
        <p:nvSpPr>
          <p:cNvPr id="50" name="mini txt"/>
          <p:cNvSpPr txBox="1"/>
          <p:nvPr/>
        </p:nvSpPr>
        <p:spPr>
          <a:xfrm>
            <a:off x="6501384" y="4416552"/>
            <a:ext cx="1700784" cy="384047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930">
                <a:solidFill>
                  <a:srgbClr val="586779"/>
                </a:solidFill>
                <a:latin typeface="Aptos"/>
                <a:cs typeface="Aptos"/>
              </a:rPr>
              <a:t>Listings, rentals, earnings.</a:t>
            </a:r>
            <a:endParaRPr lang="en-US" sz="930"/>
          </a:p>
        </p:txBody>
      </p:sp>
      <p:sp>
        <p:nvSpPr>
          <p:cNvPr id="51" name="mini"/>
          <p:cNvSpPr txBox="1"/>
          <p:nvPr/>
        </p:nvSpPr>
        <p:spPr>
          <a:xfrm>
            <a:off x="8686800" y="4005072"/>
            <a:ext cx="1993392" cy="859536"/>
          </a:xfrm>
          <a:prstGeom prst="roundRect">
            <a:avLst/>
          </a:prstGeom>
          <a:solidFill>
            <a:srgbClr val="FFF0EA"/>
          </a:solidFill>
          <a:ln w="12700">
            <a:solidFill>
              <a:srgbClr val="DCD7CE"/>
            </a:solidFill>
          </a:ln>
        </p:spPr>
      </p:sp>
      <p:sp>
        <p:nvSpPr>
          <p:cNvPr id="52" name="mini head"/>
          <p:cNvSpPr txBox="1"/>
          <p:nvPr/>
        </p:nvSpPr>
        <p:spPr>
          <a:xfrm>
            <a:off x="8833104" y="4123944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150" b="1">
                <a:solidFill>
                  <a:srgbClr val="102133"/>
                </a:solidFill>
                <a:latin typeface="Aptos"/>
                <a:cs typeface="Aptos"/>
              </a:rPr>
              <a:t>Admin dashboard</a:t>
            </a:r>
            <a:endParaRPr lang="en-US" sz="1150"/>
          </a:p>
        </p:txBody>
      </p:sp>
      <p:sp>
        <p:nvSpPr>
          <p:cNvPr id="53" name="mini txt"/>
          <p:cNvSpPr txBox="1"/>
          <p:nvPr/>
        </p:nvSpPr>
        <p:spPr>
          <a:xfrm>
            <a:off x="8833104" y="4416552"/>
            <a:ext cx="1700784" cy="384047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930">
                <a:solidFill>
                  <a:srgbClr val="586779"/>
                </a:solidFill>
                <a:latin typeface="Aptos"/>
                <a:cs typeface="Aptos"/>
              </a:rPr>
              <a:t>Users, disputes, reports.</a:t>
            </a:r>
            <a:endParaRPr lang="en-US" sz="930"/>
          </a:p>
        </p:txBody>
      </p:sp>
      <p:sp>
        <p:nvSpPr>
          <p:cNvPr id="54" name="footer line"/>
          <p:cNvSpPr txBox="1"/>
          <p:nvPr/>
        </p:nvSpPr>
        <p:spPr>
          <a:xfrm>
            <a:off x="658368" y="6108192"/>
            <a:ext cx="10881360" cy="9144"/>
          </a:xfrm>
          <a:prstGeom prst="rect">
            <a:avLst/>
          </a:prstGeom>
          <a:solidFill>
            <a:srgbClr val="DCD7CE"/>
          </a:solidFill>
          <a:ln>
            <a:noFill/>
          </a:ln>
        </p:spPr>
      </p:sp>
      <p:sp>
        <p:nvSpPr>
          <p:cNvPr id="55" name="footer left"/>
          <p:cNvSpPr txBox="1"/>
          <p:nvPr/>
        </p:nvSpPr>
        <p:spPr>
          <a:xfrm>
            <a:off x="658368" y="627278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850">
                <a:solidFill>
                  <a:srgbClr val="586779"/>
                </a:solidFill>
                <a:latin typeface="Aptos"/>
                <a:cs typeface="Aptos"/>
              </a:rPr>
              <a:t>Opening story</a:t>
            </a:r>
            <a:endParaRPr lang="en-US" sz="850"/>
          </a:p>
        </p:txBody>
      </p:sp>
      <p:sp>
        <p:nvSpPr>
          <p:cNvPr id="56" name="footer right"/>
          <p:cNvSpPr txBox="1"/>
          <p:nvPr/>
        </p:nvSpPr>
        <p:spPr>
          <a:xfrm>
            <a:off x="7498079" y="6272784"/>
            <a:ext cx="404164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r"/>
            <a:r>
              <a:rPr lang="en-US" sz="850" b="1">
                <a:solidFill>
                  <a:srgbClr val="586779"/>
                </a:solidFill>
                <a:latin typeface="Aptos"/>
                <a:cs typeface="Aptos"/>
              </a:rPr>
              <a:t>One rental journey, three roles</a:t>
            </a:r>
            <a:endParaRPr lang="en-US" sz="8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wash left"/>
          <p:cNvSpPr txBox="1"/>
          <p:nvPr/>
        </p:nvSpPr>
        <p:spPr>
          <a:xfrm>
            <a:off x="-914400" y="-731520"/>
            <a:ext cx="3566160" cy="3566160"/>
          </a:xfrm>
          <a:prstGeom prst="ellipse">
            <a:avLst/>
          </a:prstGeom>
          <a:solidFill>
            <a:srgbClr val="EAF3F6"/>
          </a:solidFill>
          <a:ln>
            <a:noFill/>
          </a:ln>
        </p:spPr>
      </p:sp>
      <p:sp>
        <p:nvSpPr>
          <p:cNvPr id="3" name="accent wash right"/>
          <p:cNvSpPr txBox="1"/>
          <p:nvPr/>
        </p:nvSpPr>
        <p:spPr>
          <a:xfrm>
            <a:off x="9784080" y="-594360"/>
            <a:ext cx="3474720" cy="2926080"/>
          </a:xfrm>
          <a:prstGeom prst="ellipse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4" name="stage outline"/>
          <p:cNvSpPr txBox="1"/>
          <p:nvPr/>
        </p:nvSpPr>
        <p:spPr>
          <a:xfrm>
            <a:off x="201168" y="137160"/>
            <a:ext cx="11795760" cy="6583680"/>
          </a:xfrm>
          <a:prstGeom prst="roundRect">
            <a:avLst/>
          </a:prstGeom>
          <a:noFill/>
          <a:ln w="12700">
            <a:solidFill>
              <a:srgbClr val="E9E2D8"/>
            </a:solidFill>
          </a:ln>
        </p:spPr>
      </p:sp>
      <p:sp>
        <p:nvSpPr>
          <p:cNvPr id="5" name="slide number"/>
          <p:cNvSpPr txBox="1"/>
          <p:nvPr/>
        </p:nvSpPr>
        <p:spPr>
          <a:xfrm>
            <a:off x="10698480" y="627278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r"/>
            <a:r>
              <a:rPr lang="en-US" sz="900" b="1">
                <a:solidFill>
                  <a:srgbClr val="586779"/>
                </a:solidFill>
                <a:latin typeface="Aptos"/>
                <a:cs typeface="Aptos"/>
              </a:rPr>
              <a:t>03 / 12</a:t>
            </a:r>
            <a:endParaRPr lang="en-US" sz="900"/>
          </a:p>
        </p:txBody>
      </p:sp>
      <p:sp>
        <p:nvSpPr>
          <p:cNvPr id="6" name="eyebrow pill"/>
          <p:cNvSpPr txBox="1"/>
          <p:nvPr/>
        </p:nvSpPr>
        <p:spPr>
          <a:xfrm>
            <a:off x="658368" y="502920"/>
            <a:ext cx="2697480" cy="32918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7" name="eyebrow dot"/>
          <p:cNvSpPr txBox="1"/>
          <p:nvPr/>
        </p:nvSpPr>
        <p:spPr>
          <a:xfrm>
            <a:off x="768096" y="612648"/>
            <a:ext cx="100584" cy="100584"/>
          </a:xfrm>
          <a:prstGeom prst="ellipse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8" name="eyebrow text"/>
          <p:cNvSpPr txBox="1"/>
          <p:nvPr/>
        </p:nvSpPr>
        <p:spPr>
          <a:xfrm>
            <a:off x="969264" y="589788"/>
            <a:ext cx="2295144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830" b="1">
                <a:solidFill>
                  <a:srgbClr val="586779"/>
                </a:solidFill>
                <a:latin typeface="Aptos"/>
                <a:cs typeface="Aptos"/>
              </a:rPr>
              <a:t>TOOL RENTAL CONTEXT</a:t>
            </a:r>
            <a:endParaRPr lang="en-US" sz="830"/>
          </a:p>
        </p:txBody>
      </p:sp>
      <p:sp>
        <p:nvSpPr>
          <p:cNvPr id="9" name="title"/>
          <p:cNvSpPr txBox="1"/>
          <p:nvPr/>
        </p:nvSpPr>
        <p:spPr>
          <a:xfrm>
            <a:off x="658368" y="932688"/>
            <a:ext cx="5669280" cy="1060704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3600" b="1">
                <a:solidFill>
                  <a:srgbClr val="102133"/>
                </a:solidFill>
                <a:latin typeface="Aptos"/>
                <a:cs typeface="Aptos"/>
              </a:rPr>
              <a:t>The gap between</a:t>
            </a:r>
            <a:endParaRPr lang="en-US" sz="3600"/>
          </a:p>
          <a:p>
            <a:pPr algn="l"/>
            <a:r>
              <a:rPr lang="en-US" sz="3600" b="1">
                <a:solidFill>
                  <a:srgbClr val="102133"/>
                </a:solidFill>
                <a:latin typeface="Aptos"/>
                <a:cs typeface="Aptos"/>
              </a:rPr>
              <a:t>buying and borrowing</a:t>
            </a:r>
            <a:endParaRPr lang="en-US" sz="3600"/>
          </a:p>
        </p:txBody>
      </p:sp>
      <p:sp>
        <p:nvSpPr>
          <p:cNvPr id="10" name="body"/>
          <p:cNvSpPr txBox="1"/>
          <p:nvPr/>
        </p:nvSpPr>
        <p:spPr>
          <a:xfrm>
            <a:off x="694944" y="228600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430">
                <a:solidFill>
                  <a:srgbClr val="586779"/>
                </a:solidFill>
                <a:latin typeface="Aptos"/>
                <a:cs typeface="Aptos"/>
              </a:rPr>
              <a:t>ToolShare is built around a simple product insight: people need short-term access, owners have underused inventory, and informal borrowing lacks accountability.</a:t>
            </a:r>
            <a:endParaRPr lang="en-US" sz="1430"/>
          </a:p>
        </p:txBody>
      </p:sp>
      <p:sp>
        <p:nvSpPr>
          <p:cNvPr id="11" name="chaos panel"/>
          <p:cNvSpPr txBox="1"/>
          <p:nvPr/>
        </p:nvSpPr>
        <p:spPr>
          <a:xfrm>
            <a:off x="713232" y="3246120"/>
            <a:ext cx="5212080" cy="2148840"/>
          </a:xfrm>
          <a:prstGeom prst="roundRect">
            <a:avLst/>
          </a:prstGeom>
          <a:solidFill>
            <a:srgbClr val="FFF0EA"/>
          </a:solidFill>
          <a:ln w="12700">
            <a:solidFill>
              <a:srgbClr val="DCD7CE"/>
            </a:solidFill>
          </a:ln>
        </p:spPr>
      </p:sp>
      <p:sp>
        <p:nvSpPr>
          <p:cNvPr id="12" name="body"/>
          <p:cNvSpPr txBox="1"/>
          <p:nvPr/>
        </p:nvSpPr>
        <p:spPr>
          <a:xfrm>
            <a:off x="960120" y="3493008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300" b="1">
                <a:solidFill>
                  <a:srgbClr val="102133"/>
                </a:solidFill>
                <a:latin typeface="Aptos"/>
                <a:cs typeface="Aptos"/>
              </a:rPr>
              <a:t>Informal rental problem</a:t>
            </a:r>
            <a:endParaRPr lang="en-US" sz="1300"/>
          </a:p>
        </p:txBody>
      </p:sp>
      <p:sp>
        <p:nvSpPr>
          <p:cNvPr id="13" name="chat bubble"/>
          <p:cNvSpPr txBox="1"/>
          <p:nvPr/>
        </p:nvSpPr>
        <p:spPr>
          <a:xfrm>
            <a:off x="960120" y="3886200"/>
            <a:ext cx="173736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7CE"/>
            </a:solidFill>
          </a:ln>
        </p:spPr>
        <p:txBody>
          <a:bodyPr wrap="square" anchor="t" rtlCol="0"/>
          <a:lstStyle/>
          <a:p>
            <a:pPr algn="c"/>
            <a:r>
              <a:rPr lang="en-US" sz="869" b="1">
                <a:solidFill>
                  <a:srgbClr val="102133"/>
                </a:solidFill>
                <a:latin typeface="Aptos"/>
                <a:cs typeface="Aptos"/>
              </a:rPr>
              <a:t>Who has a drill?</a:t>
            </a:r>
            <a:endParaRPr lang="en-US" sz="869"/>
          </a:p>
        </p:txBody>
      </p:sp>
      <p:sp>
        <p:nvSpPr>
          <p:cNvPr id="14" name="chat bubble"/>
          <p:cNvSpPr txBox="1"/>
          <p:nvPr/>
        </p:nvSpPr>
        <p:spPr>
          <a:xfrm>
            <a:off x="2926080" y="3886200"/>
            <a:ext cx="1737360" cy="310896"/>
          </a:xfrm>
          <a:prstGeom prst="roundRect">
            <a:avLst/>
          </a:prstGeom>
          <a:solidFill>
            <a:srgbClr val="102133"/>
          </a:solidFill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69" b="1">
                <a:solidFill>
                  <a:srgbClr val="FFFFFF"/>
                </a:solidFill>
                <a:latin typeface="Aptos"/>
                <a:cs typeface="Aptos"/>
              </a:rPr>
              <a:t>What is the price?</a:t>
            </a:r>
            <a:endParaRPr lang="en-US" sz="869"/>
          </a:p>
        </p:txBody>
      </p:sp>
      <p:sp>
        <p:nvSpPr>
          <p:cNvPr id="15" name="chat bubble"/>
          <p:cNvSpPr txBox="1"/>
          <p:nvPr/>
        </p:nvSpPr>
        <p:spPr>
          <a:xfrm>
            <a:off x="960120" y="4453128"/>
            <a:ext cx="173736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7CE"/>
            </a:solidFill>
          </a:ln>
        </p:spPr>
        <p:txBody>
          <a:bodyPr wrap="square" anchor="t" rtlCol="0"/>
          <a:lstStyle/>
          <a:p>
            <a:pPr algn="c"/>
            <a:r>
              <a:rPr lang="en-US" sz="869" b="1">
                <a:solidFill>
                  <a:srgbClr val="102133"/>
                </a:solidFill>
                <a:latin typeface="Aptos"/>
                <a:cs typeface="Aptos"/>
              </a:rPr>
              <a:t>When is pickup?</a:t>
            </a:r>
            <a:endParaRPr lang="en-US" sz="869"/>
          </a:p>
        </p:txBody>
      </p:sp>
      <p:sp>
        <p:nvSpPr>
          <p:cNvPr id="16" name="chat bubble"/>
          <p:cNvSpPr txBox="1"/>
          <p:nvPr/>
        </p:nvSpPr>
        <p:spPr>
          <a:xfrm>
            <a:off x="2926080" y="4453128"/>
            <a:ext cx="1737360" cy="310896"/>
          </a:xfrm>
          <a:prstGeom prst="roundRect">
            <a:avLst/>
          </a:prstGeom>
          <a:solidFill>
            <a:srgbClr val="102133"/>
          </a:solidFill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69" b="1">
                <a:solidFill>
                  <a:srgbClr val="FFFFFF"/>
                </a:solidFill>
                <a:latin typeface="Aptos"/>
                <a:cs typeface="Aptos"/>
              </a:rPr>
              <a:t>What if it is damaged?</a:t>
            </a:r>
            <a:endParaRPr lang="en-US" sz="869"/>
          </a:p>
        </p:txBody>
      </p:sp>
      <p:sp>
        <p:nvSpPr>
          <p:cNvPr id="17" name="solution panel"/>
          <p:cNvSpPr txBox="1"/>
          <p:nvPr/>
        </p:nvSpPr>
        <p:spPr>
          <a:xfrm>
            <a:off x="6355080" y="3246120"/>
            <a:ext cx="4937760" cy="2148840"/>
          </a:xfrm>
          <a:prstGeom prst="roundRect">
            <a:avLst/>
          </a:prstGeom>
          <a:solidFill>
            <a:srgbClr val="EAF7F1"/>
          </a:solidFill>
          <a:ln w="12700">
            <a:solidFill>
              <a:srgbClr val="DCD7CE"/>
            </a:solidFill>
          </a:ln>
        </p:spPr>
      </p:sp>
      <p:sp>
        <p:nvSpPr>
          <p:cNvPr id="18" name="body"/>
          <p:cNvSpPr txBox="1"/>
          <p:nvPr/>
        </p:nvSpPr>
        <p:spPr>
          <a:xfrm>
            <a:off x="6620256" y="3493008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300" b="1">
                <a:solidFill>
                  <a:srgbClr val="102133"/>
                </a:solidFill>
                <a:latin typeface="Aptos"/>
                <a:cs typeface="Aptos"/>
              </a:rPr>
              <a:t>Structured marketplace answer</a:t>
            </a:r>
            <a:endParaRPr lang="en-US" sz="1300"/>
          </a:p>
        </p:txBody>
      </p:sp>
      <p:sp>
        <p:nvSpPr>
          <p:cNvPr id="19" name="pill"/>
          <p:cNvSpPr txBox="1"/>
          <p:nvPr/>
        </p:nvSpPr>
        <p:spPr>
          <a:xfrm>
            <a:off x="6656832" y="3913632"/>
            <a:ext cx="1645920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20" name="pill text"/>
          <p:cNvSpPr txBox="1"/>
          <p:nvPr/>
        </p:nvSpPr>
        <p:spPr>
          <a:xfrm>
            <a:off x="6748272" y="3991356"/>
            <a:ext cx="146304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50" b="1">
                <a:solidFill>
                  <a:srgbClr val="102133"/>
                </a:solidFill>
                <a:latin typeface="Aptos"/>
                <a:cs typeface="Aptos"/>
              </a:rPr>
              <a:t>Verified account</a:t>
            </a:r>
            <a:endParaRPr lang="en-US" sz="850"/>
          </a:p>
        </p:txBody>
      </p:sp>
      <p:sp>
        <p:nvSpPr>
          <p:cNvPr id="21" name="pill"/>
          <p:cNvSpPr txBox="1"/>
          <p:nvPr/>
        </p:nvSpPr>
        <p:spPr>
          <a:xfrm>
            <a:off x="8668512" y="3913632"/>
            <a:ext cx="1645920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22" name="pill text"/>
          <p:cNvSpPr txBox="1"/>
          <p:nvPr/>
        </p:nvSpPr>
        <p:spPr>
          <a:xfrm>
            <a:off x="8759952" y="3991356"/>
            <a:ext cx="146304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50" b="1">
                <a:solidFill>
                  <a:srgbClr val="102133"/>
                </a:solidFill>
                <a:latin typeface="Aptos"/>
                <a:cs typeface="Aptos"/>
              </a:rPr>
              <a:t>Booking record</a:t>
            </a:r>
            <a:endParaRPr lang="en-US" sz="850"/>
          </a:p>
        </p:txBody>
      </p:sp>
      <p:sp>
        <p:nvSpPr>
          <p:cNvPr id="23" name="pill"/>
          <p:cNvSpPr txBox="1"/>
          <p:nvPr/>
        </p:nvSpPr>
        <p:spPr>
          <a:xfrm>
            <a:off x="6656832" y="4498848"/>
            <a:ext cx="1645920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24" name="pill text"/>
          <p:cNvSpPr txBox="1"/>
          <p:nvPr/>
        </p:nvSpPr>
        <p:spPr>
          <a:xfrm>
            <a:off x="6748272" y="4576572"/>
            <a:ext cx="146304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50" b="1">
                <a:solidFill>
                  <a:srgbClr val="102133"/>
                </a:solidFill>
                <a:latin typeface="Aptos"/>
                <a:cs typeface="Aptos"/>
              </a:rPr>
              <a:t>Deposit flow</a:t>
            </a:r>
            <a:endParaRPr lang="en-US" sz="850"/>
          </a:p>
        </p:txBody>
      </p:sp>
      <p:sp>
        <p:nvSpPr>
          <p:cNvPr id="25" name="pill"/>
          <p:cNvSpPr txBox="1"/>
          <p:nvPr/>
        </p:nvSpPr>
        <p:spPr>
          <a:xfrm>
            <a:off x="8668512" y="4498848"/>
            <a:ext cx="1645920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26" name="pill text"/>
          <p:cNvSpPr txBox="1"/>
          <p:nvPr/>
        </p:nvSpPr>
        <p:spPr>
          <a:xfrm>
            <a:off x="8759952" y="4576572"/>
            <a:ext cx="146304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50" b="1">
                <a:solidFill>
                  <a:srgbClr val="102133"/>
                </a:solidFill>
                <a:latin typeface="Aptos"/>
                <a:cs typeface="Aptos"/>
              </a:rPr>
              <a:t>Admin support</a:t>
            </a:r>
            <a:endParaRPr lang="en-US" sz="850"/>
          </a:p>
        </p:txBody>
      </p:sp>
      <p:sp>
        <p:nvSpPr>
          <p:cNvPr id="27" name="footer line"/>
          <p:cNvSpPr txBox="1"/>
          <p:nvPr/>
        </p:nvSpPr>
        <p:spPr>
          <a:xfrm>
            <a:off x="658368" y="6108192"/>
            <a:ext cx="10881360" cy="9144"/>
          </a:xfrm>
          <a:prstGeom prst="rect">
            <a:avLst/>
          </a:prstGeom>
          <a:solidFill>
            <a:srgbClr val="DCD7CE"/>
          </a:solidFill>
          <a:ln>
            <a:noFill/>
          </a:ln>
        </p:spPr>
      </p:sp>
      <p:sp>
        <p:nvSpPr>
          <p:cNvPr id="28" name="footer left"/>
          <p:cNvSpPr txBox="1"/>
          <p:nvPr/>
        </p:nvSpPr>
        <p:spPr>
          <a:xfrm>
            <a:off x="658368" y="627278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850">
                <a:solidFill>
                  <a:srgbClr val="586779"/>
                </a:solidFill>
                <a:latin typeface="Aptos"/>
                <a:cs typeface="Aptos"/>
              </a:rPr>
              <a:t>Problem framing</a:t>
            </a:r>
            <a:endParaRPr lang="en-US" sz="850"/>
          </a:p>
        </p:txBody>
      </p:sp>
      <p:sp>
        <p:nvSpPr>
          <p:cNvPr id="29" name="footer right"/>
          <p:cNvSpPr txBox="1"/>
          <p:nvPr/>
        </p:nvSpPr>
        <p:spPr>
          <a:xfrm>
            <a:off x="7498079" y="6272784"/>
            <a:ext cx="404164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r"/>
            <a:r>
              <a:rPr lang="en-US" sz="850" b="1">
                <a:solidFill>
                  <a:srgbClr val="586779"/>
                </a:solidFill>
                <a:latin typeface="Aptos"/>
                <a:cs typeface="Aptos"/>
              </a:rPr>
              <a:t>Cost, idle assets, trust</a:t>
            </a:r>
            <a:endParaRPr lang="en-US" sz="8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wash left"/>
          <p:cNvSpPr txBox="1"/>
          <p:nvPr/>
        </p:nvSpPr>
        <p:spPr>
          <a:xfrm>
            <a:off x="-914400" y="-731520"/>
            <a:ext cx="3566160" cy="3566160"/>
          </a:xfrm>
          <a:prstGeom prst="ellipse">
            <a:avLst/>
          </a:prstGeom>
          <a:solidFill>
            <a:srgbClr val="EAF3F6"/>
          </a:solidFill>
          <a:ln>
            <a:noFill/>
          </a:ln>
        </p:spPr>
      </p:sp>
      <p:sp>
        <p:nvSpPr>
          <p:cNvPr id="3" name="accent wash right"/>
          <p:cNvSpPr txBox="1"/>
          <p:nvPr/>
        </p:nvSpPr>
        <p:spPr>
          <a:xfrm>
            <a:off x="9784080" y="-594360"/>
            <a:ext cx="3474720" cy="2926080"/>
          </a:xfrm>
          <a:prstGeom prst="ellipse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4" name="stage outline"/>
          <p:cNvSpPr txBox="1"/>
          <p:nvPr/>
        </p:nvSpPr>
        <p:spPr>
          <a:xfrm>
            <a:off x="201168" y="137160"/>
            <a:ext cx="11795760" cy="6583680"/>
          </a:xfrm>
          <a:prstGeom prst="roundRect">
            <a:avLst/>
          </a:prstGeom>
          <a:noFill/>
          <a:ln w="12700">
            <a:solidFill>
              <a:srgbClr val="E9E2D8"/>
            </a:solidFill>
          </a:ln>
        </p:spPr>
      </p:sp>
      <p:sp>
        <p:nvSpPr>
          <p:cNvPr id="5" name="slide number"/>
          <p:cNvSpPr txBox="1"/>
          <p:nvPr/>
        </p:nvSpPr>
        <p:spPr>
          <a:xfrm>
            <a:off x="10698480" y="627278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r"/>
            <a:r>
              <a:rPr lang="en-US" sz="900" b="1">
                <a:solidFill>
                  <a:srgbClr val="586779"/>
                </a:solidFill>
                <a:latin typeface="Aptos"/>
                <a:cs typeface="Aptos"/>
              </a:rPr>
              <a:t>04 / 12</a:t>
            </a:r>
            <a:endParaRPr lang="en-US" sz="900"/>
          </a:p>
        </p:txBody>
      </p:sp>
      <p:sp>
        <p:nvSpPr>
          <p:cNvPr id="6" name="eyebrow pill"/>
          <p:cNvSpPr txBox="1"/>
          <p:nvPr/>
        </p:nvSpPr>
        <p:spPr>
          <a:xfrm>
            <a:off x="658368" y="502920"/>
            <a:ext cx="2697480" cy="32918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7" name="eyebrow dot"/>
          <p:cNvSpPr txBox="1"/>
          <p:nvPr/>
        </p:nvSpPr>
        <p:spPr>
          <a:xfrm>
            <a:off x="768096" y="612648"/>
            <a:ext cx="100584" cy="100584"/>
          </a:xfrm>
          <a:prstGeom prst="ellipse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8" name="eyebrow text"/>
          <p:cNvSpPr txBox="1"/>
          <p:nvPr/>
        </p:nvSpPr>
        <p:spPr>
          <a:xfrm>
            <a:off x="969264" y="589788"/>
            <a:ext cx="2295144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830" b="1">
                <a:solidFill>
                  <a:srgbClr val="586779"/>
                </a:solidFill>
                <a:latin typeface="Aptos"/>
                <a:cs typeface="Aptos"/>
              </a:rPr>
              <a:t>USER STORIES</a:t>
            </a:r>
            <a:endParaRPr lang="en-US" sz="830"/>
          </a:p>
        </p:txBody>
      </p:sp>
      <p:sp>
        <p:nvSpPr>
          <p:cNvPr id="9" name="title"/>
          <p:cNvSpPr txBox="1"/>
          <p:nvPr/>
        </p:nvSpPr>
        <p:spPr>
          <a:xfrm>
            <a:off x="658368" y="914400"/>
            <a:ext cx="6400800" cy="1060704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3500" b="1">
                <a:solidFill>
                  <a:srgbClr val="102133"/>
                </a:solidFill>
                <a:latin typeface="Aptos"/>
                <a:cs typeface="Aptos"/>
              </a:rPr>
              <a:t>Three stories the</a:t>
            </a:r>
            <a:endParaRPr lang="en-US" sz="3500"/>
          </a:p>
          <a:p>
            <a:pPr algn="l"/>
            <a:r>
              <a:rPr lang="en-US" sz="3500" b="1">
                <a:solidFill>
                  <a:srgbClr val="102133"/>
                </a:solidFill>
                <a:latin typeface="Aptos"/>
                <a:cs typeface="Aptos"/>
              </a:rPr>
              <a:t>platform is designed for</a:t>
            </a:r>
            <a:endParaRPr lang="en-US" sz="3500"/>
          </a:p>
        </p:txBody>
      </p:sp>
      <p:sp>
        <p:nvSpPr>
          <p:cNvPr id="10" name="card shell"/>
          <p:cNvSpPr txBox="1"/>
          <p:nvPr/>
        </p:nvSpPr>
        <p:spPr>
          <a:xfrm>
            <a:off x="713232" y="2249424"/>
            <a:ext cx="3346704" cy="307238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11" name="card accent"/>
          <p:cNvSpPr txBox="1"/>
          <p:nvPr/>
        </p:nvSpPr>
        <p:spPr>
          <a:xfrm>
            <a:off x="877824" y="2414016"/>
            <a:ext cx="384048" cy="384048"/>
          </a:xfrm>
          <a:prstGeom prst="roundRect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12" name="card label"/>
          <p:cNvSpPr txBox="1"/>
          <p:nvPr/>
        </p:nvSpPr>
        <p:spPr>
          <a:xfrm>
            <a:off x="896112" y="2523744"/>
            <a:ext cx="347472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30" b="1">
                <a:solidFill>
                  <a:srgbClr val="FFFFFF"/>
                </a:solidFill>
                <a:latin typeface="Aptos"/>
                <a:cs typeface="Aptos"/>
              </a:rPr>
              <a:t>01</a:t>
            </a:r>
            <a:endParaRPr lang="en-US" sz="830"/>
          </a:p>
        </p:txBody>
      </p:sp>
      <p:sp>
        <p:nvSpPr>
          <p:cNvPr id="13" name="card head"/>
          <p:cNvSpPr txBox="1"/>
          <p:nvPr/>
        </p:nvSpPr>
        <p:spPr>
          <a:xfrm>
            <a:off x="877824" y="2944368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350" b="1">
                <a:solidFill>
                  <a:srgbClr val="102133"/>
                </a:solidFill>
                <a:latin typeface="Aptos"/>
                <a:cs typeface="Aptos"/>
              </a:rPr>
              <a:t>Renter with a one-day project</a:t>
            </a:r>
            <a:endParaRPr lang="en-US" sz="1350"/>
          </a:p>
        </p:txBody>
      </p:sp>
      <p:sp>
        <p:nvSpPr>
          <p:cNvPr id="14" name="card txt"/>
          <p:cNvSpPr txBox="1"/>
          <p:nvPr/>
        </p:nvSpPr>
        <p:spPr>
          <a:xfrm>
            <a:off x="877824" y="3328415"/>
            <a:ext cx="3017520" cy="190195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050">
                <a:solidFill>
                  <a:srgbClr val="586779"/>
                </a:solidFill>
                <a:latin typeface="Aptos"/>
                <a:cs typeface="Aptos"/>
              </a:rPr>
              <a:t>Needs a tool for a short job. Wants clear price, availability, pickup/drop-off timing, payment record, and a trusted process.</a:t>
            </a:r>
            <a:endParaRPr lang="en-US" sz="1050"/>
          </a:p>
        </p:txBody>
      </p:sp>
      <p:sp>
        <p:nvSpPr>
          <p:cNvPr id="15" name="card shell"/>
          <p:cNvSpPr txBox="1"/>
          <p:nvPr/>
        </p:nvSpPr>
        <p:spPr>
          <a:xfrm>
            <a:off x="4425696" y="2249424"/>
            <a:ext cx="3346704" cy="307238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16" name="card accent"/>
          <p:cNvSpPr txBox="1"/>
          <p:nvPr/>
        </p:nvSpPr>
        <p:spPr>
          <a:xfrm>
            <a:off x="4590288" y="2414016"/>
            <a:ext cx="384048" cy="384048"/>
          </a:xfrm>
          <a:prstGeom prst="roundRect">
            <a:avLst/>
          </a:prstGeom>
          <a:solidFill>
            <a:srgbClr val="14B87A"/>
          </a:solidFill>
          <a:ln>
            <a:noFill/>
          </a:ln>
        </p:spPr>
      </p:sp>
      <p:sp>
        <p:nvSpPr>
          <p:cNvPr id="17" name="card label"/>
          <p:cNvSpPr txBox="1"/>
          <p:nvPr/>
        </p:nvSpPr>
        <p:spPr>
          <a:xfrm>
            <a:off x="4608576" y="2523744"/>
            <a:ext cx="347472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30" b="1">
                <a:solidFill>
                  <a:srgbClr val="FFFFFF"/>
                </a:solidFill>
                <a:latin typeface="Aptos"/>
                <a:cs typeface="Aptos"/>
              </a:rPr>
              <a:t>02</a:t>
            </a:r>
            <a:endParaRPr lang="en-US" sz="830"/>
          </a:p>
        </p:txBody>
      </p:sp>
      <p:sp>
        <p:nvSpPr>
          <p:cNvPr id="18" name="card head"/>
          <p:cNvSpPr txBox="1"/>
          <p:nvPr/>
        </p:nvSpPr>
        <p:spPr>
          <a:xfrm>
            <a:off x="4590288" y="2944368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350" b="1">
                <a:solidFill>
                  <a:srgbClr val="102133"/>
                </a:solidFill>
                <a:latin typeface="Aptos"/>
                <a:cs typeface="Aptos"/>
              </a:rPr>
              <a:t>Owner with unused tools</a:t>
            </a:r>
            <a:endParaRPr lang="en-US" sz="1350"/>
          </a:p>
        </p:txBody>
      </p:sp>
      <p:sp>
        <p:nvSpPr>
          <p:cNvPr id="19" name="card txt"/>
          <p:cNvSpPr txBox="1"/>
          <p:nvPr/>
        </p:nvSpPr>
        <p:spPr>
          <a:xfrm>
            <a:off x="4590288" y="3328415"/>
            <a:ext cx="3017520" cy="190195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050">
                <a:solidFill>
                  <a:srgbClr val="586779"/>
                </a:solidFill>
                <a:latin typeface="Aptos"/>
                <a:cs typeface="Aptos"/>
              </a:rPr>
              <a:t>Already owns useful equipment. Wants to list it once, manage rentals, confirm returns, and track earnings.</a:t>
            </a:r>
            <a:endParaRPr lang="en-US" sz="1050"/>
          </a:p>
        </p:txBody>
      </p:sp>
      <p:sp>
        <p:nvSpPr>
          <p:cNvPr id="20" name="card shell"/>
          <p:cNvSpPr txBox="1"/>
          <p:nvPr/>
        </p:nvSpPr>
        <p:spPr>
          <a:xfrm>
            <a:off x="8138160" y="2249424"/>
            <a:ext cx="3346704" cy="307238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21" name="card accent"/>
          <p:cNvSpPr txBox="1"/>
          <p:nvPr/>
        </p:nvSpPr>
        <p:spPr>
          <a:xfrm>
            <a:off x="8302752" y="2414016"/>
            <a:ext cx="384048" cy="384048"/>
          </a:xfrm>
          <a:prstGeom prst="roundRect">
            <a:avLst/>
          </a:prstGeom>
          <a:solidFill>
            <a:srgbClr val="FF8F62"/>
          </a:solidFill>
          <a:ln>
            <a:noFill/>
          </a:ln>
        </p:spPr>
      </p:sp>
      <p:sp>
        <p:nvSpPr>
          <p:cNvPr id="22" name="card label"/>
          <p:cNvSpPr txBox="1"/>
          <p:nvPr/>
        </p:nvSpPr>
        <p:spPr>
          <a:xfrm>
            <a:off x="8321040" y="2523744"/>
            <a:ext cx="347472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30" b="1">
                <a:solidFill>
                  <a:srgbClr val="FFFFFF"/>
                </a:solidFill>
                <a:latin typeface="Aptos"/>
                <a:cs typeface="Aptos"/>
              </a:rPr>
              <a:t>03</a:t>
            </a:r>
            <a:endParaRPr lang="en-US" sz="830"/>
          </a:p>
        </p:txBody>
      </p:sp>
      <p:sp>
        <p:nvSpPr>
          <p:cNvPr id="23" name="card head"/>
          <p:cNvSpPr txBox="1"/>
          <p:nvPr/>
        </p:nvSpPr>
        <p:spPr>
          <a:xfrm>
            <a:off x="8302752" y="2944368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350" b="1">
                <a:solidFill>
                  <a:srgbClr val="102133"/>
                </a:solidFill>
                <a:latin typeface="Aptos"/>
                <a:cs typeface="Aptos"/>
              </a:rPr>
              <a:t>Admin protecting trust</a:t>
            </a:r>
            <a:endParaRPr lang="en-US" sz="1350"/>
          </a:p>
        </p:txBody>
      </p:sp>
      <p:sp>
        <p:nvSpPr>
          <p:cNvPr id="24" name="card txt"/>
          <p:cNvSpPr txBox="1"/>
          <p:nvPr/>
        </p:nvSpPr>
        <p:spPr>
          <a:xfrm>
            <a:off x="8302752" y="3328415"/>
            <a:ext cx="3017520" cy="190195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050">
                <a:solidFill>
                  <a:srgbClr val="586779"/>
                </a:solidFill>
                <a:latin typeface="Aptos"/>
                <a:cs typeface="Aptos"/>
              </a:rPr>
              <a:t>Monitors users, listings, bookings, deposits, support tickets, disputes, reports, and platform health.</a:t>
            </a:r>
            <a:endParaRPr lang="en-US" sz="1050"/>
          </a:p>
        </p:txBody>
      </p:sp>
      <p:sp>
        <p:nvSpPr>
          <p:cNvPr id="25" name="footer line"/>
          <p:cNvSpPr txBox="1"/>
          <p:nvPr/>
        </p:nvSpPr>
        <p:spPr>
          <a:xfrm>
            <a:off x="658368" y="6108192"/>
            <a:ext cx="10881360" cy="9144"/>
          </a:xfrm>
          <a:prstGeom prst="rect">
            <a:avLst/>
          </a:prstGeom>
          <a:solidFill>
            <a:srgbClr val="DCD7CE"/>
          </a:solidFill>
          <a:ln>
            <a:noFill/>
          </a:ln>
        </p:spPr>
      </p:sp>
      <p:sp>
        <p:nvSpPr>
          <p:cNvPr id="26" name="footer left"/>
          <p:cNvSpPr txBox="1"/>
          <p:nvPr/>
        </p:nvSpPr>
        <p:spPr>
          <a:xfrm>
            <a:off x="658368" y="627278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850">
                <a:solidFill>
                  <a:srgbClr val="586779"/>
                </a:solidFill>
                <a:latin typeface="Aptos"/>
                <a:cs typeface="Aptos"/>
              </a:rPr>
              <a:t>Audience model</a:t>
            </a:r>
            <a:endParaRPr lang="en-US" sz="850"/>
          </a:p>
        </p:txBody>
      </p:sp>
      <p:sp>
        <p:nvSpPr>
          <p:cNvPr id="27" name="footer right"/>
          <p:cNvSpPr txBox="1"/>
          <p:nvPr/>
        </p:nvSpPr>
        <p:spPr>
          <a:xfrm>
            <a:off x="7498079" y="6272784"/>
            <a:ext cx="404164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r"/>
            <a:r>
              <a:rPr lang="en-US" sz="850" b="1">
                <a:solidFill>
                  <a:srgbClr val="586779"/>
                </a:solidFill>
                <a:latin typeface="Aptos"/>
                <a:cs typeface="Aptos"/>
              </a:rPr>
              <a:t>Renter + Owner + Admin</a:t>
            </a:r>
            <a:endParaRPr lang="en-US" sz="8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wash left"/>
          <p:cNvSpPr txBox="1"/>
          <p:nvPr/>
        </p:nvSpPr>
        <p:spPr>
          <a:xfrm>
            <a:off x="-914400" y="-731520"/>
            <a:ext cx="3566160" cy="3566160"/>
          </a:xfrm>
          <a:prstGeom prst="ellipse">
            <a:avLst/>
          </a:prstGeom>
          <a:solidFill>
            <a:srgbClr val="EAF3F6"/>
          </a:solidFill>
          <a:ln>
            <a:noFill/>
          </a:ln>
        </p:spPr>
      </p:sp>
      <p:sp>
        <p:nvSpPr>
          <p:cNvPr id="3" name="accent wash right"/>
          <p:cNvSpPr txBox="1"/>
          <p:nvPr/>
        </p:nvSpPr>
        <p:spPr>
          <a:xfrm>
            <a:off x="9784080" y="-594360"/>
            <a:ext cx="3474720" cy="2926080"/>
          </a:xfrm>
          <a:prstGeom prst="ellipse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4" name="stage outline"/>
          <p:cNvSpPr txBox="1"/>
          <p:nvPr/>
        </p:nvSpPr>
        <p:spPr>
          <a:xfrm>
            <a:off x="201168" y="137160"/>
            <a:ext cx="11795760" cy="6583680"/>
          </a:xfrm>
          <a:prstGeom prst="roundRect">
            <a:avLst/>
          </a:prstGeom>
          <a:noFill/>
          <a:ln w="12700">
            <a:solidFill>
              <a:srgbClr val="E9E2D8"/>
            </a:solidFill>
          </a:ln>
        </p:spPr>
      </p:sp>
      <p:sp>
        <p:nvSpPr>
          <p:cNvPr id="5" name="slide number"/>
          <p:cNvSpPr txBox="1"/>
          <p:nvPr/>
        </p:nvSpPr>
        <p:spPr>
          <a:xfrm>
            <a:off x="10698480" y="627278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r"/>
            <a:r>
              <a:rPr lang="en-US" sz="900" b="1">
                <a:solidFill>
                  <a:srgbClr val="586779"/>
                </a:solidFill>
                <a:latin typeface="Aptos"/>
                <a:cs typeface="Aptos"/>
              </a:rPr>
              <a:t>05 / 12</a:t>
            </a:r>
            <a:endParaRPr lang="en-US" sz="900"/>
          </a:p>
        </p:txBody>
      </p:sp>
      <p:sp>
        <p:nvSpPr>
          <p:cNvPr id="6" name="eyebrow pill"/>
          <p:cNvSpPr txBox="1"/>
          <p:nvPr/>
        </p:nvSpPr>
        <p:spPr>
          <a:xfrm>
            <a:off x="658368" y="502920"/>
            <a:ext cx="2697480" cy="32918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7" name="eyebrow dot"/>
          <p:cNvSpPr txBox="1"/>
          <p:nvPr/>
        </p:nvSpPr>
        <p:spPr>
          <a:xfrm>
            <a:off x="768096" y="612648"/>
            <a:ext cx="100584" cy="100584"/>
          </a:xfrm>
          <a:prstGeom prst="ellipse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8" name="eyebrow text"/>
          <p:cNvSpPr txBox="1"/>
          <p:nvPr/>
        </p:nvSpPr>
        <p:spPr>
          <a:xfrm>
            <a:off x="969264" y="589788"/>
            <a:ext cx="2295144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830" b="1">
                <a:solidFill>
                  <a:srgbClr val="586779"/>
                </a:solidFill>
                <a:latin typeface="Aptos"/>
                <a:cs typeface="Aptos"/>
              </a:rPr>
              <a:t>CORE PRODUCT</a:t>
            </a:r>
            <a:endParaRPr lang="en-US" sz="830"/>
          </a:p>
        </p:txBody>
      </p:sp>
      <p:sp>
        <p:nvSpPr>
          <p:cNvPr id="9" name="title"/>
          <p:cNvSpPr txBox="1"/>
          <p:nvPr/>
        </p:nvSpPr>
        <p:spPr>
          <a:xfrm>
            <a:off x="658368" y="914400"/>
            <a:ext cx="6035040" cy="1060704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3700" b="1">
                <a:solidFill>
                  <a:srgbClr val="102133"/>
                </a:solidFill>
                <a:latin typeface="Aptos"/>
                <a:cs typeface="Aptos"/>
              </a:rPr>
              <a:t>What ToolShare</a:t>
            </a:r>
            <a:endParaRPr lang="en-US" sz="3700"/>
          </a:p>
          <a:p>
            <a:pPr algn="l"/>
            <a:r>
              <a:rPr lang="en-US" sz="3700" b="1">
                <a:solidFill>
                  <a:srgbClr val="102133"/>
                </a:solidFill>
                <a:latin typeface="Aptos"/>
                <a:cs typeface="Aptos"/>
              </a:rPr>
              <a:t>actually delivers</a:t>
            </a:r>
            <a:endParaRPr lang="en-US" sz="3700"/>
          </a:p>
        </p:txBody>
      </p:sp>
      <p:sp>
        <p:nvSpPr>
          <p:cNvPr id="10" name="mini"/>
          <p:cNvSpPr txBox="1"/>
          <p:nvPr/>
        </p:nvSpPr>
        <p:spPr>
          <a:xfrm>
            <a:off x="713232" y="2121408"/>
            <a:ext cx="3246120" cy="1243584"/>
          </a:xfrm>
          <a:prstGeom prst="roundRect">
            <a:avLst/>
          </a:prstGeom>
          <a:solidFill>
            <a:srgbClr val="EAF3F6"/>
          </a:solidFill>
          <a:ln w="12700">
            <a:solidFill>
              <a:srgbClr val="DCD7CE"/>
            </a:solidFill>
          </a:ln>
        </p:spPr>
      </p:sp>
      <p:sp>
        <p:nvSpPr>
          <p:cNvPr id="11" name="mini head"/>
          <p:cNvSpPr txBox="1"/>
          <p:nvPr/>
        </p:nvSpPr>
        <p:spPr>
          <a:xfrm>
            <a:off x="859536" y="2240279"/>
            <a:ext cx="295351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150" b="1">
                <a:solidFill>
                  <a:srgbClr val="102133"/>
                </a:solidFill>
                <a:latin typeface="Aptos"/>
                <a:cs typeface="Aptos"/>
              </a:rPr>
              <a:t>Marketplace</a:t>
            </a:r>
            <a:endParaRPr lang="en-US" sz="1150"/>
          </a:p>
        </p:txBody>
      </p:sp>
      <p:sp>
        <p:nvSpPr>
          <p:cNvPr id="12" name="mini txt"/>
          <p:cNvSpPr txBox="1"/>
          <p:nvPr/>
        </p:nvSpPr>
        <p:spPr>
          <a:xfrm>
            <a:off x="859536" y="2532888"/>
            <a:ext cx="2953512" cy="768096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930">
                <a:solidFill>
                  <a:srgbClr val="586779"/>
                </a:solidFill>
                <a:latin typeface="Aptos"/>
                <a:cs typeface="Aptos"/>
              </a:rPr>
              <a:t>Owner listings and renter discovery through tool details.</a:t>
            </a:r>
            <a:endParaRPr lang="en-US" sz="930"/>
          </a:p>
        </p:txBody>
      </p:sp>
      <p:sp>
        <p:nvSpPr>
          <p:cNvPr id="13" name="mini"/>
          <p:cNvSpPr txBox="1"/>
          <p:nvPr/>
        </p:nvSpPr>
        <p:spPr>
          <a:xfrm>
            <a:off x="4407408" y="2121408"/>
            <a:ext cx="3246120" cy="1243584"/>
          </a:xfrm>
          <a:prstGeom prst="roundRect">
            <a:avLst/>
          </a:prstGeom>
          <a:solidFill>
            <a:srgbClr val="EAF7F1"/>
          </a:solidFill>
          <a:ln w="12700">
            <a:solidFill>
              <a:srgbClr val="DCD7CE"/>
            </a:solidFill>
          </a:ln>
        </p:spPr>
      </p:sp>
      <p:sp>
        <p:nvSpPr>
          <p:cNvPr id="14" name="mini head"/>
          <p:cNvSpPr txBox="1"/>
          <p:nvPr/>
        </p:nvSpPr>
        <p:spPr>
          <a:xfrm>
            <a:off x="4553712" y="2240279"/>
            <a:ext cx="295351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150" b="1">
                <a:solidFill>
                  <a:srgbClr val="102133"/>
                </a:solidFill>
                <a:latin typeface="Aptos"/>
                <a:cs typeface="Aptos"/>
              </a:rPr>
              <a:t>Bookings</a:t>
            </a:r>
            <a:endParaRPr lang="en-US" sz="1150"/>
          </a:p>
        </p:txBody>
      </p:sp>
      <p:sp>
        <p:nvSpPr>
          <p:cNvPr id="15" name="mini txt"/>
          <p:cNvSpPr txBox="1"/>
          <p:nvPr/>
        </p:nvSpPr>
        <p:spPr>
          <a:xfrm>
            <a:off x="4553712" y="2532888"/>
            <a:ext cx="2953512" cy="768096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930">
                <a:solidFill>
                  <a:srgbClr val="586779"/>
                </a:solidFill>
                <a:latin typeface="Aptos"/>
                <a:cs typeface="Aptos"/>
              </a:rPr>
              <a:t>Requests, dates, active rentals, extensions, and returns.</a:t>
            </a:r>
            <a:endParaRPr lang="en-US" sz="930"/>
          </a:p>
        </p:txBody>
      </p:sp>
      <p:sp>
        <p:nvSpPr>
          <p:cNvPr id="16" name="mini"/>
          <p:cNvSpPr txBox="1"/>
          <p:nvPr/>
        </p:nvSpPr>
        <p:spPr>
          <a:xfrm>
            <a:off x="8101583" y="2121408"/>
            <a:ext cx="3246120" cy="1243584"/>
          </a:xfrm>
          <a:prstGeom prst="roundRect">
            <a:avLst/>
          </a:prstGeom>
          <a:solidFill>
            <a:srgbClr val="FFF0EA"/>
          </a:solidFill>
          <a:ln w="12700">
            <a:solidFill>
              <a:srgbClr val="DCD7CE"/>
            </a:solidFill>
          </a:ln>
        </p:spPr>
      </p:sp>
      <p:sp>
        <p:nvSpPr>
          <p:cNvPr id="17" name="mini head"/>
          <p:cNvSpPr txBox="1"/>
          <p:nvPr/>
        </p:nvSpPr>
        <p:spPr>
          <a:xfrm>
            <a:off x="8247888" y="2240279"/>
            <a:ext cx="295351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150" b="1">
                <a:solidFill>
                  <a:srgbClr val="102133"/>
                </a:solidFill>
                <a:latin typeface="Aptos"/>
                <a:cs typeface="Aptos"/>
              </a:rPr>
              <a:t>Payments</a:t>
            </a:r>
            <a:endParaRPr lang="en-US" sz="1150"/>
          </a:p>
        </p:txBody>
      </p:sp>
      <p:sp>
        <p:nvSpPr>
          <p:cNvPr id="18" name="mini txt"/>
          <p:cNvSpPr txBox="1"/>
          <p:nvPr/>
        </p:nvSpPr>
        <p:spPr>
          <a:xfrm>
            <a:off x="8247888" y="2532888"/>
            <a:ext cx="2953512" cy="768096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930">
                <a:solidFill>
                  <a:srgbClr val="586779"/>
                </a:solidFill>
                <a:latin typeface="Aptos"/>
                <a:cs typeface="Aptos"/>
              </a:rPr>
              <a:t>Checkout, deposits, receipts, owner statements, admin revenue.</a:t>
            </a:r>
            <a:endParaRPr lang="en-US" sz="930"/>
          </a:p>
        </p:txBody>
      </p:sp>
      <p:sp>
        <p:nvSpPr>
          <p:cNvPr id="19" name="mini"/>
          <p:cNvSpPr txBox="1"/>
          <p:nvPr/>
        </p:nvSpPr>
        <p:spPr>
          <a:xfrm>
            <a:off x="713232" y="3694176"/>
            <a:ext cx="3246120" cy="1243584"/>
          </a:xfrm>
          <a:prstGeom prst="roundRect">
            <a:avLst/>
          </a:prstGeom>
          <a:solidFill>
            <a:srgbClr val="FFF7DD"/>
          </a:solidFill>
          <a:ln w="12700">
            <a:solidFill>
              <a:srgbClr val="DCD7CE"/>
            </a:solidFill>
          </a:ln>
        </p:spPr>
      </p:sp>
      <p:sp>
        <p:nvSpPr>
          <p:cNvPr id="20" name="mini head"/>
          <p:cNvSpPr txBox="1"/>
          <p:nvPr/>
        </p:nvSpPr>
        <p:spPr>
          <a:xfrm>
            <a:off x="859536" y="3813048"/>
            <a:ext cx="295351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150" b="1">
                <a:solidFill>
                  <a:srgbClr val="102133"/>
                </a:solidFill>
                <a:latin typeface="Aptos"/>
                <a:cs typeface="Aptos"/>
              </a:rPr>
              <a:t>Email</a:t>
            </a:r>
            <a:endParaRPr lang="en-US" sz="1150"/>
          </a:p>
        </p:txBody>
      </p:sp>
      <p:sp>
        <p:nvSpPr>
          <p:cNvPr id="21" name="mini txt"/>
          <p:cNvSpPr txBox="1"/>
          <p:nvPr/>
        </p:nvSpPr>
        <p:spPr>
          <a:xfrm>
            <a:off x="859536" y="4105656"/>
            <a:ext cx="2953512" cy="768096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930">
                <a:solidFill>
                  <a:srgbClr val="586779"/>
                </a:solidFill>
                <a:latin typeface="Aptos"/>
                <a:cs typeface="Aptos"/>
              </a:rPr>
              <a:t>Verification and password reset through PHPMailer SMTP.</a:t>
            </a:r>
            <a:endParaRPr lang="en-US" sz="930"/>
          </a:p>
        </p:txBody>
      </p:sp>
      <p:sp>
        <p:nvSpPr>
          <p:cNvPr id="22" name="mini"/>
          <p:cNvSpPr txBox="1"/>
          <p:nvPr/>
        </p:nvSpPr>
        <p:spPr>
          <a:xfrm>
            <a:off x="4407408" y="3694176"/>
            <a:ext cx="3246120" cy="124358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23" name="mini head"/>
          <p:cNvSpPr txBox="1"/>
          <p:nvPr/>
        </p:nvSpPr>
        <p:spPr>
          <a:xfrm>
            <a:off x="4553712" y="3813048"/>
            <a:ext cx="295351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150" b="1">
                <a:solidFill>
                  <a:srgbClr val="102133"/>
                </a:solidFill>
                <a:latin typeface="Aptos"/>
                <a:cs typeface="Aptos"/>
              </a:rPr>
              <a:t>Trust</a:t>
            </a:r>
            <a:endParaRPr lang="en-US" sz="1150"/>
          </a:p>
        </p:txBody>
      </p:sp>
      <p:sp>
        <p:nvSpPr>
          <p:cNvPr id="24" name="mini txt"/>
          <p:cNvSpPr txBox="1"/>
          <p:nvPr/>
        </p:nvSpPr>
        <p:spPr>
          <a:xfrm>
            <a:off x="4553712" y="4105656"/>
            <a:ext cx="2953512" cy="768096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930">
                <a:solidFill>
                  <a:srgbClr val="586779"/>
                </a:solidFill>
                <a:latin typeface="Aptos"/>
                <a:cs typeface="Aptos"/>
              </a:rPr>
              <a:t>Reviews, disputes, support, notifications, moderation.</a:t>
            </a:r>
            <a:endParaRPr lang="en-US" sz="930"/>
          </a:p>
        </p:txBody>
      </p:sp>
      <p:sp>
        <p:nvSpPr>
          <p:cNvPr id="25" name="mini"/>
          <p:cNvSpPr txBox="1"/>
          <p:nvPr/>
        </p:nvSpPr>
        <p:spPr>
          <a:xfrm>
            <a:off x="8101583" y="3694176"/>
            <a:ext cx="3246120" cy="1243584"/>
          </a:xfrm>
          <a:prstGeom prst="roundRect">
            <a:avLst/>
          </a:prstGeom>
          <a:solidFill>
            <a:srgbClr val="F1F0FF"/>
          </a:solidFill>
          <a:ln w="12700">
            <a:solidFill>
              <a:srgbClr val="DCD7CE"/>
            </a:solidFill>
          </a:ln>
        </p:spPr>
      </p:sp>
      <p:sp>
        <p:nvSpPr>
          <p:cNvPr id="26" name="mini head"/>
          <p:cNvSpPr txBox="1"/>
          <p:nvPr/>
        </p:nvSpPr>
        <p:spPr>
          <a:xfrm>
            <a:off x="8247888" y="3813048"/>
            <a:ext cx="295351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150" b="1">
                <a:solidFill>
                  <a:srgbClr val="102133"/>
                </a:solidFill>
                <a:latin typeface="Aptos"/>
                <a:cs typeface="Aptos"/>
              </a:rPr>
              <a:t>Dashboards</a:t>
            </a:r>
            <a:endParaRPr lang="en-US" sz="1150"/>
          </a:p>
        </p:txBody>
      </p:sp>
      <p:sp>
        <p:nvSpPr>
          <p:cNvPr id="27" name="mini txt"/>
          <p:cNvSpPr txBox="1"/>
          <p:nvPr/>
        </p:nvSpPr>
        <p:spPr>
          <a:xfrm>
            <a:off x="8247888" y="4105656"/>
            <a:ext cx="2953512" cy="768096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930">
                <a:solidFill>
                  <a:srgbClr val="586779"/>
                </a:solidFill>
                <a:latin typeface="Aptos"/>
                <a:cs typeface="Aptos"/>
              </a:rPr>
              <a:t>Separate next actions for renter, owner, and admin.</a:t>
            </a:r>
            <a:endParaRPr lang="en-US" sz="930"/>
          </a:p>
        </p:txBody>
      </p:sp>
      <p:sp>
        <p:nvSpPr>
          <p:cNvPr id="28" name="footer line"/>
          <p:cNvSpPr txBox="1"/>
          <p:nvPr/>
        </p:nvSpPr>
        <p:spPr>
          <a:xfrm>
            <a:off x="658368" y="6108192"/>
            <a:ext cx="10881360" cy="9144"/>
          </a:xfrm>
          <a:prstGeom prst="rect">
            <a:avLst/>
          </a:prstGeom>
          <a:solidFill>
            <a:srgbClr val="DCD7CE"/>
          </a:solidFill>
          <a:ln>
            <a:noFill/>
          </a:ln>
        </p:spPr>
      </p:sp>
      <p:sp>
        <p:nvSpPr>
          <p:cNvPr id="29" name="footer left"/>
          <p:cNvSpPr txBox="1"/>
          <p:nvPr/>
        </p:nvSpPr>
        <p:spPr>
          <a:xfrm>
            <a:off x="658368" y="627278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850">
                <a:solidFill>
                  <a:srgbClr val="586779"/>
                </a:solidFill>
                <a:latin typeface="Aptos"/>
                <a:cs typeface="Aptos"/>
              </a:rPr>
              <a:t>Product depth</a:t>
            </a:r>
            <a:endParaRPr lang="en-US" sz="850"/>
          </a:p>
        </p:txBody>
      </p:sp>
      <p:sp>
        <p:nvSpPr>
          <p:cNvPr id="30" name="footer right"/>
          <p:cNvSpPr txBox="1"/>
          <p:nvPr/>
        </p:nvSpPr>
        <p:spPr>
          <a:xfrm>
            <a:off x="7498079" y="6272784"/>
            <a:ext cx="404164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r"/>
            <a:r>
              <a:rPr lang="en-US" sz="850" b="1">
                <a:solidFill>
                  <a:srgbClr val="586779"/>
                </a:solidFill>
                <a:latin typeface="Aptos"/>
                <a:cs typeface="Aptos"/>
              </a:rPr>
              <a:t>Beyond basic CRUD</a:t>
            </a:r>
            <a:endParaRPr lang="en-US" sz="8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wash left"/>
          <p:cNvSpPr txBox="1"/>
          <p:nvPr/>
        </p:nvSpPr>
        <p:spPr>
          <a:xfrm>
            <a:off x="-914400" y="-731520"/>
            <a:ext cx="3566160" cy="3566160"/>
          </a:xfrm>
          <a:prstGeom prst="ellipse">
            <a:avLst/>
          </a:prstGeom>
          <a:solidFill>
            <a:srgbClr val="EAF3F6"/>
          </a:solidFill>
          <a:ln>
            <a:noFill/>
          </a:ln>
        </p:spPr>
      </p:sp>
      <p:sp>
        <p:nvSpPr>
          <p:cNvPr id="3" name="accent wash right"/>
          <p:cNvSpPr txBox="1"/>
          <p:nvPr/>
        </p:nvSpPr>
        <p:spPr>
          <a:xfrm>
            <a:off x="9784080" y="-594360"/>
            <a:ext cx="3474720" cy="2926080"/>
          </a:xfrm>
          <a:prstGeom prst="ellipse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4" name="stage outline"/>
          <p:cNvSpPr txBox="1"/>
          <p:nvPr/>
        </p:nvSpPr>
        <p:spPr>
          <a:xfrm>
            <a:off x="201168" y="137160"/>
            <a:ext cx="11795760" cy="6583680"/>
          </a:xfrm>
          <a:prstGeom prst="roundRect">
            <a:avLst/>
          </a:prstGeom>
          <a:noFill/>
          <a:ln w="12700">
            <a:solidFill>
              <a:srgbClr val="E9E2D8"/>
            </a:solidFill>
          </a:ln>
        </p:spPr>
      </p:sp>
      <p:sp>
        <p:nvSpPr>
          <p:cNvPr id="5" name="slide number"/>
          <p:cNvSpPr txBox="1"/>
          <p:nvPr/>
        </p:nvSpPr>
        <p:spPr>
          <a:xfrm>
            <a:off x="10698480" y="627278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r"/>
            <a:r>
              <a:rPr lang="en-US" sz="900" b="1">
                <a:solidFill>
                  <a:srgbClr val="586779"/>
                </a:solidFill>
                <a:latin typeface="Aptos"/>
                <a:cs typeface="Aptos"/>
              </a:rPr>
              <a:t>06 / 12</a:t>
            </a:r>
            <a:endParaRPr lang="en-US" sz="900"/>
          </a:p>
        </p:txBody>
      </p:sp>
      <p:sp>
        <p:nvSpPr>
          <p:cNvPr id="6" name="eyebrow pill"/>
          <p:cNvSpPr txBox="1"/>
          <p:nvPr/>
        </p:nvSpPr>
        <p:spPr>
          <a:xfrm>
            <a:off x="658368" y="502920"/>
            <a:ext cx="2697480" cy="32918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7" name="eyebrow dot"/>
          <p:cNvSpPr txBox="1"/>
          <p:nvPr/>
        </p:nvSpPr>
        <p:spPr>
          <a:xfrm>
            <a:off x="768096" y="612648"/>
            <a:ext cx="100584" cy="100584"/>
          </a:xfrm>
          <a:prstGeom prst="ellipse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8" name="eyebrow text"/>
          <p:cNvSpPr txBox="1"/>
          <p:nvPr/>
        </p:nvSpPr>
        <p:spPr>
          <a:xfrm>
            <a:off x="969264" y="589788"/>
            <a:ext cx="2295144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830" b="1">
                <a:solidFill>
                  <a:srgbClr val="586779"/>
                </a:solidFill>
                <a:latin typeface="Aptos"/>
                <a:cs typeface="Aptos"/>
              </a:rPr>
              <a:t>RENTER JOURNEY</a:t>
            </a:r>
            <a:endParaRPr lang="en-US" sz="830"/>
          </a:p>
        </p:txBody>
      </p:sp>
      <p:sp>
        <p:nvSpPr>
          <p:cNvPr id="9" name="title"/>
          <p:cNvSpPr txBox="1"/>
          <p:nvPr/>
        </p:nvSpPr>
        <p:spPr>
          <a:xfrm>
            <a:off x="658368" y="896112"/>
            <a:ext cx="4937760" cy="1060704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4000" b="1">
                <a:solidFill>
                  <a:srgbClr val="102133"/>
                </a:solidFill>
                <a:latin typeface="Aptos"/>
                <a:cs typeface="Aptos"/>
              </a:rPr>
              <a:t>From request</a:t>
            </a:r>
            <a:endParaRPr lang="en-US" sz="4000"/>
          </a:p>
          <a:p>
            <a:pPr algn="l"/>
            <a:r>
              <a:rPr lang="en-US" sz="4000" b="1">
                <a:solidFill>
                  <a:srgbClr val="102133"/>
                </a:solidFill>
                <a:latin typeface="Aptos"/>
                <a:cs typeface="Aptos"/>
              </a:rPr>
              <a:t>to return</a:t>
            </a:r>
            <a:endParaRPr lang="en-US" sz="4000"/>
          </a:p>
        </p:txBody>
      </p:sp>
      <p:sp>
        <p:nvSpPr>
          <p:cNvPr id="10" name="body"/>
          <p:cNvSpPr txBox="1"/>
          <p:nvPr/>
        </p:nvSpPr>
        <p:spPr>
          <a:xfrm>
            <a:off x="713232" y="2121408"/>
            <a:ext cx="46634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400">
                <a:solidFill>
                  <a:srgbClr val="586779"/>
                </a:solidFill>
                <a:latin typeface="Aptos"/>
                <a:cs typeface="Aptos"/>
              </a:rPr>
              <a:t>The lifecycle gives the project a real rental workflow: request, payment, pickup, active rental, return, and review or dispute.</a:t>
            </a:r>
            <a:endParaRPr lang="en-US" sz="1400"/>
          </a:p>
        </p:txBody>
      </p:sp>
      <p:sp>
        <p:nvSpPr>
          <p:cNvPr id="11" name="journey step"/>
          <p:cNvSpPr txBox="1"/>
          <p:nvPr/>
        </p:nvSpPr>
        <p:spPr>
          <a:xfrm>
            <a:off x="749808" y="3273552"/>
            <a:ext cx="1444752" cy="14173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12" name="journey node"/>
          <p:cNvSpPr txBox="1"/>
          <p:nvPr/>
        </p:nvSpPr>
        <p:spPr>
          <a:xfrm>
            <a:off x="914400" y="3493008"/>
            <a:ext cx="310896" cy="310896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900" b="1">
                <a:solidFill>
                  <a:srgbClr val="FFFFFF"/>
                </a:solidFill>
                <a:latin typeface="Aptos"/>
                <a:cs typeface="Aptos"/>
              </a:rPr>
              <a:t>1</a:t>
            </a:r>
            <a:endParaRPr lang="en-US" sz="900"/>
          </a:p>
        </p:txBody>
      </p:sp>
      <p:sp>
        <p:nvSpPr>
          <p:cNvPr id="13" name="body"/>
          <p:cNvSpPr txBox="1"/>
          <p:nvPr/>
        </p:nvSpPr>
        <p:spPr>
          <a:xfrm>
            <a:off x="914400" y="3950208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150" b="1">
                <a:solidFill>
                  <a:srgbClr val="102133"/>
                </a:solidFill>
                <a:latin typeface="Aptos"/>
                <a:cs typeface="Aptos"/>
              </a:rPr>
              <a:t>Browse</a:t>
            </a:r>
            <a:endParaRPr lang="en-US" sz="1150"/>
          </a:p>
        </p:txBody>
      </p:sp>
      <p:sp>
        <p:nvSpPr>
          <p:cNvPr id="14" name="body"/>
          <p:cNvSpPr txBox="1"/>
          <p:nvPr/>
        </p:nvSpPr>
        <p:spPr>
          <a:xfrm>
            <a:off x="914400" y="4224528"/>
            <a:ext cx="1042415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860">
                <a:solidFill>
                  <a:srgbClr val="586779"/>
                </a:solidFill>
                <a:latin typeface="Aptos"/>
                <a:cs typeface="Aptos"/>
              </a:rPr>
              <a:t>Find a tool</a:t>
            </a:r>
            <a:endParaRPr lang="en-US" sz="860"/>
          </a:p>
        </p:txBody>
      </p:sp>
      <p:sp>
        <p:nvSpPr>
          <p:cNvPr id="15" name="joiner"/>
          <p:cNvSpPr txBox="1"/>
          <p:nvPr/>
        </p:nvSpPr>
        <p:spPr>
          <a:xfrm>
            <a:off x="2194560" y="3968496"/>
            <a:ext cx="347472" cy="32004"/>
          </a:xfrm>
          <a:prstGeom prst="rect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16" name="journey step"/>
          <p:cNvSpPr txBox="1"/>
          <p:nvPr/>
        </p:nvSpPr>
        <p:spPr>
          <a:xfrm>
            <a:off x="2596896" y="3273552"/>
            <a:ext cx="1444752" cy="14173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17" name="journey node"/>
          <p:cNvSpPr txBox="1"/>
          <p:nvPr/>
        </p:nvSpPr>
        <p:spPr>
          <a:xfrm>
            <a:off x="2761488" y="3493008"/>
            <a:ext cx="310896" cy="310896"/>
          </a:xfrm>
          <a:prstGeom prst="ellipse">
            <a:avLst/>
          </a:prstGeom>
          <a:solidFill>
            <a:srgbClr val="FF8F62"/>
          </a:solidFill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900" b="1">
                <a:solidFill>
                  <a:srgbClr val="FFFFFF"/>
                </a:solidFill>
                <a:latin typeface="Aptos"/>
                <a:cs typeface="Aptos"/>
              </a:rPr>
              <a:t>2</a:t>
            </a:r>
            <a:endParaRPr lang="en-US" sz="900"/>
          </a:p>
        </p:txBody>
      </p:sp>
      <p:sp>
        <p:nvSpPr>
          <p:cNvPr id="18" name="body"/>
          <p:cNvSpPr txBox="1"/>
          <p:nvPr/>
        </p:nvSpPr>
        <p:spPr>
          <a:xfrm>
            <a:off x="2761488" y="3950208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150" b="1">
                <a:solidFill>
                  <a:srgbClr val="102133"/>
                </a:solidFill>
                <a:latin typeface="Aptos"/>
                <a:cs typeface="Aptos"/>
              </a:rPr>
              <a:t>Request</a:t>
            </a:r>
            <a:endParaRPr lang="en-US" sz="1150"/>
          </a:p>
        </p:txBody>
      </p:sp>
      <p:sp>
        <p:nvSpPr>
          <p:cNvPr id="19" name="body"/>
          <p:cNvSpPr txBox="1"/>
          <p:nvPr/>
        </p:nvSpPr>
        <p:spPr>
          <a:xfrm>
            <a:off x="2761488" y="4224528"/>
            <a:ext cx="1042415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860">
                <a:solidFill>
                  <a:srgbClr val="586779"/>
                </a:solidFill>
                <a:latin typeface="Aptos"/>
                <a:cs typeface="Aptos"/>
              </a:rPr>
              <a:t>Choose dates</a:t>
            </a:r>
            <a:endParaRPr lang="en-US" sz="860"/>
          </a:p>
        </p:txBody>
      </p:sp>
      <p:sp>
        <p:nvSpPr>
          <p:cNvPr id="20" name="joiner"/>
          <p:cNvSpPr txBox="1"/>
          <p:nvPr/>
        </p:nvSpPr>
        <p:spPr>
          <a:xfrm>
            <a:off x="4041648" y="3968496"/>
            <a:ext cx="347472" cy="32004"/>
          </a:xfrm>
          <a:prstGeom prst="rect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21" name="journey step"/>
          <p:cNvSpPr txBox="1"/>
          <p:nvPr/>
        </p:nvSpPr>
        <p:spPr>
          <a:xfrm>
            <a:off x="4443984" y="3273552"/>
            <a:ext cx="1444752" cy="14173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22" name="journey node"/>
          <p:cNvSpPr txBox="1"/>
          <p:nvPr/>
        </p:nvSpPr>
        <p:spPr>
          <a:xfrm>
            <a:off x="4608576" y="3493008"/>
            <a:ext cx="310896" cy="310896"/>
          </a:xfrm>
          <a:prstGeom prst="ellipse">
            <a:avLst/>
          </a:prstGeom>
          <a:solidFill>
            <a:srgbClr val="F0C45D"/>
          </a:solidFill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900" b="1">
                <a:solidFill>
                  <a:srgbClr val="FFFFFF"/>
                </a:solidFill>
                <a:latin typeface="Aptos"/>
                <a:cs typeface="Aptos"/>
              </a:rPr>
              <a:t>3</a:t>
            </a:r>
            <a:endParaRPr lang="en-US" sz="900"/>
          </a:p>
        </p:txBody>
      </p:sp>
      <p:sp>
        <p:nvSpPr>
          <p:cNvPr id="23" name="body"/>
          <p:cNvSpPr txBox="1"/>
          <p:nvPr/>
        </p:nvSpPr>
        <p:spPr>
          <a:xfrm>
            <a:off x="4608576" y="3950208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150" b="1">
                <a:solidFill>
                  <a:srgbClr val="102133"/>
                </a:solidFill>
                <a:latin typeface="Aptos"/>
                <a:cs typeface="Aptos"/>
              </a:rPr>
              <a:t>Pay</a:t>
            </a:r>
            <a:endParaRPr lang="en-US" sz="1150"/>
          </a:p>
        </p:txBody>
      </p:sp>
      <p:sp>
        <p:nvSpPr>
          <p:cNvPr id="24" name="body"/>
          <p:cNvSpPr txBox="1"/>
          <p:nvPr/>
        </p:nvSpPr>
        <p:spPr>
          <a:xfrm>
            <a:off x="4608576" y="4224528"/>
            <a:ext cx="1042415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860">
                <a:solidFill>
                  <a:srgbClr val="586779"/>
                </a:solidFill>
                <a:latin typeface="Aptos"/>
                <a:cs typeface="Aptos"/>
              </a:rPr>
              <a:t>Checkout/deposit</a:t>
            </a:r>
            <a:endParaRPr lang="en-US" sz="860"/>
          </a:p>
        </p:txBody>
      </p:sp>
      <p:sp>
        <p:nvSpPr>
          <p:cNvPr id="25" name="joiner"/>
          <p:cNvSpPr txBox="1"/>
          <p:nvPr/>
        </p:nvSpPr>
        <p:spPr>
          <a:xfrm>
            <a:off x="5888736" y="3968496"/>
            <a:ext cx="347472" cy="32004"/>
          </a:xfrm>
          <a:prstGeom prst="rect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26" name="journey step"/>
          <p:cNvSpPr txBox="1"/>
          <p:nvPr/>
        </p:nvSpPr>
        <p:spPr>
          <a:xfrm>
            <a:off x="6291072" y="3273552"/>
            <a:ext cx="1444752" cy="14173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27" name="journey node"/>
          <p:cNvSpPr txBox="1"/>
          <p:nvPr/>
        </p:nvSpPr>
        <p:spPr>
          <a:xfrm>
            <a:off x="6455664" y="3493008"/>
            <a:ext cx="310896" cy="310896"/>
          </a:xfrm>
          <a:prstGeom prst="ellipse">
            <a:avLst/>
          </a:prstGeom>
          <a:solidFill>
            <a:srgbClr val="14B87A"/>
          </a:solidFill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900" b="1">
                <a:solidFill>
                  <a:srgbClr val="FFFFFF"/>
                </a:solidFill>
                <a:latin typeface="Aptos"/>
                <a:cs typeface="Aptos"/>
              </a:rPr>
              <a:t>4</a:t>
            </a:r>
            <a:endParaRPr lang="en-US" sz="900"/>
          </a:p>
        </p:txBody>
      </p:sp>
      <p:sp>
        <p:nvSpPr>
          <p:cNvPr id="28" name="body"/>
          <p:cNvSpPr txBox="1"/>
          <p:nvPr/>
        </p:nvSpPr>
        <p:spPr>
          <a:xfrm>
            <a:off x="6455664" y="3950208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150" b="1">
                <a:solidFill>
                  <a:srgbClr val="102133"/>
                </a:solidFill>
                <a:latin typeface="Aptos"/>
                <a:cs typeface="Aptos"/>
              </a:rPr>
              <a:t>Pickup</a:t>
            </a:r>
            <a:endParaRPr lang="en-US" sz="1150"/>
          </a:p>
        </p:txBody>
      </p:sp>
      <p:sp>
        <p:nvSpPr>
          <p:cNvPr id="29" name="body"/>
          <p:cNvSpPr txBox="1"/>
          <p:nvPr/>
        </p:nvSpPr>
        <p:spPr>
          <a:xfrm>
            <a:off x="6455664" y="4224528"/>
            <a:ext cx="1042415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860">
                <a:solidFill>
                  <a:srgbClr val="586779"/>
                </a:solidFill>
                <a:latin typeface="Aptos"/>
                <a:cs typeface="Aptos"/>
              </a:rPr>
              <a:t>Start rental</a:t>
            </a:r>
            <a:endParaRPr lang="en-US" sz="860"/>
          </a:p>
        </p:txBody>
      </p:sp>
      <p:sp>
        <p:nvSpPr>
          <p:cNvPr id="30" name="joiner"/>
          <p:cNvSpPr txBox="1"/>
          <p:nvPr/>
        </p:nvSpPr>
        <p:spPr>
          <a:xfrm>
            <a:off x="7735824" y="3968496"/>
            <a:ext cx="347472" cy="32004"/>
          </a:xfrm>
          <a:prstGeom prst="rect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31" name="journey step"/>
          <p:cNvSpPr txBox="1"/>
          <p:nvPr/>
        </p:nvSpPr>
        <p:spPr>
          <a:xfrm>
            <a:off x="8138160" y="3273552"/>
            <a:ext cx="1444752" cy="14173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32" name="journey node"/>
          <p:cNvSpPr txBox="1"/>
          <p:nvPr/>
        </p:nvSpPr>
        <p:spPr>
          <a:xfrm>
            <a:off x="8302752" y="3493008"/>
            <a:ext cx="310896" cy="310896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900" b="1">
                <a:solidFill>
                  <a:srgbClr val="FFFFFF"/>
                </a:solidFill>
                <a:latin typeface="Aptos"/>
                <a:cs typeface="Aptos"/>
              </a:rPr>
              <a:t>5</a:t>
            </a:r>
            <a:endParaRPr lang="en-US" sz="900"/>
          </a:p>
        </p:txBody>
      </p:sp>
      <p:sp>
        <p:nvSpPr>
          <p:cNvPr id="33" name="body"/>
          <p:cNvSpPr txBox="1"/>
          <p:nvPr/>
        </p:nvSpPr>
        <p:spPr>
          <a:xfrm>
            <a:off x="8302752" y="3950208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150" b="1">
                <a:solidFill>
                  <a:srgbClr val="102133"/>
                </a:solidFill>
                <a:latin typeface="Aptos"/>
                <a:cs typeface="Aptos"/>
              </a:rPr>
              <a:t>Return</a:t>
            </a:r>
            <a:endParaRPr lang="en-US" sz="1150"/>
          </a:p>
        </p:txBody>
      </p:sp>
      <p:sp>
        <p:nvSpPr>
          <p:cNvPr id="34" name="body"/>
          <p:cNvSpPr txBox="1"/>
          <p:nvPr/>
        </p:nvSpPr>
        <p:spPr>
          <a:xfrm>
            <a:off x="8302752" y="4224528"/>
            <a:ext cx="1042415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860">
                <a:solidFill>
                  <a:srgbClr val="586779"/>
                </a:solidFill>
                <a:latin typeface="Aptos"/>
                <a:cs typeface="Aptos"/>
              </a:rPr>
              <a:t>Confirm drop-off</a:t>
            </a:r>
            <a:endParaRPr lang="en-US" sz="860"/>
          </a:p>
        </p:txBody>
      </p:sp>
      <p:sp>
        <p:nvSpPr>
          <p:cNvPr id="35" name="joiner"/>
          <p:cNvSpPr txBox="1"/>
          <p:nvPr/>
        </p:nvSpPr>
        <p:spPr>
          <a:xfrm>
            <a:off x="9582912" y="3968496"/>
            <a:ext cx="347472" cy="32004"/>
          </a:xfrm>
          <a:prstGeom prst="rect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36" name="journey step"/>
          <p:cNvSpPr txBox="1"/>
          <p:nvPr/>
        </p:nvSpPr>
        <p:spPr>
          <a:xfrm>
            <a:off x="9985248" y="3273552"/>
            <a:ext cx="1444752" cy="14173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37" name="journey node"/>
          <p:cNvSpPr txBox="1"/>
          <p:nvPr/>
        </p:nvSpPr>
        <p:spPr>
          <a:xfrm>
            <a:off x="10149840" y="3493008"/>
            <a:ext cx="310896" cy="310896"/>
          </a:xfrm>
          <a:prstGeom prst="ellipse">
            <a:avLst/>
          </a:prstGeom>
          <a:solidFill>
            <a:srgbClr val="FF8F62"/>
          </a:solidFill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900" b="1">
                <a:solidFill>
                  <a:srgbClr val="FFFFFF"/>
                </a:solidFill>
                <a:latin typeface="Aptos"/>
                <a:cs typeface="Aptos"/>
              </a:rPr>
              <a:t>6</a:t>
            </a:r>
            <a:endParaRPr lang="en-US" sz="900"/>
          </a:p>
        </p:txBody>
      </p:sp>
      <p:sp>
        <p:nvSpPr>
          <p:cNvPr id="38" name="body"/>
          <p:cNvSpPr txBox="1"/>
          <p:nvPr/>
        </p:nvSpPr>
        <p:spPr>
          <a:xfrm>
            <a:off x="10149840" y="3950208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150" b="1">
                <a:solidFill>
                  <a:srgbClr val="102133"/>
                </a:solidFill>
                <a:latin typeface="Aptos"/>
                <a:cs typeface="Aptos"/>
              </a:rPr>
              <a:t>Review</a:t>
            </a:r>
            <a:endParaRPr lang="en-US" sz="1150"/>
          </a:p>
        </p:txBody>
      </p:sp>
      <p:sp>
        <p:nvSpPr>
          <p:cNvPr id="39" name="body"/>
          <p:cNvSpPr txBox="1"/>
          <p:nvPr/>
        </p:nvSpPr>
        <p:spPr>
          <a:xfrm>
            <a:off x="10149840" y="4224528"/>
            <a:ext cx="1042415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860">
                <a:solidFill>
                  <a:srgbClr val="586779"/>
                </a:solidFill>
                <a:latin typeface="Aptos"/>
                <a:cs typeface="Aptos"/>
              </a:rPr>
              <a:t>Rate or dispute</a:t>
            </a:r>
            <a:endParaRPr lang="en-US" sz="860"/>
          </a:p>
        </p:txBody>
      </p:sp>
      <p:sp>
        <p:nvSpPr>
          <p:cNvPr id="40" name="journey note"/>
          <p:cNvSpPr txBox="1"/>
          <p:nvPr/>
        </p:nvSpPr>
        <p:spPr>
          <a:xfrm>
            <a:off x="1828800" y="5230368"/>
            <a:ext cx="8595360" cy="420624"/>
          </a:xfrm>
          <a:prstGeom prst="roundRect">
            <a:avLst/>
          </a:prstGeom>
          <a:solidFill>
            <a:srgbClr val="EAF7F1"/>
          </a:solidFill>
          <a:ln w="12700">
            <a:solidFill>
              <a:srgbClr val="DCD7CE"/>
            </a:solidFill>
          </a:ln>
        </p:spPr>
        <p:txBody>
          <a:bodyPr wrap="square" anchor="t" rtlCol="0"/>
          <a:lstStyle/>
          <a:p>
            <a:pPr algn="c"/>
            <a:r>
              <a:rPr lang="en-US" sz="1350" b="1">
                <a:solidFill>
                  <a:srgbClr val="102133"/>
                </a:solidFill>
                <a:latin typeface="Aptos"/>
                <a:cs typeface="Aptos"/>
              </a:rPr>
              <a:t>This makes ToolShare feel like a real rental system, not just a list of tools.</a:t>
            </a:r>
            <a:endParaRPr lang="en-US" sz="1350"/>
          </a:p>
        </p:txBody>
      </p:sp>
      <p:sp>
        <p:nvSpPr>
          <p:cNvPr id="41" name="footer line"/>
          <p:cNvSpPr txBox="1"/>
          <p:nvPr/>
        </p:nvSpPr>
        <p:spPr>
          <a:xfrm>
            <a:off x="658368" y="6108192"/>
            <a:ext cx="10881360" cy="9144"/>
          </a:xfrm>
          <a:prstGeom prst="rect">
            <a:avLst/>
          </a:prstGeom>
          <a:solidFill>
            <a:srgbClr val="DCD7CE"/>
          </a:solidFill>
          <a:ln>
            <a:noFill/>
          </a:ln>
        </p:spPr>
      </p:sp>
      <p:sp>
        <p:nvSpPr>
          <p:cNvPr id="42" name="footer left"/>
          <p:cNvSpPr txBox="1"/>
          <p:nvPr/>
        </p:nvSpPr>
        <p:spPr>
          <a:xfrm>
            <a:off x="658368" y="627278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850">
                <a:solidFill>
                  <a:srgbClr val="586779"/>
                </a:solidFill>
                <a:latin typeface="Aptos"/>
                <a:cs typeface="Aptos"/>
              </a:rPr>
              <a:t>Rental lifecycle</a:t>
            </a:r>
            <a:endParaRPr lang="en-US" sz="850"/>
          </a:p>
        </p:txBody>
      </p:sp>
      <p:sp>
        <p:nvSpPr>
          <p:cNvPr id="43" name="footer right"/>
          <p:cNvSpPr txBox="1"/>
          <p:nvPr/>
        </p:nvSpPr>
        <p:spPr>
          <a:xfrm>
            <a:off x="7498079" y="6272784"/>
            <a:ext cx="404164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r"/>
            <a:r>
              <a:rPr lang="en-US" sz="850" b="1">
                <a:solidFill>
                  <a:srgbClr val="586779"/>
                </a:solidFill>
                <a:latin typeface="Aptos"/>
                <a:cs typeface="Aptos"/>
              </a:rPr>
              <a:t>Request to resolution</a:t>
            </a:r>
            <a:endParaRPr lang="en-US" sz="8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wash left"/>
          <p:cNvSpPr txBox="1"/>
          <p:nvPr/>
        </p:nvSpPr>
        <p:spPr>
          <a:xfrm>
            <a:off x="-914400" y="-731520"/>
            <a:ext cx="3566160" cy="3566160"/>
          </a:xfrm>
          <a:prstGeom prst="ellipse">
            <a:avLst/>
          </a:prstGeom>
          <a:solidFill>
            <a:srgbClr val="EAF3F6"/>
          </a:solidFill>
          <a:ln>
            <a:noFill/>
          </a:ln>
        </p:spPr>
      </p:sp>
      <p:sp>
        <p:nvSpPr>
          <p:cNvPr id="3" name="accent wash right"/>
          <p:cNvSpPr txBox="1"/>
          <p:nvPr/>
        </p:nvSpPr>
        <p:spPr>
          <a:xfrm>
            <a:off x="9784080" y="-594360"/>
            <a:ext cx="3474720" cy="2926080"/>
          </a:xfrm>
          <a:prstGeom prst="ellipse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4" name="stage outline"/>
          <p:cNvSpPr txBox="1"/>
          <p:nvPr/>
        </p:nvSpPr>
        <p:spPr>
          <a:xfrm>
            <a:off x="201168" y="137160"/>
            <a:ext cx="11795760" cy="6583680"/>
          </a:xfrm>
          <a:prstGeom prst="roundRect">
            <a:avLst/>
          </a:prstGeom>
          <a:noFill/>
          <a:ln w="12700">
            <a:solidFill>
              <a:srgbClr val="E9E2D8"/>
            </a:solidFill>
          </a:ln>
        </p:spPr>
      </p:sp>
      <p:sp>
        <p:nvSpPr>
          <p:cNvPr id="5" name="slide number"/>
          <p:cNvSpPr txBox="1"/>
          <p:nvPr/>
        </p:nvSpPr>
        <p:spPr>
          <a:xfrm>
            <a:off x="10698480" y="627278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r"/>
            <a:r>
              <a:rPr lang="en-US" sz="900" b="1">
                <a:solidFill>
                  <a:srgbClr val="586779"/>
                </a:solidFill>
                <a:latin typeface="Aptos"/>
                <a:cs typeface="Aptos"/>
              </a:rPr>
              <a:t>07 / 12</a:t>
            </a:r>
            <a:endParaRPr lang="en-US" sz="900"/>
          </a:p>
        </p:txBody>
      </p:sp>
      <p:sp>
        <p:nvSpPr>
          <p:cNvPr id="6" name="eyebrow pill"/>
          <p:cNvSpPr txBox="1"/>
          <p:nvPr/>
        </p:nvSpPr>
        <p:spPr>
          <a:xfrm>
            <a:off x="658368" y="502920"/>
            <a:ext cx="2697480" cy="32918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7" name="eyebrow dot"/>
          <p:cNvSpPr txBox="1"/>
          <p:nvPr/>
        </p:nvSpPr>
        <p:spPr>
          <a:xfrm>
            <a:off x="768096" y="612648"/>
            <a:ext cx="100584" cy="100584"/>
          </a:xfrm>
          <a:prstGeom prst="ellipse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8" name="eyebrow text"/>
          <p:cNvSpPr txBox="1"/>
          <p:nvPr/>
        </p:nvSpPr>
        <p:spPr>
          <a:xfrm>
            <a:off x="969264" y="589788"/>
            <a:ext cx="2295144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830" b="1">
                <a:solidFill>
                  <a:srgbClr val="586779"/>
                </a:solidFill>
                <a:latin typeface="Aptos"/>
                <a:cs typeface="Aptos"/>
              </a:rPr>
              <a:t>TRUST LAYER</a:t>
            </a:r>
            <a:endParaRPr lang="en-US" sz="830"/>
          </a:p>
        </p:txBody>
      </p:sp>
      <p:sp>
        <p:nvSpPr>
          <p:cNvPr id="9" name="title"/>
          <p:cNvSpPr txBox="1"/>
          <p:nvPr/>
        </p:nvSpPr>
        <p:spPr>
          <a:xfrm>
            <a:off x="658368" y="914400"/>
            <a:ext cx="7132320" cy="1060704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3400" b="1">
                <a:solidFill>
                  <a:srgbClr val="102133"/>
                </a:solidFill>
                <a:latin typeface="Aptos"/>
                <a:cs typeface="Aptos"/>
              </a:rPr>
              <a:t>Built for control,</a:t>
            </a:r>
            <a:endParaRPr lang="en-US" sz="3400"/>
          </a:p>
          <a:p>
            <a:pPr algn="l"/>
            <a:r>
              <a:rPr lang="en-US" sz="3400" b="1">
                <a:solidFill>
                  <a:srgbClr val="102133"/>
                </a:solidFill>
                <a:latin typeface="Aptos"/>
                <a:cs typeface="Aptos"/>
              </a:rPr>
              <a:t>accountability, and support</a:t>
            </a:r>
            <a:endParaRPr lang="en-US" sz="3400"/>
          </a:p>
        </p:txBody>
      </p:sp>
      <p:sp>
        <p:nvSpPr>
          <p:cNvPr id="10" name="dashboard card"/>
          <p:cNvSpPr txBox="1"/>
          <p:nvPr/>
        </p:nvSpPr>
        <p:spPr>
          <a:xfrm>
            <a:off x="713232" y="2121408"/>
            <a:ext cx="3255264" cy="3127248"/>
          </a:xfrm>
          <a:prstGeom prst="roundRect">
            <a:avLst/>
          </a:prstGeom>
          <a:solidFill>
            <a:srgbClr val="EAF3F6"/>
          </a:solidFill>
          <a:ln w="12700">
            <a:solidFill>
              <a:srgbClr val="DCD7CE"/>
            </a:solidFill>
          </a:ln>
        </p:spPr>
      </p:sp>
      <p:sp>
        <p:nvSpPr>
          <p:cNvPr id="11" name="body"/>
          <p:cNvSpPr txBox="1"/>
          <p:nvPr/>
        </p:nvSpPr>
        <p:spPr>
          <a:xfrm>
            <a:off x="932688" y="2414016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420" b="1">
                <a:solidFill>
                  <a:srgbClr val="102133"/>
                </a:solidFill>
                <a:latin typeface="Aptos"/>
                <a:cs typeface="Aptos"/>
              </a:rPr>
              <a:t>Renter dashboard</a:t>
            </a:r>
            <a:endParaRPr lang="en-US" sz="1420"/>
          </a:p>
        </p:txBody>
      </p:sp>
      <p:sp>
        <p:nvSpPr>
          <p:cNvPr id="12" name="pill"/>
          <p:cNvSpPr txBox="1"/>
          <p:nvPr/>
        </p:nvSpPr>
        <p:spPr>
          <a:xfrm>
            <a:off x="950976" y="2907792"/>
            <a:ext cx="2331720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13" name="pill text"/>
          <p:cNvSpPr txBox="1"/>
          <p:nvPr/>
        </p:nvSpPr>
        <p:spPr>
          <a:xfrm>
            <a:off x="1042416" y="2985516"/>
            <a:ext cx="2148839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50" b="1">
                <a:solidFill>
                  <a:srgbClr val="102133"/>
                </a:solidFill>
                <a:latin typeface="Aptos"/>
                <a:cs typeface="Aptos"/>
              </a:rPr>
              <a:t>Active rentals</a:t>
            </a:r>
            <a:endParaRPr lang="en-US" sz="850"/>
          </a:p>
        </p:txBody>
      </p:sp>
      <p:sp>
        <p:nvSpPr>
          <p:cNvPr id="14" name="pill"/>
          <p:cNvSpPr txBox="1"/>
          <p:nvPr/>
        </p:nvSpPr>
        <p:spPr>
          <a:xfrm>
            <a:off x="950976" y="3346704"/>
            <a:ext cx="2331720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15" name="pill text"/>
          <p:cNvSpPr txBox="1"/>
          <p:nvPr/>
        </p:nvSpPr>
        <p:spPr>
          <a:xfrm>
            <a:off x="1042416" y="3424428"/>
            <a:ext cx="2148839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50" b="1">
                <a:solidFill>
                  <a:srgbClr val="102133"/>
                </a:solidFill>
                <a:latin typeface="Aptos"/>
                <a:cs typeface="Aptos"/>
              </a:rPr>
              <a:t>Receipts</a:t>
            </a:r>
            <a:endParaRPr lang="en-US" sz="850"/>
          </a:p>
        </p:txBody>
      </p:sp>
      <p:sp>
        <p:nvSpPr>
          <p:cNvPr id="16" name="pill"/>
          <p:cNvSpPr txBox="1"/>
          <p:nvPr/>
        </p:nvSpPr>
        <p:spPr>
          <a:xfrm>
            <a:off x="950976" y="3785616"/>
            <a:ext cx="2331720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17" name="pill text"/>
          <p:cNvSpPr txBox="1"/>
          <p:nvPr/>
        </p:nvSpPr>
        <p:spPr>
          <a:xfrm>
            <a:off x="1042416" y="3863340"/>
            <a:ext cx="2148839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50" b="1">
                <a:solidFill>
                  <a:srgbClr val="102133"/>
                </a:solidFill>
                <a:latin typeface="Aptos"/>
                <a:cs typeface="Aptos"/>
              </a:rPr>
              <a:t>Return actions</a:t>
            </a:r>
            <a:endParaRPr lang="en-US" sz="850"/>
          </a:p>
        </p:txBody>
      </p:sp>
      <p:sp>
        <p:nvSpPr>
          <p:cNvPr id="18" name="pill"/>
          <p:cNvSpPr txBox="1"/>
          <p:nvPr/>
        </p:nvSpPr>
        <p:spPr>
          <a:xfrm>
            <a:off x="950976" y="4224528"/>
            <a:ext cx="2331720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19" name="pill text"/>
          <p:cNvSpPr txBox="1"/>
          <p:nvPr/>
        </p:nvSpPr>
        <p:spPr>
          <a:xfrm>
            <a:off x="1042416" y="4302252"/>
            <a:ext cx="2148839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50" b="1">
                <a:solidFill>
                  <a:srgbClr val="102133"/>
                </a:solidFill>
                <a:latin typeface="Aptos"/>
                <a:cs typeface="Aptos"/>
              </a:rPr>
              <a:t>Reviews or disputes</a:t>
            </a:r>
            <a:endParaRPr lang="en-US" sz="850"/>
          </a:p>
        </p:txBody>
      </p:sp>
      <p:sp>
        <p:nvSpPr>
          <p:cNvPr id="20" name="dashboard card"/>
          <p:cNvSpPr txBox="1"/>
          <p:nvPr/>
        </p:nvSpPr>
        <p:spPr>
          <a:xfrm>
            <a:off x="4443984" y="2121408"/>
            <a:ext cx="3255264" cy="3127248"/>
          </a:xfrm>
          <a:prstGeom prst="roundRect">
            <a:avLst/>
          </a:prstGeom>
          <a:solidFill>
            <a:srgbClr val="EAF7F1"/>
          </a:solidFill>
          <a:ln w="12700">
            <a:solidFill>
              <a:srgbClr val="DCD7CE"/>
            </a:solidFill>
          </a:ln>
        </p:spPr>
      </p:sp>
      <p:sp>
        <p:nvSpPr>
          <p:cNvPr id="21" name="body"/>
          <p:cNvSpPr txBox="1"/>
          <p:nvPr/>
        </p:nvSpPr>
        <p:spPr>
          <a:xfrm>
            <a:off x="4663440" y="2414016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420" b="1">
                <a:solidFill>
                  <a:srgbClr val="102133"/>
                </a:solidFill>
                <a:latin typeface="Aptos"/>
                <a:cs typeface="Aptos"/>
              </a:rPr>
              <a:t>Owner dashboard</a:t>
            </a:r>
            <a:endParaRPr lang="en-US" sz="1420"/>
          </a:p>
        </p:txBody>
      </p:sp>
      <p:sp>
        <p:nvSpPr>
          <p:cNvPr id="22" name="pill"/>
          <p:cNvSpPr txBox="1"/>
          <p:nvPr/>
        </p:nvSpPr>
        <p:spPr>
          <a:xfrm>
            <a:off x="4681728" y="2907792"/>
            <a:ext cx="2331720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23" name="pill text"/>
          <p:cNvSpPr txBox="1"/>
          <p:nvPr/>
        </p:nvSpPr>
        <p:spPr>
          <a:xfrm>
            <a:off x="4773168" y="2985516"/>
            <a:ext cx="2148839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50" b="1">
                <a:solidFill>
                  <a:srgbClr val="102133"/>
                </a:solidFill>
                <a:latin typeface="Aptos"/>
                <a:cs typeface="Aptos"/>
              </a:rPr>
              <a:t>Tool listings</a:t>
            </a:r>
            <a:endParaRPr lang="en-US" sz="850"/>
          </a:p>
        </p:txBody>
      </p:sp>
      <p:sp>
        <p:nvSpPr>
          <p:cNvPr id="24" name="pill"/>
          <p:cNvSpPr txBox="1"/>
          <p:nvPr/>
        </p:nvSpPr>
        <p:spPr>
          <a:xfrm>
            <a:off x="4681728" y="3346704"/>
            <a:ext cx="2331720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25" name="pill text"/>
          <p:cNvSpPr txBox="1"/>
          <p:nvPr/>
        </p:nvSpPr>
        <p:spPr>
          <a:xfrm>
            <a:off x="4773168" y="3424428"/>
            <a:ext cx="2148839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50" b="1">
                <a:solidFill>
                  <a:srgbClr val="102133"/>
                </a:solidFill>
                <a:latin typeface="Aptos"/>
                <a:cs typeface="Aptos"/>
              </a:rPr>
              <a:t>Rental activity</a:t>
            </a:r>
            <a:endParaRPr lang="en-US" sz="850"/>
          </a:p>
        </p:txBody>
      </p:sp>
      <p:sp>
        <p:nvSpPr>
          <p:cNvPr id="26" name="pill"/>
          <p:cNvSpPr txBox="1"/>
          <p:nvPr/>
        </p:nvSpPr>
        <p:spPr>
          <a:xfrm>
            <a:off x="4681728" y="3785616"/>
            <a:ext cx="2331720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27" name="pill text"/>
          <p:cNvSpPr txBox="1"/>
          <p:nvPr/>
        </p:nvSpPr>
        <p:spPr>
          <a:xfrm>
            <a:off x="4773168" y="3863340"/>
            <a:ext cx="2148839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50" b="1">
                <a:solidFill>
                  <a:srgbClr val="102133"/>
                </a:solidFill>
                <a:latin typeface="Aptos"/>
                <a:cs typeface="Aptos"/>
              </a:rPr>
              <a:t>Return status</a:t>
            </a:r>
            <a:endParaRPr lang="en-US" sz="850"/>
          </a:p>
        </p:txBody>
      </p:sp>
      <p:sp>
        <p:nvSpPr>
          <p:cNvPr id="28" name="pill"/>
          <p:cNvSpPr txBox="1"/>
          <p:nvPr/>
        </p:nvSpPr>
        <p:spPr>
          <a:xfrm>
            <a:off x="4681728" y="4224528"/>
            <a:ext cx="2331720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29" name="pill text"/>
          <p:cNvSpPr txBox="1"/>
          <p:nvPr/>
        </p:nvSpPr>
        <p:spPr>
          <a:xfrm>
            <a:off x="4773168" y="4302252"/>
            <a:ext cx="2148839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50" b="1">
                <a:solidFill>
                  <a:srgbClr val="102133"/>
                </a:solidFill>
                <a:latin typeface="Aptos"/>
                <a:cs typeface="Aptos"/>
              </a:rPr>
              <a:t>Earnings view</a:t>
            </a:r>
            <a:endParaRPr lang="en-US" sz="850"/>
          </a:p>
        </p:txBody>
      </p:sp>
      <p:sp>
        <p:nvSpPr>
          <p:cNvPr id="30" name="dashboard card"/>
          <p:cNvSpPr txBox="1"/>
          <p:nvPr/>
        </p:nvSpPr>
        <p:spPr>
          <a:xfrm>
            <a:off x="8174736" y="2121408"/>
            <a:ext cx="3255264" cy="3127248"/>
          </a:xfrm>
          <a:prstGeom prst="roundRect">
            <a:avLst/>
          </a:prstGeom>
          <a:solidFill>
            <a:srgbClr val="FFF0EA"/>
          </a:solidFill>
          <a:ln w="12700">
            <a:solidFill>
              <a:srgbClr val="DCD7CE"/>
            </a:solidFill>
          </a:ln>
        </p:spPr>
      </p:sp>
      <p:sp>
        <p:nvSpPr>
          <p:cNvPr id="31" name="body"/>
          <p:cNvSpPr txBox="1"/>
          <p:nvPr/>
        </p:nvSpPr>
        <p:spPr>
          <a:xfrm>
            <a:off x="8394192" y="2414016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420" b="1">
                <a:solidFill>
                  <a:srgbClr val="102133"/>
                </a:solidFill>
                <a:latin typeface="Aptos"/>
                <a:cs typeface="Aptos"/>
              </a:rPr>
              <a:t>Admin dashboard</a:t>
            </a:r>
            <a:endParaRPr lang="en-US" sz="1420"/>
          </a:p>
        </p:txBody>
      </p:sp>
      <p:sp>
        <p:nvSpPr>
          <p:cNvPr id="32" name="pill"/>
          <p:cNvSpPr txBox="1"/>
          <p:nvPr/>
        </p:nvSpPr>
        <p:spPr>
          <a:xfrm>
            <a:off x="8412480" y="2907792"/>
            <a:ext cx="2331720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33" name="pill text"/>
          <p:cNvSpPr txBox="1"/>
          <p:nvPr/>
        </p:nvSpPr>
        <p:spPr>
          <a:xfrm>
            <a:off x="8503919" y="2985516"/>
            <a:ext cx="2148839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50" b="1">
                <a:solidFill>
                  <a:srgbClr val="102133"/>
                </a:solidFill>
                <a:latin typeface="Aptos"/>
                <a:cs typeface="Aptos"/>
              </a:rPr>
              <a:t>Users/listings</a:t>
            </a:r>
            <a:endParaRPr lang="en-US" sz="850"/>
          </a:p>
        </p:txBody>
      </p:sp>
      <p:sp>
        <p:nvSpPr>
          <p:cNvPr id="34" name="pill"/>
          <p:cNvSpPr txBox="1"/>
          <p:nvPr/>
        </p:nvSpPr>
        <p:spPr>
          <a:xfrm>
            <a:off x="8412480" y="3346704"/>
            <a:ext cx="2331720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35" name="pill text"/>
          <p:cNvSpPr txBox="1"/>
          <p:nvPr/>
        </p:nvSpPr>
        <p:spPr>
          <a:xfrm>
            <a:off x="8503919" y="3424428"/>
            <a:ext cx="2148839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50" b="1">
                <a:solidFill>
                  <a:srgbClr val="102133"/>
                </a:solidFill>
                <a:latin typeface="Aptos"/>
                <a:cs typeface="Aptos"/>
              </a:rPr>
              <a:t>Bookings/deposits</a:t>
            </a:r>
            <a:endParaRPr lang="en-US" sz="850"/>
          </a:p>
        </p:txBody>
      </p:sp>
      <p:sp>
        <p:nvSpPr>
          <p:cNvPr id="36" name="pill"/>
          <p:cNvSpPr txBox="1"/>
          <p:nvPr/>
        </p:nvSpPr>
        <p:spPr>
          <a:xfrm>
            <a:off x="8412480" y="3785616"/>
            <a:ext cx="2331720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37" name="pill text"/>
          <p:cNvSpPr txBox="1"/>
          <p:nvPr/>
        </p:nvSpPr>
        <p:spPr>
          <a:xfrm>
            <a:off x="8503919" y="3863340"/>
            <a:ext cx="2148839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50" b="1">
                <a:solidFill>
                  <a:srgbClr val="102133"/>
                </a:solidFill>
                <a:latin typeface="Aptos"/>
                <a:cs typeface="Aptos"/>
              </a:rPr>
              <a:t>Disputes/support</a:t>
            </a:r>
            <a:endParaRPr lang="en-US" sz="850"/>
          </a:p>
        </p:txBody>
      </p:sp>
      <p:sp>
        <p:nvSpPr>
          <p:cNvPr id="38" name="pill"/>
          <p:cNvSpPr txBox="1"/>
          <p:nvPr/>
        </p:nvSpPr>
        <p:spPr>
          <a:xfrm>
            <a:off x="8412480" y="4224528"/>
            <a:ext cx="2331720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39" name="pill text"/>
          <p:cNvSpPr txBox="1"/>
          <p:nvPr/>
        </p:nvSpPr>
        <p:spPr>
          <a:xfrm>
            <a:off x="8503919" y="4302252"/>
            <a:ext cx="2148839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50" b="1">
                <a:solidFill>
                  <a:srgbClr val="102133"/>
                </a:solidFill>
                <a:latin typeface="Aptos"/>
                <a:cs typeface="Aptos"/>
              </a:rPr>
              <a:t>Reports/revenue</a:t>
            </a:r>
            <a:endParaRPr lang="en-US" sz="850"/>
          </a:p>
        </p:txBody>
      </p:sp>
      <p:sp>
        <p:nvSpPr>
          <p:cNvPr id="40" name="footer line"/>
          <p:cNvSpPr txBox="1"/>
          <p:nvPr/>
        </p:nvSpPr>
        <p:spPr>
          <a:xfrm>
            <a:off x="658368" y="6108192"/>
            <a:ext cx="10881360" cy="9144"/>
          </a:xfrm>
          <a:prstGeom prst="rect">
            <a:avLst/>
          </a:prstGeom>
          <a:solidFill>
            <a:srgbClr val="DCD7CE"/>
          </a:solidFill>
          <a:ln>
            <a:noFill/>
          </a:ln>
        </p:spPr>
      </p:sp>
      <p:sp>
        <p:nvSpPr>
          <p:cNvPr id="41" name="footer left"/>
          <p:cNvSpPr txBox="1"/>
          <p:nvPr/>
        </p:nvSpPr>
        <p:spPr>
          <a:xfrm>
            <a:off x="658368" y="627278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850">
                <a:solidFill>
                  <a:srgbClr val="586779"/>
                </a:solidFill>
                <a:latin typeface="Aptos"/>
                <a:cs typeface="Aptos"/>
              </a:rPr>
              <a:t>Trust and safety</a:t>
            </a:r>
            <a:endParaRPr lang="en-US" sz="850"/>
          </a:p>
        </p:txBody>
      </p:sp>
      <p:sp>
        <p:nvSpPr>
          <p:cNvPr id="42" name="footer right"/>
          <p:cNvSpPr txBox="1"/>
          <p:nvPr/>
        </p:nvSpPr>
        <p:spPr>
          <a:xfrm>
            <a:off x="7498079" y="6272784"/>
            <a:ext cx="404164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r"/>
            <a:r>
              <a:rPr lang="en-US" sz="850" b="1">
                <a:solidFill>
                  <a:srgbClr val="586779"/>
                </a:solidFill>
                <a:latin typeface="Aptos"/>
                <a:cs typeface="Aptos"/>
              </a:rPr>
              <a:t>Dashboards separate responsibilities</a:t>
            </a:r>
            <a:endParaRPr lang="en-US" sz="8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wash left"/>
          <p:cNvSpPr txBox="1"/>
          <p:nvPr/>
        </p:nvSpPr>
        <p:spPr>
          <a:xfrm>
            <a:off x="-914400" y="-731520"/>
            <a:ext cx="3566160" cy="3566160"/>
          </a:xfrm>
          <a:prstGeom prst="ellipse">
            <a:avLst/>
          </a:prstGeom>
          <a:solidFill>
            <a:srgbClr val="EAF3F6"/>
          </a:solidFill>
          <a:ln>
            <a:noFill/>
          </a:ln>
        </p:spPr>
      </p:sp>
      <p:sp>
        <p:nvSpPr>
          <p:cNvPr id="3" name="accent wash right"/>
          <p:cNvSpPr txBox="1"/>
          <p:nvPr/>
        </p:nvSpPr>
        <p:spPr>
          <a:xfrm>
            <a:off x="9784080" y="-594360"/>
            <a:ext cx="3474720" cy="2926080"/>
          </a:xfrm>
          <a:prstGeom prst="ellipse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4" name="stage outline"/>
          <p:cNvSpPr txBox="1"/>
          <p:nvPr/>
        </p:nvSpPr>
        <p:spPr>
          <a:xfrm>
            <a:off x="201168" y="137160"/>
            <a:ext cx="11795760" cy="6583680"/>
          </a:xfrm>
          <a:prstGeom prst="roundRect">
            <a:avLst/>
          </a:prstGeom>
          <a:noFill/>
          <a:ln w="12700">
            <a:solidFill>
              <a:srgbClr val="E9E2D8"/>
            </a:solidFill>
          </a:ln>
        </p:spPr>
      </p:sp>
      <p:sp>
        <p:nvSpPr>
          <p:cNvPr id="5" name="slide number"/>
          <p:cNvSpPr txBox="1"/>
          <p:nvPr/>
        </p:nvSpPr>
        <p:spPr>
          <a:xfrm>
            <a:off x="10698480" y="627278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r"/>
            <a:r>
              <a:rPr lang="en-US" sz="900" b="1">
                <a:solidFill>
                  <a:srgbClr val="586779"/>
                </a:solidFill>
                <a:latin typeface="Aptos"/>
                <a:cs typeface="Aptos"/>
              </a:rPr>
              <a:t>08 / 12</a:t>
            </a:r>
            <a:endParaRPr lang="en-US" sz="900"/>
          </a:p>
        </p:txBody>
      </p:sp>
      <p:sp>
        <p:nvSpPr>
          <p:cNvPr id="6" name="eyebrow pill"/>
          <p:cNvSpPr txBox="1"/>
          <p:nvPr/>
        </p:nvSpPr>
        <p:spPr>
          <a:xfrm>
            <a:off x="658368" y="502920"/>
            <a:ext cx="2697480" cy="32918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7" name="eyebrow dot"/>
          <p:cNvSpPr txBox="1"/>
          <p:nvPr/>
        </p:nvSpPr>
        <p:spPr>
          <a:xfrm>
            <a:off x="768096" y="612648"/>
            <a:ext cx="100584" cy="100584"/>
          </a:xfrm>
          <a:prstGeom prst="ellipse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8" name="eyebrow text"/>
          <p:cNvSpPr txBox="1"/>
          <p:nvPr/>
        </p:nvSpPr>
        <p:spPr>
          <a:xfrm>
            <a:off x="969264" y="589788"/>
            <a:ext cx="2295144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830" b="1">
                <a:solidFill>
                  <a:srgbClr val="586779"/>
                </a:solidFill>
                <a:latin typeface="Aptos"/>
                <a:cs typeface="Aptos"/>
              </a:rPr>
              <a:t>PAYMENTS + RECORDS</a:t>
            </a:r>
            <a:endParaRPr lang="en-US" sz="830"/>
          </a:p>
        </p:txBody>
      </p:sp>
      <p:sp>
        <p:nvSpPr>
          <p:cNvPr id="9" name="title"/>
          <p:cNvSpPr txBox="1"/>
          <p:nvPr/>
        </p:nvSpPr>
        <p:spPr>
          <a:xfrm>
            <a:off x="658368" y="896112"/>
            <a:ext cx="6492240" cy="1060704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3500" b="1">
                <a:solidFill>
                  <a:srgbClr val="102133"/>
                </a:solidFill>
                <a:latin typeface="Aptos"/>
                <a:cs typeface="Aptos"/>
              </a:rPr>
              <a:t>A rental business</a:t>
            </a:r>
            <a:endParaRPr lang="en-US" sz="3500"/>
          </a:p>
          <a:p>
            <a:pPr algn="l"/>
            <a:r>
              <a:rPr lang="en-US" sz="3500" b="1">
                <a:solidFill>
                  <a:srgbClr val="102133"/>
                </a:solidFill>
                <a:latin typeface="Aptos"/>
                <a:cs typeface="Aptos"/>
              </a:rPr>
              <a:t>workflow with records</a:t>
            </a:r>
            <a:endParaRPr lang="en-US" sz="3500"/>
          </a:p>
        </p:txBody>
      </p:sp>
      <p:sp>
        <p:nvSpPr>
          <p:cNvPr id="10" name="money block"/>
          <p:cNvSpPr txBox="1"/>
          <p:nvPr/>
        </p:nvSpPr>
        <p:spPr>
          <a:xfrm>
            <a:off x="713232" y="2743200"/>
            <a:ext cx="1874519" cy="1874519"/>
          </a:xfrm>
          <a:prstGeom prst="roundRect">
            <a:avLst/>
          </a:prstGeom>
          <a:solidFill>
            <a:srgbClr val="EAF3F6"/>
          </a:solidFill>
          <a:ln w="12700">
            <a:solidFill>
              <a:srgbClr val="DCD7CE"/>
            </a:solidFill>
          </a:ln>
        </p:spPr>
      </p:sp>
      <p:sp>
        <p:nvSpPr>
          <p:cNvPr id="11" name="body"/>
          <p:cNvSpPr txBox="1"/>
          <p:nvPr/>
        </p:nvSpPr>
        <p:spPr>
          <a:xfrm>
            <a:off x="859536" y="2971800"/>
            <a:ext cx="1536192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1150" b="1">
                <a:solidFill>
                  <a:srgbClr val="102133"/>
                </a:solidFill>
                <a:latin typeface="Aptos"/>
                <a:cs typeface="Aptos"/>
              </a:rPr>
              <a:t>Checkout support</a:t>
            </a:r>
            <a:endParaRPr lang="en-US" sz="1150"/>
          </a:p>
        </p:txBody>
      </p:sp>
      <p:sp>
        <p:nvSpPr>
          <p:cNvPr id="12" name="body"/>
          <p:cNvSpPr txBox="1"/>
          <p:nvPr/>
        </p:nvSpPr>
        <p:spPr>
          <a:xfrm>
            <a:off x="859536" y="3474720"/>
            <a:ext cx="1536192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50">
                <a:solidFill>
                  <a:srgbClr val="586779"/>
                </a:solidFill>
                <a:latin typeface="Aptos"/>
                <a:cs typeface="Aptos"/>
              </a:rPr>
              <a:t>Payment helpers support booking checkout and success flows.</a:t>
            </a:r>
            <a:endParaRPr lang="en-US" sz="850"/>
          </a:p>
        </p:txBody>
      </p:sp>
      <p:sp>
        <p:nvSpPr>
          <p:cNvPr id="13" name="money block"/>
          <p:cNvSpPr txBox="1"/>
          <p:nvPr/>
        </p:nvSpPr>
        <p:spPr>
          <a:xfrm>
            <a:off x="2962656" y="2743200"/>
            <a:ext cx="1874519" cy="1874519"/>
          </a:xfrm>
          <a:prstGeom prst="roundRect">
            <a:avLst/>
          </a:prstGeom>
          <a:solidFill>
            <a:srgbClr val="EAF7F1"/>
          </a:solidFill>
          <a:ln w="12700">
            <a:solidFill>
              <a:srgbClr val="DCD7CE"/>
            </a:solidFill>
          </a:ln>
        </p:spPr>
      </p:sp>
      <p:sp>
        <p:nvSpPr>
          <p:cNvPr id="14" name="body"/>
          <p:cNvSpPr txBox="1"/>
          <p:nvPr/>
        </p:nvSpPr>
        <p:spPr>
          <a:xfrm>
            <a:off x="3108960" y="2971800"/>
            <a:ext cx="1536192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1150" b="1">
                <a:solidFill>
                  <a:srgbClr val="102133"/>
                </a:solidFill>
                <a:latin typeface="Aptos"/>
                <a:cs typeface="Aptos"/>
              </a:rPr>
              <a:t>Deposits</a:t>
            </a:r>
            <a:endParaRPr lang="en-US" sz="1150"/>
          </a:p>
        </p:txBody>
      </p:sp>
      <p:sp>
        <p:nvSpPr>
          <p:cNvPr id="15" name="body"/>
          <p:cNvSpPr txBox="1"/>
          <p:nvPr/>
        </p:nvSpPr>
        <p:spPr>
          <a:xfrm>
            <a:off x="3108960" y="3474720"/>
            <a:ext cx="1536192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50">
                <a:solidFill>
                  <a:srgbClr val="586779"/>
                </a:solidFill>
                <a:latin typeface="Aptos"/>
                <a:cs typeface="Aptos"/>
              </a:rPr>
              <a:t>Deposits help manage rental risk and can be monitored by admins.</a:t>
            </a:r>
            <a:endParaRPr lang="en-US" sz="850"/>
          </a:p>
        </p:txBody>
      </p:sp>
      <p:sp>
        <p:nvSpPr>
          <p:cNvPr id="16" name="money block"/>
          <p:cNvSpPr txBox="1"/>
          <p:nvPr/>
        </p:nvSpPr>
        <p:spPr>
          <a:xfrm>
            <a:off x="5212080" y="2743200"/>
            <a:ext cx="1874519" cy="1874519"/>
          </a:xfrm>
          <a:prstGeom prst="roundRect">
            <a:avLst/>
          </a:prstGeom>
          <a:solidFill>
            <a:srgbClr val="FFF7DD"/>
          </a:solidFill>
          <a:ln w="12700">
            <a:solidFill>
              <a:srgbClr val="DCD7CE"/>
            </a:solidFill>
          </a:ln>
        </p:spPr>
      </p:sp>
      <p:sp>
        <p:nvSpPr>
          <p:cNvPr id="17" name="body"/>
          <p:cNvSpPr txBox="1"/>
          <p:nvPr/>
        </p:nvSpPr>
        <p:spPr>
          <a:xfrm>
            <a:off x="5358384" y="2971800"/>
            <a:ext cx="1536192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1150" b="1">
                <a:solidFill>
                  <a:srgbClr val="102133"/>
                </a:solidFill>
                <a:latin typeface="Aptos"/>
                <a:cs typeface="Aptos"/>
              </a:rPr>
              <a:t>Receipts</a:t>
            </a:r>
            <a:endParaRPr lang="en-US" sz="1150"/>
          </a:p>
        </p:txBody>
      </p:sp>
      <p:sp>
        <p:nvSpPr>
          <p:cNvPr id="18" name="body"/>
          <p:cNvSpPr txBox="1"/>
          <p:nvPr/>
        </p:nvSpPr>
        <p:spPr>
          <a:xfrm>
            <a:off x="5358384" y="3474720"/>
            <a:ext cx="1536192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50">
                <a:solidFill>
                  <a:srgbClr val="586779"/>
                </a:solidFill>
                <a:latin typeface="Aptos"/>
                <a:cs typeface="Aptos"/>
              </a:rPr>
              <a:t>Renters receive booking receipts after payment activity.</a:t>
            </a:r>
            <a:endParaRPr lang="en-US" sz="850"/>
          </a:p>
        </p:txBody>
      </p:sp>
      <p:sp>
        <p:nvSpPr>
          <p:cNvPr id="19" name="money block"/>
          <p:cNvSpPr txBox="1"/>
          <p:nvPr/>
        </p:nvSpPr>
        <p:spPr>
          <a:xfrm>
            <a:off x="7461504" y="2743200"/>
            <a:ext cx="1874519" cy="1874519"/>
          </a:xfrm>
          <a:prstGeom prst="roundRect">
            <a:avLst/>
          </a:prstGeom>
          <a:solidFill>
            <a:srgbClr val="FFF0EA"/>
          </a:solidFill>
          <a:ln w="12700">
            <a:solidFill>
              <a:srgbClr val="DCD7CE"/>
            </a:solidFill>
          </a:ln>
        </p:spPr>
      </p:sp>
      <p:sp>
        <p:nvSpPr>
          <p:cNvPr id="20" name="body"/>
          <p:cNvSpPr txBox="1"/>
          <p:nvPr/>
        </p:nvSpPr>
        <p:spPr>
          <a:xfrm>
            <a:off x="7607808" y="2971800"/>
            <a:ext cx="1536192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1150" b="1">
                <a:solidFill>
                  <a:srgbClr val="102133"/>
                </a:solidFill>
                <a:latin typeface="Aptos"/>
                <a:cs typeface="Aptos"/>
              </a:rPr>
              <a:t>Owner statements</a:t>
            </a:r>
            <a:endParaRPr lang="en-US" sz="1150"/>
          </a:p>
        </p:txBody>
      </p:sp>
      <p:sp>
        <p:nvSpPr>
          <p:cNvPr id="21" name="body"/>
          <p:cNvSpPr txBox="1"/>
          <p:nvPr/>
        </p:nvSpPr>
        <p:spPr>
          <a:xfrm>
            <a:off x="7607808" y="3474720"/>
            <a:ext cx="1536192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50">
                <a:solidFill>
                  <a:srgbClr val="586779"/>
                </a:solidFill>
                <a:latin typeface="Aptos"/>
                <a:cs typeface="Aptos"/>
              </a:rPr>
              <a:t>Owners can track earnings and rental-linked revenue.</a:t>
            </a:r>
            <a:endParaRPr lang="en-US" sz="850"/>
          </a:p>
        </p:txBody>
      </p:sp>
      <p:sp>
        <p:nvSpPr>
          <p:cNvPr id="22" name="money block"/>
          <p:cNvSpPr txBox="1"/>
          <p:nvPr/>
        </p:nvSpPr>
        <p:spPr>
          <a:xfrm>
            <a:off x="9710928" y="2743200"/>
            <a:ext cx="1874519" cy="1874519"/>
          </a:xfrm>
          <a:prstGeom prst="roundRect">
            <a:avLst/>
          </a:prstGeom>
          <a:solidFill>
            <a:srgbClr val="F1F0FF"/>
          </a:solidFill>
          <a:ln w="12700">
            <a:solidFill>
              <a:srgbClr val="DCD7CE"/>
            </a:solidFill>
          </a:ln>
        </p:spPr>
      </p:sp>
      <p:sp>
        <p:nvSpPr>
          <p:cNvPr id="23" name="body"/>
          <p:cNvSpPr txBox="1"/>
          <p:nvPr/>
        </p:nvSpPr>
        <p:spPr>
          <a:xfrm>
            <a:off x="9857232" y="2971800"/>
            <a:ext cx="1536192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1150" b="1">
                <a:solidFill>
                  <a:srgbClr val="102133"/>
                </a:solidFill>
                <a:latin typeface="Aptos"/>
                <a:cs typeface="Aptos"/>
              </a:rPr>
              <a:t>Admin revenue</a:t>
            </a:r>
            <a:endParaRPr lang="en-US" sz="1150"/>
          </a:p>
        </p:txBody>
      </p:sp>
      <p:sp>
        <p:nvSpPr>
          <p:cNvPr id="24" name="body"/>
          <p:cNvSpPr txBox="1"/>
          <p:nvPr/>
        </p:nvSpPr>
        <p:spPr>
          <a:xfrm>
            <a:off x="9857232" y="3474720"/>
            <a:ext cx="1536192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50">
                <a:solidFill>
                  <a:srgbClr val="586779"/>
                </a:solidFill>
                <a:latin typeface="Aptos"/>
                <a:cs typeface="Aptos"/>
              </a:rPr>
              <a:t>Admins can review platform-level revenue and booking status.</a:t>
            </a:r>
            <a:endParaRPr lang="en-US" sz="850"/>
          </a:p>
        </p:txBody>
      </p:sp>
      <p:sp>
        <p:nvSpPr>
          <p:cNvPr id="25" name="money banner"/>
          <p:cNvSpPr txBox="1"/>
          <p:nvPr/>
        </p:nvSpPr>
        <p:spPr>
          <a:xfrm>
            <a:off x="1463040" y="5193792"/>
            <a:ext cx="9326880" cy="384048"/>
          </a:xfrm>
          <a:prstGeom prst="roundRect">
            <a:avLst/>
          </a:prstGeom>
          <a:solidFill>
            <a:srgbClr val="102133"/>
          </a:solidFill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1350" b="1">
                <a:solidFill>
                  <a:srgbClr val="FFFFFF"/>
                </a:solidFill>
                <a:latin typeface="Aptos"/>
                <a:cs typeface="Aptos"/>
              </a:rPr>
              <a:t>Rental status, deposit handling, receipts, and owner earnings stay connected.</a:t>
            </a:r>
            <a:endParaRPr lang="en-US" sz="1350"/>
          </a:p>
        </p:txBody>
      </p:sp>
      <p:sp>
        <p:nvSpPr>
          <p:cNvPr id="26" name="footer line"/>
          <p:cNvSpPr txBox="1"/>
          <p:nvPr/>
        </p:nvSpPr>
        <p:spPr>
          <a:xfrm>
            <a:off x="658368" y="6108192"/>
            <a:ext cx="10881360" cy="9144"/>
          </a:xfrm>
          <a:prstGeom prst="rect">
            <a:avLst/>
          </a:prstGeom>
          <a:solidFill>
            <a:srgbClr val="DCD7CE"/>
          </a:solidFill>
          <a:ln>
            <a:noFill/>
          </a:ln>
        </p:spPr>
      </p:sp>
      <p:sp>
        <p:nvSpPr>
          <p:cNvPr id="27" name="footer left"/>
          <p:cNvSpPr txBox="1"/>
          <p:nvPr/>
        </p:nvSpPr>
        <p:spPr>
          <a:xfrm>
            <a:off x="658368" y="627278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850">
                <a:solidFill>
                  <a:srgbClr val="586779"/>
                </a:solidFill>
                <a:latin typeface="Aptos"/>
                <a:cs typeface="Aptos"/>
              </a:rPr>
              <a:t>Money flow</a:t>
            </a:r>
            <a:endParaRPr lang="en-US" sz="850"/>
          </a:p>
        </p:txBody>
      </p:sp>
      <p:sp>
        <p:nvSpPr>
          <p:cNvPr id="28" name="footer right"/>
          <p:cNvSpPr txBox="1"/>
          <p:nvPr/>
        </p:nvSpPr>
        <p:spPr>
          <a:xfrm>
            <a:off x="7498079" y="6272784"/>
            <a:ext cx="404164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r"/>
            <a:r>
              <a:rPr lang="en-US" sz="850" b="1">
                <a:solidFill>
                  <a:srgbClr val="586779"/>
                </a:solidFill>
                <a:latin typeface="Aptos"/>
                <a:cs typeface="Aptos"/>
              </a:rPr>
              <a:t>Checkout, deposits, receipts, earnings</a:t>
            </a:r>
            <a:endParaRPr lang="en-US" sz="8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wash left"/>
          <p:cNvSpPr txBox="1"/>
          <p:nvPr/>
        </p:nvSpPr>
        <p:spPr>
          <a:xfrm>
            <a:off x="-914400" y="-731520"/>
            <a:ext cx="3566160" cy="3566160"/>
          </a:xfrm>
          <a:prstGeom prst="ellipse">
            <a:avLst/>
          </a:prstGeom>
          <a:solidFill>
            <a:srgbClr val="EAF3F6"/>
          </a:solidFill>
          <a:ln>
            <a:noFill/>
          </a:ln>
        </p:spPr>
      </p:sp>
      <p:sp>
        <p:nvSpPr>
          <p:cNvPr id="3" name="accent wash right"/>
          <p:cNvSpPr txBox="1"/>
          <p:nvPr/>
        </p:nvSpPr>
        <p:spPr>
          <a:xfrm>
            <a:off x="9784080" y="-594360"/>
            <a:ext cx="3474720" cy="2926080"/>
          </a:xfrm>
          <a:prstGeom prst="ellipse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4" name="stage outline"/>
          <p:cNvSpPr txBox="1"/>
          <p:nvPr/>
        </p:nvSpPr>
        <p:spPr>
          <a:xfrm>
            <a:off x="201168" y="137160"/>
            <a:ext cx="11795760" cy="6583680"/>
          </a:xfrm>
          <a:prstGeom prst="roundRect">
            <a:avLst/>
          </a:prstGeom>
          <a:noFill/>
          <a:ln w="12700">
            <a:solidFill>
              <a:srgbClr val="E9E2D8"/>
            </a:solidFill>
          </a:ln>
        </p:spPr>
      </p:sp>
      <p:sp>
        <p:nvSpPr>
          <p:cNvPr id="5" name="slide number"/>
          <p:cNvSpPr txBox="1"/>
          <p:nvPr/>
        </p:nvSpPr>
        <p:spPr>
          <a:xfrm>
            <a:off x="10698480" y="627278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r"/>
            <a:r>
              <a:rPr lang="en-US" sz="900" b="1">
                <a:solidFill>
                  <a:srgbClr val="586779"/>
                </a:solidFill>
                <a:latin typeface="Aptos"/>
                <a:cs typeface="Aptos"/>
              </a:rPr>
              <a:t>09 / 12</a:t>
            </a:r>
            <a:endParaRPr lang="en-US" sz="900"/>
          </a:p>
        </p:txBody>
      </p:sp>
      <p:sp>
        <p:nvSpPr>
          <p:cNvPr id="6" name="eyebrow pill"/>
          <p:cNvSpPr txBox="1"/>
          <p:nvPr/>
        </p:nvSpPr>
        <p:spPr>
          <a:xfrm>
            <a:off x="658368" y="502920"/>
            <a:ext cx="2697480" cy="32918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7" name="eyebrow dot"/>
          <p:cNvSpPr txBox="1"/>
          <p:nvPr/>
        </p:nvSpPr>
        <p:spPr>
          <a:xfrm>
            <a:off x="768096" y="612648"/>
            <a:ext cx="100584" cy="100584"/>
          </a:xfrm>
          <a:prstGeom prst="ellipse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8" name="eyebrow text"/>
          <p:cNvSpPr txBox="1"/>
          <p:nvPr/>
        </p:nvSpPr>
        <p:spPr>
          <a:xfrm>
            <a:off x="969264" y="589788"/>
            <a:ext cx="2295144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830" b="1">
                <a:solidFill>
                  <a:srgbClr val="586779"/>
                </a:solidFill>
                <a:latin typeface="Aptos"/>
                <a:cs typeface="Aptos"/>
              </a:rPr>
              <a:t>TECHNICAL ARCHITECTURE</a:t>
            </a:r>
            <a:endParaRPr lang="en-US" sz="830"/>
          </a:p>
        </p:txBody>
      </p:sp>
      <p:sp>
        <p:nvSpPr>
          <p:cNvPr id="9" name="title"/>
          <p:cNvSpPr txBox="1"/>
          <p:nvPr/>
        </p:nvSpPr>
        <p:spPr>
          <a:xfrm>
            <a:off x="658368" y="914400"/>
            <a:ext cx="5212080" cy="1060704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4000" b="1">
                <a:solidFill>
                  <a:srgbClr val="102133"/>
                </a:solidFill>
                <a:latin typeface="Aptos"/>
                <a:cs typeface="Aptos"/>
              </a:rPr>
              <a:t>How ToolShare</a:t>
            </a:r>
            <a:endParaRPr lang="en-US" sz="4000"/>
          </a:p>
          <a:p>
            <a:pPr algn="l"/>
            <a:r>
              <a:rPr lang="en-US" sz="4000" b="1">
                <a:solidFill>
                  <a:srgbClr val="102133"/>
                </a:solidFill>
                <a:latin typeface="Aptos"/>
                <a:cs typeface="Aptos"/>
              </a:rPr>
              <a:t>is built</a:t>
            </a:r>
            <a:endParaRPr lang="en-US" sz="4000"/>
          </a:p>
        </p:txBody>
      </p:sp>
      <p:sp>
        <p:nvSpPr>
          <p:cNvPr id="10" name="mini"/>
          <p:cNvSpPr txBox="1"/>
          <p:nvPr/>
        </p:nvSpPr>
        <p:spPr>
          <a:xfrm>
            <a:off x="822960" y="2029968"/>
            <a:ext cx="2743200" cy="107899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11" name="mini head"/>
          <p:cNvSpPr txBox="1"/>
          <p:nvPr/>
        </p:nvSpPr>
        <p:spPr>
          <a:xfrm>
            <a:off x="969264" y="2148840"/>
            <a:ext cx="245059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150" b="1">
                <a:solidFill>
                  <a:srgbClr val="102133"/>
                </a:solidFill>
                <a:latin typeface="Aptos"/>
                <a:cs typeface="Aptos"/>
              </a:rPr>
              <a:t>Frontend pages</a:t>
            </a:r>
            <a:endParaRPr lang="en-US" sz="1150"/>
          </a:p>
        </p:txBody>
      </p:sp>
      <p:sp>
        <p:nvSpPr>
          <p:cNvPr id="12" name="mini txt"/>
          <p:cNvSpPr txBox="1"/>
          <p:nvPr/>
        </p:nvSpPr>
        <p:spPr>
          <a:xfrm>
            <a:off x="969264" y="2441448"/>
            <a:ext cx="2450592" cy="603503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930">
                <a:solidFill>
                  <a:srgbClr val="586779"/>
                </a:solidFill>
                <a:latin typeface="Aptos"/>
                <a:cs typeface="Aptos"/>
              </a:rPr>
              <a:t>PHP-rendered pages with shared site chrome, forms, dashboards, and marketplace views.</a:t>
            </a:r>
            <a:endParaRPr lang="en-US" sz="930"/>
          </a:p>
        </p:txBody>
      </p:sp>
      <p:sp>
        <p:nvSpPr>
          <p:cNvPr id="13" name="mini"/>
          <p:cNvSpPr txBox="1"/>
          <p:nvPr/>
        </p:nvSpPr>
        <p:spPr>
          <a:xfrm>
            <a:off x="822960" y="3456432"/>
            <a:ext cx="2743200" cy="107899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14" name="mini head"/>
          <p:cNvSpPr txBox="1"/>
          <p:nvPr/>
        </p:nvSpPr>
        <p:spPr>
          <a:xfrm>
            <a:off x="969264" y="3575303"/>
            <a:ext cx="245059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150" b="1">
                <a:solidFill>
                  <a:srgbClr val="102133"/>
                </a:solidFill>
                <a:latin typeface="Aptos"/>
                <a:cs typeface="Aptos"/>
              </a:rPr>
              <a:t>Helper modules</a:t>
            </a:r>
            <a:endParaRPr lang="en-US" sz="1150"/>
          </a:p>
        </p:txBody>
      </p:sp>
      <p:sp>
        <p:nvSpPr>
          <p:cNvPr id="15" name="mini txt"/>
          <p:cNvSpPr txBox="1"/>
          <p:nvPr/>
        </p:nvSpPr>
        <p:spPr>
          <a:xfrm>
            <a:off x="969264" y="3867911"/>
            <a:ext cx="2450592" cy="603503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930">
                <a:solidFill>
                  <a:srgbClr val="586779"/>
                </a:solidFill>
                <a:latin typeface="Aptos"/>
                <a:cs typeface="Aptos"/>
              </a:rPr>
              <a:t>Auth, mail, payment, booking, returns, disputes, support, owner, and admin helpers.</a:t>
            </a:r>
            <a:endParaRPr lang="en-US" sz="930"/>
          </a:p>
        </p:txBody>
      </p:sp>
      <p:sp>
        <p:nvSpPr>
          <p:cNvPr id="16" name="core"/>
          <p:cNvSpPr txBox="1"/>
          <p:nvPr/>
        </p:nvSpPr>
        <p:spPr>
          <a:xfrm>
            <a:off x="4315968" y="2103120"/>
            <a:ext cx="3547872" cy="2359152"/>
          </a:xfrm>
          <a:prstGeom prst="roundRect">
            <a:avLst/>
          </a:prstGeom>
          <a:solidFill>
            <a:srgbClr val="102133"/>
          </a:solidFill>
          <a:ln>
            <a:noFill/>
          </a:ln>
        </p:spPr>
      </p:sp>
      <p:sp>
        <p:nvSpPr>
          <p:cNvPr id="17" name="body"/>
          <p:cNvSpPr txBox="1"/>
          <p:nvPr/>
        </p:nvSpPr>
        <p:spPr>
          <a:xfrm>
            <a:off x="4617720" y="2761488"/>
            <a:ext cx="2944368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1700" b="1">
                <a:solidFill>
                  <a:srgbClr val="FFFFFF"/>
                </a:solidFill>
                <a:latin typeface="Aptos"/>
                <a:cs typeface="Aptos"/>
              </a:rPr>
              <a:t>PHP Application Layer</a:t>
            </a:r>
            <a:endParaRPr lang="en-US" sz="1700"/>
          </a:p>
          <a:p>
            <a:pPr algn="c"/>
            <a:r>
              <a:rPr lang="en-US" sz="1700" b="1">
                <a:solidFill>
                  <a:srgbClr val="FFFFFF"/>
                </a:solidFill>
                <a:latin typeface="Aptos"/>
                <a:cs typeface="Aptos"/>
              </a:rPr>
              <a:t>Role-based logic + marketplace operations</a:t>
            </a:r>
            <a:endParaRPr lang="en-US" sz="1700"/>
          </a:p>
        </p:txBody>
      </p:sp>
      <p:sp>
        <p:nvSpPr>
          <p:cNvPr id="18" name="mini"/>
          <p:cNvSpPr txBox="1"/>
          <p:nvPr/>
        </p:nvSpPr>
        <p:spPr>
          <a:xfrm>
            <a:off x="8595360" y="2029968"/>
            <a:ext cx="2743200" cy="107899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19" name="mini head"/>
          <p:cNvSpPr txBox="1"/>
          <p:nvPr/>
        </p:nvSpPr>
        <p:spPr>
          <a:xfrm>
            <a:off x="8741664" y="2148840"/>
            <a:ext cx="245059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150" b="1">
                <a:solidFill>
                  <a:srgbClr val="102133"/>
                </a:solidFill>
                <a:latin typeface="Aptos"/>
                <a:cs typeface="Aptos"/>
              </a:rPr>
              <a:t>MySQL database</a:t>
            </a:r>
            <a:endParaRPr lang="en-US" sz="1150"/>
          </a:p>
        </p:txBody>
      </p:sp>
      <p:sp>
        <p:nvSpPr>
          <p:cNvPr id="20" name="mini txt"/>
          <p:cNvSpPr txBox="1"/>
          <p:nvPr/>
        </p:nvSpPr>
        <p:spPr>
          <a:xfrm>
            <a:off x="8741664" y="2441448"/>
            <a:ext cx="2450592" cy="603503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930">
                <a:solidFill>
                  <a:srgbClr val="586779"/>
                </a:solidFill>
                <a:latin typeface="Aptos"/>
                <a:cs typeface="Aptos"/>
              </a:rPr>
              <a:t>Users, tools, bookings, reviews, disputes, payments, notifications, and support data.</a:t>
            </a:r>
            <a:endParaRPr lang="en-US" sz="930"/>
          </a:p>
        </p:txBody>
      </p:sp>
      <p:sp>
        <p:nvSpPr>
          <p:cNvPr id="21" name="mini"/>
          <p:cNvSpPr txBox="1"/>
          <p:nvPr/>
        </p:nvSpPr>
        <p:spPr>
          <a:xfrm>
            <a:off x="8595360" y="3456432"/>
            <a:ext cx="2743200" cy="107899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22" name="mini head"/>
          <p:cNvSpPr txBox="1"/>
          <p:nvPr/>
        </p:nvSpPr>
        <p:spPr>
          <a:xfrm>
            <a:off x="8741664" y="3575303"/>
            <a:ext cx="245059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150" b="1">
                <a:solidFill>
                  <a:srgbClr val="102133"/>
                </a:solidFill>
                <a:latin typeface="Aptos"/>
                <a:cs typeface="Aptos"/>
              </a:rPr>
              <a:t>External services</a:t>
            </a:r>
            <a:endParaRPr lang="en-US" sz="1150"/>
          </a:p>
        </p:txBody>
      </p:sp>
      <p:sp>
        <p:nvSpPr>
          <p:cNvPr id="23" name="mini txt"/>
          <p:cNvSpPr txBox="1"/>
          <p:nvPr/>
        </p:nvSpPr>
        <p:spPr>
          <a:xfrm>
            <a:off x="8741664" y="3867911"/>
            <a:ext cx="2450592" cy="603503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930">
                <a:solidFill>
                  <a:srgbClr val="586779"/>
                </a:solidFill>
                <a:latin typeface="Aptos"/>
                <a:cs typeface="Aptos"/>
              </a:rPr>
              <a:t>PHPMailer SMTP for email and payment helper logic for checkout/deposits.</a:t>
            </a:r>
            <a:endParaRPr lang="en-US" sz="930"/>
          </a:p>
        </p:txBody>
      </p:sp>
      <p:sp>
        <p:nvSpPr>
          <p:cNvPr id="24" name="arch connector"/>
          <p:cNvSpPr txBox="1"/>
          <p:nvPr/>
        </p:nvSpPr>
        <p:spPr>
          <a:xfrm>
            <a:off x="3639312" y="3246120"/>
            <a:ext cx="502920" cy="36576"/>
          </a:xfrm>
          <a:prstGeom prst="rect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25" name="arch connector"/>
          <p:cNvSpPr txBox="1"/>
          <p:nvPr/>
        </p:nvSpPr>
        <p:spPr>
          <a:xfrm>
            <a:off x="7973568" y="3246120"/>
            <a:ext cx="502920" cy="36576"/>
          </a:xfrm>
          <a:prstGeom prst="rect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26" name="footer line"/>
          <p:cNvSpPr txBox="1"/>
          <p:nvPr/>
        </p:nvSpPr>
        <p:spPr>
          <a:xfrm>
            <a:off x="658368" y="6108192"/>
            <a:ext cx="10881360" cy="9144"/>
          </a:xfrm>
          <a:prstGeom prst="rect">
            <a:avLst/>
          </a:prstGeom>
          <a:solidFill>
            <a:srgbClr val="DCD7CE"/>
          </a:solidFill>
          <a:ln>
            <a:noFill/>
          </a:ln>
        </p:spPr>
      </p:sp>
      <p:sp>
        <p:nvSpPr>
          <p:cNvPr id="27" name="footer left"/>
          <p:cNvSpPr txBox="1"/>
          <p:nvPr/>
        </p:nvSpPr>
        <p:spPr>
          <a:xfrm>
            <a:off x="658368" y="627278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850">
                <a:solidFill>
                  <a:srgbClr val="586779"/>
                </a:solidFill>
                <a:latin typeface="Aptos"/>
                <a:cs typeface="Aptos"/>
              </a:rPr>
              <a:t>Architecture</a:t>
            </a:r>
            <a:endParaRPr lang="en-US" sz="850"/>
          </a:p>
        </p:txBody>
      </p:sp>
      <p:sp>
        <p:nvSpPr>
          <p:cNvPr id="28" name="footer right"/>
          <p:cNvSpPr txBox="1"/>
          <p:nvPr/>
        </p:nvSpPr>
        <p:spPr>
          <a:xfrm>
            <a:off x="7498079" y="6272784"/>
            <a:ext cx="404164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r"/>
            <a:r>
              <a:rPr lang="en-US" sz="850" b="1">
                <a:solidFill>
                  <a:srgbClr val="586779"/>
                </a:solidFill>
                <a:latin typeface="Aptos"/>
                <a:cs typeface="Aptos"/>
              </a:rPr>
              <a:t>PHP + MySQL + PHPMailer + payment helpers</a:t>
            </a:r>
            <a:endParaRPr lang="en-US" sz="8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wash left"/>
          <p:cNvSpPr txBox="1"/>
          <p:nvPr/>
        </p:nvSpPr>
        <p:spPr>
          <a:xfrm>
            <a:off x="-914400" y="-731520"/>
            <a:ext cx="3566160" cy="3566160"/>
          </a:xfrm>
          <a:prstGeom prst="ellipse">
            <a:avLst/>
          </a:prstGeom>
          <a:solidFill>
            <a:srgbClr val="EAF3F6"/>
          </a:solidFill>
          <a:ln>
            <a:noFill/>
          </a:ln>
        </p:spPr>
      </p:sp>
      <p:sp>
        <p:nvSpPr>
          <p:cNvPr id="3" name="accent wash right"/>
          <p:cNvSpPr txBox="1"/>
          <p:nvPr/>
        </p:nvSpPr>
        <p:spPr>
          <a:xfrm>
            <a:off x="9784080" y="-594360"/>
            <a:ext cx="3474720" cy="2926080"/>
          </a:xfrm>
          <a:prstGeom prst="ellipse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4" name="stage outline"/>
          <p:cNvSpPr txBox="1"/>
          <p:nvPr/>
        </p:nvSpPr>
        <p:spPr>
          <a:xfrm>
            <a:off x="201168" y="137160"/>
            <a:ext cx="11795760" cy="6583680"/>
          </a:xfrm>
          <a:prstGeom prst="roundRect">
            <a:avLst/>
          </a:prstGeom>
          <a:noFill/>
          <a:ln w="12700">
            <a:solidFill>
              <a:srgbClr val="E9E2D8"/>
            </a:solidFill>
          </a:ln>
        </p:spPr>
      </p:sp>
      <p:sp>
        <p:nvSpPr>
          <p:cNvPr id="5" name="slide number"/>
          <p:cNvSpPr txBox="1"/>
          <p:nvPr/>
        </p:nvSpPr>
        <p:spPr>
          <a:xfrm>
            <a:off x="10698480" y="627278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r"/>
            <a:r>
              <a:rPr lang="en-US" sz="900" b="1">
                <a:solidFill>
                  <a:srgbClr val="586779"/>
                </a:solidFill>
                <a:latin typeface="Aptos"/>
                <a:cs typeface="Aptos"/>
              </a:rPr>
              <a:t>10 / 12</a:t>
            </a:r>
            <a:endParaRPr lang="en-US" sz="900"/>
          </a:p>
        </p:txBody>
      </p:sp>
      <p:sp>
        <p:nvSpPr>
          <p:cNvPr id="6" name="eyebrow pill"/>
          <p:cNvSpPr txBox="1"/>
          <p:nvPr/>
        </p:nvSpPr>
        <p:spPr>
          <a:xfrm>
            <a:off x="658368" y="502920"/>
            <a:ext cx="2697480" cy="32918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7" name="eyebrow dot"/>
          <p:cNvSpPr txBox="1"/>
          <p:nvPr/>
        </p:nvSpPr>
        <p:spPr>
          <a:xfrm>
            <a:off x="768096" y="612648"/>
            <a:ext cx="100584" cy="100584"/>
          </a:xfrm>
          <a:prstGeom prst="ellipse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8" name="eyebrow text"/>
          <p:cNvSpPr txBox="1"/>
          <p:nvPr/>
        </p:nvSpPr>
        <p:spPr>
          <a:xfrm>
            <a:off x="969264" y="589788"/>
            <a:ext cx="2295144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830" b="1">
                <a:solidFill>
                  <a:srgbClr val="586779"/>
                </a:solidFill>
                <a:latin typeface="Aptos"/>
                <a:cs typeface="Aptos"/>
              </a:rPr>
              <a:t>COMPETITIVE POSITIONING</a:t>
            </a:r>
            <a:endParaRPr lang="en-US" sz="830"/>
          </a:p>
        </p:txBody>
      </p:sp>
      <p:sp>
        <p:nvSpPr>
          <p:cNvPr id="9" name="title"/>
          <p:cNvSpPr txBox="1"/>
          <p:nvPr/>
        </p:nvSpPr>
        <p:spPr>
          <a:xfrm>
            <a:off x="658368" y="914400"/>
            <a:ext cx="5212080" cy="1060704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4000" b="1">
                <a:solidFill>
                  <a:srgbClr val="102133"/>
                </a:solidFill>
                <a:latin typeface="Aptos"/>
                <a:cs typeface="Aptos"/>
              </a:rPr>
              <a:t>Where ToolShare</a:t>
            </a:r>
            <a:endParaRPr lang="en-US" sz="4000"/>
          </a:p>
          <a:p>
            <a:pPr algn="l"/>
            <a:r>
              <a:rPr lang="en-US" sz="4000" b="1">
                <a:solidFill>
                  <a:srgbClr val="102133"/>
                </a:solidFill>
                <a:latin typeface="Aptos"/>
                <a:cs typeface="Aptos"/>
              </a:rPr>
              <a:t>fits</a:t>
            </a:r>
            <a:endParaRPr lang="en-US" sz="4000"/>
          </a:p>
        </p:txBody>
      </p:sp>
      <p:sp>
        <p:nvSpPr>
          <p:cNvPr id="10" name="card shell"/>
          <p:cNvSpPr txBox="1"/>
          <p:nvPr/>
        </p:nvSpPr>
        <p:spPr>
          <a:xfrm>
            <a:off x="713232" y="2212848"/>
            <a:ext cx="2450592" cy="2788920"/>
          </a:xfrm>
          <a:prstGeom prst="roundRect">
            <a:avLst/>
          </a:prstGeom>
          <a:solidFill>
            <a:srgbClr val="FFF0EA"/>
          </a:solidFill>
          <a:ln w="12700">
            <a:solidFill>
              <a:srgbClr val="DCD7CE"/>
            </a:solidFill>
          </a:ln>
        </p:spPr>
      </p:sp>
      <p:sp>
        <p:nvSpPr>
          <p:cNvPr id="11" name="card accent"/>
          <p:cNvSpPr txBox="1"/>
          <p:nvPr/>
        </p:nvSpPr>
        <p:spPr>
          <a:xfrm>
            <a:off x="877824" y="2377440"/>
            <a:ext cx="384048" cy="384048"/>
          </a:xfrm>
          <a:prstGeom prst="roundRect">
            <a:avLst/>
          </a:prstGeom>
          <a:solidFill>
            <a:srgbClr val="FF8F62"/>
          </a:solidFill>
          <a:ln>
            <a:noFill/>
          </a:ln>
        </p:spPr>
      </p:sp>
      <p:sp>
        <p:nvSpPr>
          <p:cNvPr id="12" name="card label"/>
          <p:cNvSpPr txBox="1"/>
          <p:nvPr/>
        </p:nvSpPr>
        <p:spPr>
          <a:xfrm>
            <a:off x="896112" y="2487168"/>
            <a:ext cx="347472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30" b="1">
                <a:solidFill>
                  <a:srgbClr val="FFFFFF"/>
                </a:solidFill>
                <a:latin typeface="Aptos"/>
                <a:cs typeface="Aptos"/>
              </a:rPr>
              <a:t>1</a:t>
            </a:r>
            <a:endParaRPr lang="en-US" sz="830"/>
          </a:p>
        </p:txBody>
      </p:sp>
      <p:sp>
        <p:nvSpPr>
          <p:cNvPr id="13" name="card head"/>
          <p:cNvSpPr txBox="1"/>
          <p:nvPr/>
        </p:nvSpPr>
        <p:spPr>
          <a:xfrm>
            <a:off x="877824" y="2907791"/>
            <a:ext cx="2121408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350" b="1">
                <a:solidFill>
                  <a:srgbClr val="102133"/>
                </a:solidFill>
                <a:latin typeface="Aptos"/>
                <a:cs typeface="Aptos"/>
              </a:rPr>
              <a:t>Buying tools</a:t>
            </a:r>
            <a:endParaRPr lang="en-US" sz="1350"/>
          </a:p>
        </p:txBody>
      </p:sp>
      <p:sp>
        <p:nvSpPr>
          <p:cNvPr id="14" name="card txt"/>
          <p:cNvSpPr txBox="1"/>
          <p:nvPr/>
        </p:nvSpPr>
        <p:spPr>
          <a:xfrm>
            <a:off x="877824" y="3291839"/>
            <a:ext cx="2121408" cy="1618487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050">
                <a:solidFill>
                  <a:srgbClr val="586779"/>
                </a:solidFill>
                <a:latin typeface="Aptos"/>
                <a:cs typeface="Aptos"/>
              </a:rPr>
              <a:t>Reliable but expensive for one-time use.</a:t>
            </a:r>
            <a:endParaRPr lang="en-US" sz="1050"/>
          </a:p>
        </p:txBody>
      </p:sp>
      <p:sp>
        <p:nvSpPr>
          <p:cNvPr id="15" name="card shell"/>
          <p:cNvSpPr txBox="1"/>
          <p:nvPr/>
        </p:nvSpPr>
        <p:spPr>
          <a:xfrm>
            <a:off x="3502152" y="2212848"/>
            <a:ext cx="2450592" cy="2788920"/>
          </a:xfrm>
          <a:prstGeom prst="roundRect">
            <a:avLst/>
          </a:prstGeom>
          <a:solidFill>
            <a:srgbClr val="FFF7DD"/>
          </a:solidFill>
          <a:ln w="12700">
            <a:solidFill>
              <a:srgbClr val="DCD7CE"/>
            </a:solidFill>
          </a:ln>
        </p:spPr>
      </p:sp>
      <p:sp>
        <p:nvSpPr>
          <p:cNvPr id="16" name="card accent"/>
          <p:cNvSpPr txBox="1"/>
          <p:nvPr/>
        </p:nvSpPr>
        <p:spPr>
          <a:xfrm>
            <a:off x="3666744" y="2377440"/>
            <a:ext cx="384048" cy="384048"/>
          </a:xfrm>
          <a:prstGeom prst="roundRect">
            <a:avLst/>
          </a:prstGeom>
          <a:solidFill>
            <a:srgbClr val="F0C45D"/>
          </a:solidFill>
          <a:ln>
            <a:noFill/>
          </a:ln>
        </p:spPr>
      </p:sp>
      <p:sp>
        <p:nvSpPr>
          <p:cNvPr id="17" name="card label"/>
          <p:cNvSpPr txBox="1"/>
          <p:nvPr/>
        </p:nvSpPr>
        <p:spPr>
          <a:xfrm>
            <a:off x="3685032" y="2487168"/>
            <a:ext cx="347472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30" b="1">
                <a:solidFill>
                  <a:srgbClr val="FFFFFF"/>
                </a:solidFill>
                <a:latin typeface="Aptos"/>
                <a:cs typeface="Aptos"/>
              </a:rPr>
              <a:t>2</a:t>
            </a:r>
            <a:endParaRPr lang="en-US" sz="830"/>
          </a:p>
        </p:txBody>
      </p:sp>
      <p:sp>
        <p:nvSpPr>
          <p:cNvPr id="18" name="card head"/>
          <p:cNvSpPr txBox="1"/>
          <p:nvPr/>
        </p:nvSpPr>
        <p:spPr>
          <a:xfrm>
            <a:off x="3666744" y="2907791"/>
            <a:ext cx="2121408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350" b="1">
                <a:solidFill>
                  <a:srgbClr val="102133"/>
                </a:solidFill>
                <a:latin typeface="Aptos"/>
                <a:cs typeface="Aptos"/>
              </a:rPr>
              <a:t>Borrowing informally</a:t>
            </a:r>
            <a:endParaRPr lang="en-US" sz="1350"/>
          </a:p>
        </p:txBody>
      </p:sp>
      <p:sp>
        <p:nvSpPr>
          <p:cNvPr id="19" name="card txt"/>
          <p:cNvSpPr txBox="1"/>
          <p:nvPr/>
        </p:nvSpPr>
        <p:spPr>
          <a:xfrm>
            <a:off x="3666744" y="3291839"/>
            <a:ext cx="2121408" cy="1618487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050">
                <a:solidFill>
                  <a:srgbClr val="586779"/>
                </a:solidFill>
                <a:latin typeface="Aptos"/>
                <a:cs typeface="Aptos"/>
              </a:rPr>
              <a:t>Cheap but no records, deposits, or accountability.</a:t>
            </a:r>
            <a:endParaRPr lang="en-US" sz="1050"/>
          </a:p>
        </p:txBody>
      </p:sp>
      <p:sp>
        <p:nvSpPr>
          <p:cNvPr id="20" name="card shell"/>
          <p:cNvSpPr txBox="1"/>
          <p:nvPr/>
        </p:nvSpPr>
        <p:spPr>
          <a:xfrm>
            <a:off x="6291072" y="2212848"/>
            <a:ext cx="2450592" cy="2788920"/>
          </a:xfrm>
          <a:prstGeom prst="roundRect">
            <a:avLst/>
          </a:prstGeom>
          <a:solidFill>
            <a:srgbClr val="EAF3F6"/>
          </a:solidFill>
          <a:ln w="12700">
            <a:solidFill>
              <a:srgbClr val="DCD7CE"/>
            </a:solidFill>
          </a:ln>
        </p:spPr>
      </p:sp>
      <p:sp>
        <p:nvSpPr>
          <p:cNvPr id="21" name="card accent"/>
          <p:cNvSpPr txBox="1"/>
          <p:nvPr/>
        </p:nvSpPr>
        <p:spPr>
          <a:xfrm>
            <a:off x="6455664" y="2377440"/>
            <a:ext cx="384048" cy="384048"/>
          </a:xfrm>
          <a:prstGeom prst="roundRect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22" name="card label"/>
          <p:cNvSpPr txBox="1"/>
          <p:nvPr/>
        </p:nvSpPr>
        <p:spPr>
          <a:xfrm>
            <a:off x="6473952" y="2487168"/>
            <a:ext cx="347472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30" b="1">
                <a:solidFill>
                  <a:srgbClr val="FFFFFF"/>
                </a:solidFill>
                <a:latin typeface="Aptos"/>
                <a:cs typeface="Aptos"/>
              </a:rPr>
              <a:t>3</a:t>
            </a:r>
            <a:endParaRPr lang="en-US" sz="830"/>
          </a:p>
        </p:txBody>
      </p:sp>
      <p:sp>
        <p:nvSpPr>
          <p:cNvPr id="23" name="card head"/>
          <p:cNvSpPr txBox="1"/>
          <p:nvPr/>
        </p:nvSpPr>
        <p:spPr>
          <a:xfrm>
            <a:off x="6455664" y="2907791"/>
            <a:ext cx="2121408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350" b="1">
                <a:solidFill>
                  <a:srgbClr val="102133"/>
                </a:solidFill>
                <a:latin typeface="Aptos"/>
                <a:cs typeface="Aptos"/>
              </a:rPr>
              <a:t>Rental stores</a:t>
            </a:r>
            <a:endParaRPr lang="en-US" sz="1350"/>
          </a:p>
        </p:txBody>
      </p:sp>
      <p:sp>
        <p:nvSpPr>
          <p:cNvPr id="24" name="card txt"/>
          <p:cNvSpPr txBox="1"/>
          <p:nvPr/>
        </p:nvSpPr>
        <p:spPr>
          <a:xfrm>
            <a:off x="6455664" y="3291839"/>
            <a:ext cx="2121408" cy="1618487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050">
                <a:solidFill>
                  <a:srgbClr val="586779"/>
                </a:solidFill>
                <a:latin typeface="Aptos"/>
                <a:cs typeface="Aptos"/>
              </a:rPr>
              <a:t>Structured but less peer-to-peer and less local-owner focused.</a:t>
            </a:r>
            <a:endParaRPr lang="en-US" sz="1050"/>
          </a:p>
        </p:txBody>
      </p:sp>
      <p:sp>
        <p:nvSpPr>
          <p:cNvPr id="25" name="card shell"/>
          <p:cNvSpPr txBox="1"/>
          <p:nvPr/>
        </p:nvSpPr>
        <p:spPr>
          <a:xfrm>
            <a:off x="9079991" y="2212848"/>
            <a:ext cx="2450592" cy="2788920"/>
          </a:xfrm>
          <a:prstGeom prst="roundRect">
            <a:avLst/>
          </a:prstGeom>
          <a:solidFill>
            <a:srgbClr val="EAF7F1"/>
          </a:solidFill>
          <a:ln w="12700">
            <a:solidFill>
              <a:srgbClr val="DCD7CE"/>
            </a:solidFill>
          </a:ln>
        </p:spPr>
      </p:sp>
      <p:sp>
        <p:nvSpPr>
          <p:cNvPr id="26" name="card accent"/>
          <p:cNvSpPr txBox="1"/>
          <p:nvPr/>
        </p:nvSpPr>
        <p:spPr>
          <a:xfrm>
            <a:off x="9244583" y="2377440"/>
            <a:ext cx="384048" cy="384048"/>
          </a:xfrm>
          <a:prstGeom prst="roundRect">
            <a:avLst/>
          </a:prstGeom>
          <a:solidFill>
            <a:srgbClr val="14B87A"/>
          </a:solidFill>
          <a:ln>
            <a:noFill/>
          </a:ln>
        </p:spPr>
      </p:sp>
      <p:sp>
        <p:nvSpPr>
          <p:cNvPr id="27" name="card label"/>
          <p:cNvSpPr txBox="1"/>
          <p:nvPr/>
        </p:nvSpPr>
        <p:spPr>
          <a:xfrm>
            <a:off x="9262871" y="2487168"/>
            <a:ext cx="347472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830" b="1">
                <a:solidFill>
                  <a:srgbClr val="FFFFFF"/>
                </a:solidFill>
                <a:latin typeface="Aptos"/>
                <a:cs typeface="Aptos"/>
              </a:rPr>
              <a:t>TS</a:t>
            </a:r>
            <a:endParaRPr lang="en-US" sz="830"/>
          </a:p>
        </p:txBody>
      </p:sp>
      <p:sp>
        <p:nvSpPr>
          <p:cNvPr id="28" name="card head"/>
          <p:cNvSpPr txBox="1"/>
          <p:nvPr/>
        </p:nvSpPr>
        <p:spPr>
          <a:xfrm>
            <a:off x="9244583" y="2907791"/>
            <a:ext cx="2121408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350" b="1">
                <a:solidFill>
                  <a:srgbClr val="102133"/>
                </a:solidFill>
                <a:latin typeface="Aptos"/>
                <a:cs typeface="Aptos"/>
              </a:rPr>
              <a:t>ToolShare</a:t>
            </a:r>
            <a:endParaRPr lang="en-US" sz="1350"/>
          </a:p>
        </p:txBody>
      </p:sp>
      <p:sp>
        <p:nvSpPr>
          <p:cNvPr id="29" name="card txt"/>
          <p:cNvSpPr txBox="1"/>
          <p:nvPr/>
        </p:nvSpPr>
        <p:spPr>
          <a:xfrm>
            <a:off x="9244583" y="3291839"/>
            <a:ext cx="2121408" cy="1618487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050">
                <a:solidFill>
                  <a:srgbClr val="586779"/>
                </a:solidFill>
                <a:latin typeface="Aptos"/>
                <a:cs typeface="Aptos"/>
              </a:rPr>
              <a:t>Local marketplace with renter, owner, admin, payment, and trust workflows.</a:t>
            </a:r>
            <a:endParaRPr lang="en-US" sz="1050"/>
          </a:p>
        </p:txBody>
      </p:sp>
      <p:sp>
        <p:nvSpPr>
          <p:cNvPr id="30" name="position banner"/>
          <p:cNvSpPr txBox="1"/>
          <p:nvPr/>
        </p:nvSpPr>
        <p:spPr>
          <a:xfrm>
            <a:off x="1389888" y="5358384"/>
            <a:ext cx="9372600" cy="384048"/>
          </a:xfrm>
          <a:prstGeom prst="roundRect">
            <a:avLst/>
          </a:prstGeom>
          <a:solidFill>
            <a:srgbClr val="EAF7F1"/>
          </a:solidFill>
          <a:ln w="12700">
            <a:solidFill>
              <a:srgbClr val="DCD7CE"/>
            </a:solidFill>
          </a:ln>
        </p:spPr>
        <p:txBody>
          <a:bodyPr wrap="square" anchor="t" rtlCol="0"/>
          <a:lstStyle/>
          <a:p>
            <a:pPr algn="c"/>
            <a:r>
              <a:rPr lang="en-US" sz="1260" b="1">
                <a:solidFill>
                  <a:srgbClr val="102133"/>
                </a:solidFill>
                <a:latin typeface="Aptos"/>
                <a:cs typeface="Aptos"/>
              </a:rPr>
              <a:t>ToolShare is strongest for local access, lower cost, and a structured rental process.</a:t>
            </a:r>
            <a:endParaRPr lang="en-US" sz="1260"/>
          </a:p>
        </p:txBody>
      </p:sp>
      <p:sp>
        <p:nvSpPr>
          <p:cNvPr id="31" name="footer line"/>
          <p:cNvSpPr txBox="1"/>
          <p:nvPr/>
        </p:nvSpPr>
        <p:spPr>
          <a:xfrm>
            <a:off x="658368" y="6108192"/>
            <a:ext cx="10881360" cy="9144"/>
          </a:xfrm>
          <a:prstGeom prst="rect">
            <a:avLst/>
          </a:prstGeom>
          <a:solidFill>
            <a:srgbClr val="DCD7CE"/>
          </a:solidFill>
          <a:ln>
            <a:noFill/>
          </a:ln>
        </p:spPr>
      </p:sp>
      <p:sp>
        <p:nvSpPr>
          <p:cNvPr id="32" name="footer left"/>
          <p:cNvSpPr txBox="1"/>
          <p:nvPr/>
        </p:nvSpPr>
        <p:spPr>
          <a:xfrm>
            <a:off x="658368" y="627278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850">
                <a:solidFill>
                  <a:srgbClr val="586779"/>
                </a:solidFill>
                <a:latin typeface="Aptos"/>
                <a:cs typeface="Aptos"/>
              </a:rPr>
              <a:t>Positioning</a:t>
            </a:r>
            <a:endParaRPr lang="en-US" sz="850"/>
          </a:p>
        </p:txBody>
      </p:sp>
      <p:sp>
        <p:nvSpPr>
          <p:cNvPr id="33" name="footer right"/>
          <p:cNvSpPr txBox="1"/>
          <p:nvPr/>
        </p:nvSpPr>
        <p:spPr>
          <a:xfrm>
            <a:off x="7498079" y="6272784"/>
            <a:ext cx="404164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r"/>
            <a:r>
              <a:rPr lang="en-US" sz="850" b="1">
                <a:solidFill>
                  <a:srgbClr val="586779"/>
                </a:solidFill>
                <a:latin typeface="Aptos"/>
                <a:cs typeface="Aptos"/>
              </a:rPr>
              <a:t>Structured local rental marketplace</a:t>
            </a:r>
            <a:endParaRPr lang="en-US" sz="8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wash left"/>
          <p:cNvSpPr txBox="1"/>
          <p:nvPr/>
        </p:nvSpPr>
        <p:spPr>
          <a:xfrm>
            <a:off x="-914400" y="-731520"/>
            <a:ext cx="3566160" cy="3566160"/>
          </a:xfrm>
          <a:prstGeom prst="ellipse">
            <a:avLst/>
          </a:prstGeom>
          <a:solidFill>
            <a:srgbClr val="EAF3F6"/>
          </a:solidFill>
          <a:ln>
            <a:noFill/>
          </a:ln>
        </p:spPr>
      </p:sp>
      <p:sp>
        <p:nvSpPr>
          <p:cNvPr id="3" name="accent wash right"/>
          <p:cNvSpPr txBox="1"/>
          <p:nvPr/>
        </p:nvSpPr>
        <p:spPr>
          <a:xfrm>
            <a:off x="9784080" y="-594360"/>
            <a:ext cx="3474720" cy="2926080"/>
          </a:xfrm>
          <a:prstGeom prst="ellipse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4" name="stage outline"/>
          <p:cNvSpPr txBox="1"/>
          <p:nvPr/>
        </p:nvSpPr>
        <p:spPr>
          <a:xfrm>
            <a:off x="201168" y="137160"/>
            <a:ext cx="11795760" cy="6583680"/>
          </a:xfrm>
          <a:prstGeom prst="roundRect">
            <a:avLst/>
          </a:prstGeom>
          <a:noFill/>
          <a:ln w="12700">
            <a:solidFill>
              <a:srgbClr val="E9E2D8"/>
            </a:solidFill>
          </a:ln>
        </p:spPr>
      </p:sp>
      <p:sp>
        <p:nvSpPr>
          <p:cNvPr id="5" name="slide number"/>
          <p:cNvSpPr txBox="1"/>
          <p:nvPr/>
        </p:nvSpPr>
        <p:spPr>
          <a:xfrm>
            <a:off x="10698480" y="627278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r"/>
            <a:r>
              <a:rPr lang="en-US" sz="900" b="1">
                <a:solidFill>
                  <a:srgbClr val="586779"/>
                </a:solidFill>
                <a:latin typeface="Aptos"/>
                <a:cs typeface="Aptos"/>
              </a:rPr>
              <a:t>11 / 12</a:t>
            </a:r>
            <a:endParaRPr lang="en-US" sz="900"/>
          </a:p>
        </p:txBody>
      </p:sp>
      <p:sp>
        <p:nvSpPr>
          <p:cNvPr id="6" name="eyebrow pill"/>
          <p:cNvSpPr txBox="1"/>
          <p:nvPr/>
        </p:nvSpPr>
        <p:spPr>
          <a:xfrm>
            <a:off x="658368" y="502920"/>
            <a:ext cx="2697480" cy="32918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7" name="eyebrow dot"/>
          <p:cNvSpPr txBox="1"/>
          <p:nvPr/>
        </p:nvSpPr>
        <p:spPr>
          <a:xfrm>
            <a:off x="768096" y="612648"/>
            <a:ext cx="100584" cy="100584"/>
          </a:xfrm>
          <a:prstGeom prst="ellipse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8" name="eyebrow text"/>
          <p:cNvSpPr txBox="1"/>
          <p:nvPr/>
        </p:nvSpPr>
        <p:spPr>
          <a:xfrm>
            <a:off x="969264" y="589788"/>
            <a:ext cx="2295144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830" b="1">
                <a:solidFill>
                  <a:srgbClr val="586779"/>
                </a:solidFill>
                <a:latin typeface="Aptos"/>
                <a:cs typeface="Aptos"/>
              </a:rPr>
              <a:t>LIVE DEMO PLAN</a:t>
            </a:r>
            <a:endParaRPr lang="en-US" sz="830"/>
          </a:p>
        </p:txBody>
      </p:sp>
      <p:sp>
        <p:nvSpPr>
          <p:cNvPr id="9" name="title"/>
          <p:cNvSpPr txBox="1"/>
          <p:nvPr/>
        </p:nvSpPr>
        <p:spPr>
          <a:xfrm>
            <a:off x="658368" y="914400"/>
            <a:ext cx="6583680" cy="1060704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3600" b="1">
                <a:solidFill>
                  <a:srgbClr val="102133"/>
                </a:solidFill>
                <a:latin typeface="Aptos"/>
                <a:cs typeface="Aptos"/>
              </a:rPr>
              <a:t>A clear demo path</a:t>
            </a:r>
            <a:endParaRPr lang="en-US" sz="3600"/>
          </a:p>
          <a:p>
            <a:pPr algn="l"/>
            <a:r>
              <a:rPr lang="en-US" sz="3600" b="1">
                <a:solidFill>
                  <a:srgbClr val="102133"/>
                </a:solidFill>
                <a:latin typeface="Aptos"/>
                <a:cs typeface="Aptos"/>
              </a:rPr>
              <a:t>for presentation day</a:t>
            </a:r>
            <a:endParaRPr lang="en-US" sz="3600"/>
          </a:p>
        </p:txBody>
      </p:sp>
      <p:sp>
        <p:nvSpPr>
          <p:cNvPr id="10" name="demo row"/>
          <p:cNvSpPr txBox="1"/>
          <p:nvPr/>
        </p:nvSpPr>
        <p:spPr>
          <a:xfrm>
            <a:off x="768096" y="1920240"/>
            <a:ext cx="4956048" cy="87782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11" name="demo num"/>
          <p:cNvSpPr txBox="1"/>
          <p:nvPr/>
        </p:nvSpPr>
        <p:spPr>
          <a:xfrm>
            <a:off x="923544" y="2130552"/>
            <a:ext cx="438912" cy="438912"/>
          </a:xfrm>
          <a:prstGeom prst="roundRect">
            <a:avLst/>
          </a:prstGeom>
          <a:solidFill>
            <a:srgbClr val="102133"/>
          </a:solidFill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900" b="1">
                <a:solidFill>
                  <a:srgbClr val="FFFFFF"/>
                </a:solidFill>
                <a:latin typeface="Aptos"/>
                <a:cs typeface="Aptos"/>
              </a:rPr>
              <a:t>01</a:t>
            </a:r>
            <a:endParaRPr lang="en-US" sz="900"/>
          </a:p>
        </p:txBody>
      </p:sp>
      <p:sp>
        <p:nvSpPr>
          <p:cNvPr id="12" name="body"/>
          <p:cNvSpPr txBox="1"/>
          <p:nvPr/>
        </p:nvSpPr>
        <p:spPr>
          <a:xfrm>
            <a:off x="1517904" y="2084832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220" b="1">
                <a:solidFill>
                  <a:srgbClr val="102133"/>
                </a:solidFill>
                <a:latin typeface="Aptos"/>
                <a:cs typeface="Aptos"/>
              </a:rPr>
              <a:t>Start with the story</a:t>
            </a:r>
            <a:endParaRPr lang="en-US" sz="1220"/>
          </a:p>
        </p:txBody>
      </p:sp>
      <p:sp>
        <p:nvSpPr>
          <p:cNvPr id="13" name="body"/>
          <p:cNvSpPr txBox="1"/>
          <p:nvPr/>
        </p:nvSpPr>
        <p:spPr>
          <a:xfrm>
            <a:off x="1517904" y="237744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919">
                <a:solidFill>
                  <a:srgbClr val="586779"/>
                </a:solidFill>
                <a:latin typeface="Aptos"/>
                <a:cs typeface="Aptos"/>
              </a:rPr>
              <a:t>A renter needs a tool for one project.</a:t>
            </a:r>
            <a:endParaRPr lang="en-US" sz="919"/>
          </a:p>
        </p:txBody>
      </p:sp>
      <p:sp>
        <p:nvSpPr>
          <p:cNvPr id="14" name="demo row"/>
          <p:cNvSpPr txBox="1"/>
          <p:nvPr/>
        </p:nvSpPr>
        <p:spPr>
          <a:xfrm>
            <a:off x="6208776" y="1920240"/>
            <a:ext cx="4956048" cy="87782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15" name="demo num"/>
          <p:cNvSpPr txBox="1"/>
          <p:nvPr/>
        </p:nvSpPr>
        <p:spPr>
          <a:xfrm>
            <a:off x="6364224" y="2130552"/>
            <a:ext cx="438912" cy="438912"/>
          </a:xfrm>
          <a:prstGeom prst="roundRect">
            <a:avLst/>
          </a:prstGeom>
          <a:solidFill>
            <a:srgbClr val="102133"/>
          </a:solidFill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900" b="1">
                <a:solidFill>
                  <a:srgbClr val="FFFFFF"/>
                </a:solidFill>
                <a:latin typeface="Aptos"/>
                <a:cs typeface="Aptos"/>
              </a:rPr>
              <a:t>02</a:t>
            </a:r>
            <a:endParaRPr lang="en-US" sz="900"/>
          </a:p>
        </p:txBody>
      </p:sp>
      <p:sp>
        <p:nvSpPr>
          <p:cNvPr id="16" name="body"/>
          <p:cNvSpPr txBox="1"/>
          <p:nvPr/>
        </p:nvSpPr>
        <p:spPr>
          <a:xfrm>
            <a:off x="6958584" y="2084832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220" b="1">
                <a:solidFill>
                  <a:srgbClr val="102133"/>
                </a:solidFill>
                <a:latin typeface="Aptos"/>
                <a:cs typeface="Aptos"/>
              </a:rPr>
              <a:t>Browse and open a tool</a:t>
            </a:r>
            <a:endParaRPr lang="en-US" sz="1220"/>
          </a:p>
        </p:txBody>
      </p:sp>
      <p:sp>
        <p:nvSpPr>
          <p:cNvPr id="17" name="body"/>
          <p:cNvSpPr txBox="1"/>
          <p:nvPr/>
        </p:nvSpPr>
        <p:spPr>
          <a:xfrm>
            <a:off x="6958584" y="237744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919">
                <a:solidFill>
                  <a:srgbClr val="586779"/>
                </a:solidFill>
                <a:latin typeface="Aptos"/>
                <a:cs typeface="Aptos"/>
              </a:rPr>
              <a:t>Show listings and tool details.</a:t>
            </a:r>
            <a:endParaRPr lang="en-US" sz="919"/>
          </a:p>
        </p:txBody>
      </p:sp>
      <p:sp>
        <p:nvSpPr>
          <p:cNvPr id="18" name="demo row"/>
          <p:cNvSpPr txBox="1"/>
          <p:nvPr/>
        </p:nvSpPr>
        <p:spPr>
          <a:xfrm>
            <a:off x="768096" y="3154680"/>
            <a:ext cx="4956048" cy="87782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19" name="demo num"/>
          <p:cNvSpPr txBox="1"/>
          <p:nvPr/>
        </p:nvSpPr>
        <p:spPr>
          <a:xfrm>
            <a:off x="923544" y="3364992"/>
            <a:ext cx="438912" cy="438912"/>
          </a:xfrm>
          <a:prstGeom prst="roundRect">
            <a:avLst/>
          </a:prstGeom>
          <a:solidFill>
            <a:srgbClr val="102133"/>
          </a:solidFill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900" b="1">
                <a:solidFill>
                  <a:srgbClr val="FFFFFF"/>
                </a:solidFill>
                <a:latin typeface="Aptos"/>
                <a:cs typeface="Aptos"/>
              </a:rPr>
              <a:t>03</a:t>
            </a:r>
            <a:endParaRPr lang="en-US" sz="900"/>
          </a:p>
        </p:txBody>
      </p:sp>
      <p:sp>
        <p:nvSpPr>
          <p:cNvPr id="20" name="body"/>
          <p:cNvSpPr txBox="1"/>
          <p:nvPr/>
        </p:nvSpPr>
        <p:spPr>
          <a:xfrm>
            <a:off x="1517904" y="3319272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220" b="1">
                <a:solidFill>
                  <a:srgbClr val="102133"/>
                </a:solidFill>
                <a:latin typeface="Aptos"/>
                <a:cs typeface="Aptos"/>
              </a:rPr>
              <a:t>Walk through booking</a:t>
            </a:r>
            <a:endParaRPr lang="en-US" sz="1220"/>
          </a:p>
        </p:txBody>
      </p:sp>
      <p:sp>
        <p:nvSpPr>
          <p:cNvPr id="21" name="body"/>
          <p:cNvSpPr txBox="1"/>
          <p:nvPr/>
        </p:nvSpPr>
        <p:spPr>
          <a:xfrm>
            <a:off x="1517904" y="361188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919">
                <a:solidFill>
                  <a:srgbClr val="586779"/>
                </a:solidFill>
                <a:latin typeface="Aptos"/>
                <a:cs typeface="Aptos"/>
              </a:rPr>
              <a:t>Show request, payment/deposit idea, renter dashboard.</a:t>
            </a:r>
            <a:endParaRPr lang="en-US" sz="919"/>
          </a:p>
        </p:txBody>
      </p:sp>
      <p:sp>
        <p:nvSpPr>
          <p:cNvPr id="22" name="demo row"/>
          <p:cNvSpPr txBox="1"/>
          <p:nvPr/>
        </p:nvSpPr>
        <p:spPr>
          <a:xfrm>
            <a:off x="6208776" y="3154680"/>
            <a:ext cx="4956048" cy="87782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23" name="demo num"/>
          <p:cNvSpPr txBox="1"/>
          <p:nvPr/>
        </p:nvSpPr>
        <p:spPr>
          <a:xfrm>
            <a:off x="6364224" y="3364992"/>
            <a:ext cx="438912" cy="438912"/>
          </a:xfrm>
          <a:prstGeom prst="roundRect">
            <a:avLst/>
          </a:prstGeom>
          <a:solidFill>
            <a:srgbClr val="102133"/>
          </a:solidFill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900" b="1">
                <a:solidFill>
                  <a:srgbClr val="FFFFFF"/>
                </a:solidFill>
                <a:latin typeface="Aptos"/>
                <a:cs typeface="Aptos"/>
              </a:rPr>
              <a:t>04</a:t>
            </a:r>
            <a:endParaRPr lang="en-US" sz="900"/>
          </a:p>
        </p:txBody>
      </p:sp>
      <p:sp>
        <p:nvSpPr>
          <p:cNvPr id="24" name="body"/>
          <p:cNvSpPr txBox="1"/>
          <p:nvPr/>
        </p:nvSpPr>
        <p:spPr>
          <a:xfrm>
            <a:off x="6958584" y="3319272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220" b="1">
                <a:solidFill>
                  <a:srgbClr val="102133"/>
                </a:solidFill>
                <a:latin typeface="Aptos"/>
                <a:cs typeface="Aptos"/>
              </a:rPr>
              <a:t>Switch to owner view</a:t>
            </a:r>
            <a:endParaRPr lang="en-US" sz="1220"/>
          </a:p>
        </p:txBody>
      </p:sp>
      <p:sp>
        <p:nvSpPr>
          <p:cNvPr id="25" name="body"/>
          <p:cNvSpPr txBox="1"/>
          <p:nvPr/>
        </p:nvSpPr>
        <p:spPr>
          <a:xfrm>
            <a:off x="6958584" y="361188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919">
                <a:solidFill>
                  <a:srgbClr val="586779"/>
                </a:solidFill>
                <a:latin typeface="Aptos"/>
                <a:cs typeface="Aptos"/>
              </a:rPr>
              <a:t>Show listings, activity, return flow, earnings.</a:t>
            </a:r>
            <a:endParaRPr lang="en-US" sz="919"/>
          </a:p>
        </p:txBody>
      </p:sp>
      <p:sp>
        <p:nvSpPr>
          <p:cNvPr id="26" name="demo row"/>
          <p:cNvSpPr txBox="1"/>
          <p:nvPr/>
        </p:nvSpPr>
        <p:spPr>
          <a:xfrm>
            <a:off x="768096" y="4389120"/>
            <a:ext cx="4956048" cy="87782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27" name="demo num"/>
          <p:cNvSpPr txBox="1"/>
          <p:nvPr/>
        </p:nvSpPr>
        <p:spPr>
          <a:xfrm>
            <a:off x="923544" y="4599432"/>
            <a:ext cx="438912" cy="438912"/>
          </a:xfrm>
          <a:prstGeom prst="roundRect">
            <a:avLst/>
          </a:prstGeom>
          <a:solidFill>
            <a:srgbClr val="102133"/>
          </a:solidFill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900" b="1">
                <a:solidFill>
                  <a:srgbClr val="FFFFFF"/>
                </a:solidFill>
                <a:latin typeface="Aptos"/>
                <a:cs typeface="Aptos"/>
              </a:rPr>
              <a:t>05</a:t>
            </a:r>
            <a:endParaRPr lang="en-US" sz="900"/>
          </a:p>
        </p:txBody>
      </p:sp>
      <p:sp>
        <p:nvSpPr>
          <p:cNvPr id="28" name="body"/>
          <p:cNvSpPr txBox="1"/>
          <p:nvPr/>
        </p:nvSpPr>
        <p:spPr>
          <a:xfrm>
            <a:off x="1517904" y="4553712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220" b="1">
                <a:solidFill>
                  <a:srgbClr val="102133"/>
                </a:solidFill>
                <a:latin typeface="Aptos"/>
                <a:cs typeface="Aptos"/>
              </a:rPr>
              <a:t>Open admin operations</a:t>
            </a:r>
            <a:endParaRPr lang="en-US" sz="1220"/>
          </a:p>
        </p:txBody>
      </p:sp>
      <p:sp>
        <p:nvSpPr>
          <p:cNvPr id="29" name="body"/>
          <p:cNvSpPr txBox="1"/>
          <p:nvPr/>
        </p:nvSpPr>
        <p:spPr>
          <a:xfrm>
            <a:off x="1517904" y="484632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919">
                <a:solidFill>
                  <a:srgbClr val="586779"/>
                </a:solidFill>
                <a:latin typeface="Aptos"/>
                <a:cs typeface="Aptos"/>
              </a:rPr>
              <a:t>Show users, bookings, disputes, deposits, reports.</a:t>
            </a:r>
            <a:endParaRPr lang="en-US" sz="919"/>
          </a:p>
        </p:txBody>
      </p:sp>
      <p:sp>
        <p:nvSpPr>
          <p:cNvPr id="30" name="demo row"/>
          <p:cNvSpPr txBox="1"/>
          <p:nvPr/>
        </p:nvSpPr>
        <p:spPr>
          <a:xfrm>
            <a:off x="6208776" y="4389120"/>
            <a:ext cx="4956048" cy="87782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31" name="demo num"/>
          <p:cNvSpPr txBox="1"/>
          <p:nvPr/>
        </p:nvSpPr>
        <p:spPr>
          <a:xfrm>
            <a:off x="6364224" y="4599432"/>
            <a:ext cx="438912" cy="438912"/>
          </a:xfrm>
          <a:prstGeom prst="roundRect">
            <a:avLst/>
          </a:prstGeom>
          <a:solidFill>
            <a:srgbClr val="102133"/>
          </a:solidFill>
          <a:ln>
            <a:noFill/>
          </a:ln>
        </p:spPr>
        <p:txBody>
          <a:bodyPr wrap="square" anchor="t" rtlCol="0"/>
          <a:lstStyle/>
          <a:p>
            <a:pPr algn="c"/>
            <a:r>
              <a:rPr lang="en-US" sz="900" b="1">
                <a:solidFill>
                  <a:srgbClr val="FFFFFF"/>
                </a:solidFill>
                <a:latin typeface="Aptos"/>
                <a:cs typeface="Aptos"/>
              </a:rPr>
              <a:t>06</a:t>
            </a:r>
            <a:endParaRPr lang="en-US" sz="900"/>
          </a:p>
        </p:txBody>
      </p:sp>
      <p:sp>
        <p:nvSpPr>
          <p:cNvPr id="32" name="body"/>
          <p:cNvSpPr txBox="1"/>
          <p:nvPr/>
        </p:nvSpPr>
        <p:spPr>
          <a:xfrm>
            <a:off x="6958584" y="4553712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1220" b="1">
                <a:solidFill>
                  <a:srgbClr val="102133"/>
                </a:solidFill>
                <a:latin typeface="Aptos"/>
                <a:cs typeface="Aptos"/>
              </a:rPr>
              <a:t>Mention email safely</a:t>
            </a:r>
            <a:endParaRPr lang="en-US" sz="1220"/>
          </a:p>
        </p:txBody>
      </p:sp>
      <p:sp>
        <p:nvSpPr>
          <p:cNvPr id="33" name="body"/>
          <p:cNvSpPr txBox="1"/>
          <p:nvPr/>
        </p:nvSpPr>
        <p:spPr>
          <a:xfrm>
            <a:off x="6958584" y="484632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919">
                <a:solidFill>
                  <a:srgbClr val="586779"/>
                </a:solidFill>
                <a:latin typeface="Aptos"/>
                <a:cs typeface="Aptos"/>
              </a:rPr>
              <a:t>Use a screenshot for SMTP verification/reset.</a:t>
            </a:r>
            <a:endParaRPr lang="en-US" sz="919"/>
          </a:p>
        </p:txBody>
      </p:sp>
      <p:sp>
        <p:nvSpPr>
          <p:cNvPr id="34" name="footer line"/>
          <p:cNvSpPr txBox="1"/>
          <p:nvPr/>
        </p:nvSpPr>
        <p:spPr>
          <a:xfrm>
            <a:off x="658368" y="6108192"/>
            <a:ext cx="10881360" cy="9144"/>
          </a:xfrm>
          <a:prstGeom prst="rect">
            <a:avLst/>
          </a:prstGeom>
          <a:solidFill>
            <a:srgbClr val="DCD7CE"/>
          </a:solidFill>
          <a:ln>
            <a:noFill/>
          </a:ln>
        </p:spPr>
      </p:sp>
      <p:sp>
        <p:nvSpPr>
          <p:cNvPr id="35" name="footer left"/>
          <p:cNvSpPr txBox="1"/>
          <p:nvPr/>
        </p:nvSpPr>
        <p:spPr>
          <a:xfrm>
            <a:off x="658368" y="627278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l"/>
            <a:r>
              <a:rPr lang="en-US" sz="850">
                <a:solidFill>
                  <a:srgbClr val="586779"/>
                </a:solidFill>
                <a:latin typeface="Aptos"/>
                <a:cs typeface="Aptos"/>
              </a:rPr>
              <a:t>Demo strategy</a:t>
            </a:r>
            <a:endParaRPr lang="en-US" sz="850"/>
          </a:p>
        </p:txBody>
      </p:sp>
      <p:sp>
        <p:nvSpPr>
          <p:cNvPr id="36" name="footer right"/>
          <p:cNvSpPr txBox="1"/>
          <p:nvPr/>
        </p:nvSpPr>
        <p:spPr>
          <a:xfrm>
            <a:off x="7498079" y="6272784"/>
            <a:ext cx="404164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/>
          <a:lstStyle/>
          <a:p>
            <a:pPr algn="r"/>
            <a:r>
              <a:rPr lang="en-US" sz="850" b="1">
                <a:solidFill>
                  <a:srgbClr val="586779"/>
                </a:solidFill>
                <a:latin typeface="Aptos"/>
                <a:cs typeface="Aptos"/>
              </a:rPr>
              <a:t>Story first, feature proof second</a:t>
            </a:r>
            <a:endParaRPr lang="en-US" sz="8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wash left"/>
          <p:cNvSpPr txBox="1"/>
          <p:nvPr/>
        </p:nvSpPr>
        <p:spPr>
          <a:xfrm>
            <a:off x="-914400" y="-731520"/>
            <a:ext cx="3566160" cy="3566160"/>
          </a:xfrm>
          <a:prstGeom prst="ellipse">
            <a:avLst/>
          </a:prstGeom>
          <a:solidFill>
            <a:srgbClr val="EAF3F6"/>
          </a:solidFill>
          <a:ln>
            <a:noFill/>
          </a:ln>
        </p:spPr>
      </p:sp>
      <p:sp>
        <p:nvSpPr>
          <p:cNvPr id="3" name="accent wash right"/>
          <p:cNvSpPr txBox="1"/>
          <p:nvPr/>
        </p:nvSpPr>
        <p:spPr>
          <a:xfrm>
            <a:off x="9784080" y="-594360"/>
            <a:ext cx="3474720" cy="2926080"/>
          </a:xfrm>
          <a:prstGeom prst="ellipse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4" name="stage outline"/>
          <p:cNvSpPr txBox="1"/>
          <p:nvPr/>
        </p:nvSpPr>
        <p:spPr>
          <a:xfrm>
            <a:off x="201168" y="137160"/>
            <a:ext cx="11795760" cy="6583680"/>
          </a:xfrm>
          <a:prstGeom prst="roundRect">
            <a:avLst/>
          </a:prstGeom>
          <a:noFill/>
          <a:ln w="12700">
            <a:solidFill>
              <a:srgbClr val="E9E2D8"/>
            </a:solidFill>
          </a:ln>
        </p:spPr>
      </p:sp>
      <p:sp>
        <p:nvSpPr>
          <p:cNvPr id="5" name="center card"/>
          <p:cNvSpPr txBox="1"/>
          <p:nvPr/>
        </p:nvSpPr>
        <p:spPr>
          <a:xfrm>
            <a:off x="1938528" y="1078992"/>
            <a:ext cx="8321040" cy="440740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D7CE"/>
            </a:solidFill>
          </a:ln>
        </p:spPr>
      </p:sp>
      <p:sp>
        <p:nvSpPr>
          <p:cNvPr id="6" name="top accent"/>
          <p:cNvSpPr txBox="1"/>
          <p:nvPr/>
        </p:nvSpPr>
        <p:spPr>
          <a:xfrm>
            <a:off x="1938528" y="1078992"/>
            <a:ext cx="8321040" cy="164592"/>
          </a:xfrm>
          <a:prstGeom prst="roundRect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7" name="thank you"/>
          <p:cNvSpPr txBox="1"/>
          <p:nvPr/>
        </p:nvSpPr>
        <p:spPr>
          <a:xfrm>
            <a:off x="2578608" y="1938528"/>
            <a:ext cx="7040880" cy="777240"/>
          </a:xfrm>
          <a:prstGeom prst="rect">
            <a:avLst/>
          </a:prstGeom>
          <a:noFill/>
          <a:ln>
            <a:noFill/>
          </a:ln>
        </p:spPr>
        <p:txBody>
          <a:bodyPr wrap="square" anchor="mid" rtlCol="0"/>
          <a:lstStyle/>
          <a:p>
            <a:pPr algn="c"/>
            <a:r>
              <a:rPr lang="en-US" sz="4400" b="1">
                <a:solidFill>
                  <a:srgbClr val="102133"/>
                </a:solidFill>
                <a:latin typeface="Aptos"/>
                <a:cs typeface="Aptos"/>
              </a:rPr>
              <a:t>Thank You</a:t>
            </a:r>
            <a:endParaRPr lang="en-US" sz="4400"/>
          </a:p>
        </p:txBody>
      </p:sp>
      <p:sp>
        <p:nvSpPr>
          <p:cNvPr id="8" name="questions"/>
          <p:cNvSpPr txBox="1"/>
          <p:nvPr/>
        </p:nvSpPr>
        <p:spPr>
          <a:xfrm>
            <a:off x="2697480" y="2816352"/>
            <a:ext cx="6812280" cy="658368"/>
          </a:xfrm>
          <a:prstGeom prst="rect">
            <a:avLst/>
          </a:prstGeom>
          <a:noFill/>
          <a:ln>
            <a:noFill/>
          </a:ln>
        </p:spPr>
        <p:txBody>
          <a:bodyPr wrap="square" anchor="mid" rtlCol="0"/>
          <a:lstStyle/>
          <a:p>
            <a:pPr algn="c"/>
            <a:r>
              <a:rPr lang="en-US" sz="3200" b="1">
                <a:solidFill>
                  <a:srgbClr val="1F6F78"/>
                </a:solidFill>
                <a:latin typeface="Aptos"/>
                <a:cs typeface="Aptos"/>
              </a:rPr>
              <a:t>Questions?</a:t>
            </a:r>
            <a:endParaRPr lang="en-US" sz="3200"/>
          </a:p>
        </p:txBody>
      </p:sp>
      <p:sp>
        <p:nvSpPr>
          <p:cNvPr id="9" name="tagline"/>
          <p:cNvSpPr txBox="1"/>
          <p:nvPr/>
        </p:nvSpPr>
        <p:spPr>
          <a:xfrm>
            <a:off x="2852928" y="3730752"/>
            <a:ext cx="64922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 rtlCol="0"/>
          <a:lstStyle/>
          <a:p>
            <a:pPr algn="c"/>
            <a:r>
              <a:rPr lang="en-US" sz="1500">
                <a:solidFill>
                  <a:srgbClr val="586779"/>
                </a:solidFill>
                <a:latin typeface="Aptos"/>
                <a:cs typeface="Aptos"/>
              </a:rPr>
              <a:t>ToolShare: trusted local tool rentals for renters, owners, and admins.</a:t>
            </a:r>
            <a:endParaRPr lang="en-US" sz="1500"/>
          </a:p>
        </p:txBody>
      </p:sp>
      <p:sp>
        <p:nvSpPr>
          <p:cNvPr id="10" name="closing pill"/>
          <p:cNvSpPr txBox="1"/>
          <p:nvPr/>
        </p:nvSpPr>
        <p:spPr>
          <a:xfrm>
            <a:off x="4041648" y="4590288"/>
            <a:ext cx="4160520" cy="384048"/>
          </a:xfrm>
          <a:prstGeom prst="roundRect">
            <a:avLst/>
          </a:prstGeom>
          <a:solidFill>
            <a:srgbClr val="102133"/>
          </a:solidFill>
          <a:ln>
            <a:noFill/>
          </a:ln>
        </p:spPr>
        <p:txBody>
          <a:bodyPr wrap="square" anchor="mid" rtlCol="0"/>
          <a:lstStyle/>
          <a:p>
            <a:pPr algn="c"/>
            <a:r>
              <a:rPr lang="en-US" sz="1200" b="1">
                <a:solidFill>
                  <a:srgbClr val="FFFFFF"/>
                </a:solidFill>
                <a:latin typeface="Aptos"/>
                <a:cs typeface="Aptos"/>
              </a:rPr>
              <a:t>Ready for live demo and discussion</a:t>
            </a:r>
            <a:endParaRPr lang="en-US" sz="1200"/>
          </a:p>
        </p:txBody>
      </p:sp>
      <p:sp>
        <p:nvSpPr>
          <p:cNvPr id="11" name="footer line"/>
          <p:cNvSpPr txBox="1"/>
          <p:nvPr/>
        </p:nvSpPr>
        <p:spPr>
          <a:xfrm>
            <a:off x="658368" y="6108192"/>
            <a:ext cx="10881360" cy="9144"/>
          </a:xfrm>
          <a:prstGeom prst="rect">
            <a:avLst/>
          </a:prstGeom>
          <a:solidFill>
            <a:srgbClr val="DCD7CE"/>
          </a:solidFill>
          <a:ln>
            <a:noFill/>
          </a:ln>
        </p:spPr>
      </p:sp>
      <p:sp>
        <p:nvSpPr>
          <p:cNvPr id="12" name="footer left"/>
          <p:cNvSpPr txBox="1"/>
          <p:nvPr/>
        </p:nvSpPr>
        <p:spPr>
          <a:xfrm>
            <a:off x="658368" y="627278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mid" rtlCol="0"/>
          <a:lstStyle/>
          <a:p>
            <a:pPr algn="l"/>
            <a:r>
              <a:rPr lang="en-US" sz="850">
                <a:solidFill>
                  <a:srgbClr val="586779"/>
                </a:solidFill>
                <a:latin typeface="Aptos"/>
                <a:cs typeface="Aptos"/>
              </a:rPr>
              <a:t>Closing</a:t>
            </a:r>
            <a:endParaRPr lang="en-US" sz="850"/>
          </a:p>
        </p:txBody>
      </p:sp>
      <p:sp>
        <p:nvSpPr>
          <p:cNvPr id="13" name="footer right"/>
          <p:cNvSpPr txBox="1"/>
          <p:nvPr/>
        </p:nvSpPr>
        <p:spPr>
          <a:xfrm>
            <a:off x="7498079" y="6272784"/>
            <a:ext cx="4041648" cy="164592"/>
          </a:xfrm>
          <a:prstGeom prst="rect">
            <a:avLst/>
          </a:prstGeom>
          <a:noFill/>
          <a:ln>
            <a:noFill/>
          </a:ln>
        </p:spPr>
        <p:txBody>
          <a:bodyPr wrap="square" anchor="mid" rtlCol="0"/>
          <a:lstStyle/>
          <a:p>
            <a:pPr algn="r"/>
            <a:r>
              <a:rPr lang="en-US" sz="850" b="1">
                <a:solidFill>
                  <a:srgbClr val="586779"/>
                </a:solidFill>
                <a:latin typeface="Aptos"/>
                <a:cs typeface="Aptos"/>
              </a:rPr>
              <a:t>Thank you and questions</a:t>
            </a:r>
            <a:endParaRPr lang="en-US" sz="8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oolShare Creative">
  <a:themeElements>
    <a:clrScheme name="ToolShare">
      <a:dk1>
        <a:srgbClr val="102133"/>
      </a:dk1>
      <a:lt1>
        <a:srgbClr val="FFFFFF"/>
      </a:lt1>
      <a:dk2>
        <a:srgbClr val="1C3148"/>
      </a:dk2>
      <a:lt2>
        <a:srgbClr val="F7F6F1"/>
      </a:lt2>
      <a:accent1>
        <a:srgbClr val="1F6F78"/>
      </a:accent1>
      <a:accent2>
        <a:srgbClr val="FF8F62"/>
      </a:accent2>
      <a:accent3>
        <a:srgbClr val="F0C45D"/>
      </a:accent3>
      <a:accent4>
        <a:srgbClr val="14B87A"/>
      </a:accent4>
      <a:accent5>
        <a:srgbClr val="586779"/>
      </a:accent5>
      <a:accent6>
        <a:srgbClr val="DCD7CE"/>
      </a:accent6>
      <a:hlink>
        <a:srgbClr val="1F6F78"/>
      </a:hlink>
      <a:folHlink>
        <a:srgbClr val="586779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ToolSha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12</Slides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ToolShare Creative Project Presentation</dc:title>
  <dc:creator>Codex</dc:creator>
  <cp:lastModifiedBy>Codex</cp:lastModifiedBy>
  <dcterms:created xsi:type="dcterms:W3CDTF">2026-04-15T05:13:08Z</dcterms:created>
  <dcterms:modified xsi:type="dcterms:W3CDTF">2026-04-15T05:13:08Z</dcterms:modified>
</cp:coreProperties>
</file>